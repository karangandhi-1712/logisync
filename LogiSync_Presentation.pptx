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532A36-1A1D-4259-8E57-1B30C48AAA51}"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ED6DD-71D4-4358-9B74-6096271DA917}" type="slidenum">
              <a:rPr lang="en-IN" smtClean="0"/>
              <a:t>‹#›</a:t>
            </a:fld>
            <a:endParaRPr lang="en-IN"/>
          </a:p>
        </p:txBody>
      </p:sp>
    </p:spTree>
    <p:extLst>
      <p:ext uri="{BB962C8B-B14F-4D97-AF65-F5344CB8AC3E}">
        <p14:creationId xmlns:p14="http://schemas.microsoft.com/office/powerpoint/2010/main" val="21712833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We are presenting LogiSync, a delivery marketplace we built for India's major port depots. The problem we set out to solve is that freight leaving a port is scheduled over WhatsApp and spreadsheets. LogiSync turns that into a single marketplace where a customer books a delivery, a depot batches nearby stops, a driver claims the run, and the customer watches it arrive live. Everything you'll see today comes from a running system with seeded operational data - 490 requests across 90 days.</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a:t>
            </a:fld>
            <a:endParaRPr lang="en-IN"/>
          </a:p>
        </p:txBody>
      </p:sp>
    </p:spTree>
    <p:extLst>
      <p:ext uri="{BB962C8B-B14F-4D97-AF65-F5344CB8AC3E}">
        <p14:creationId xmlns:p14="http://schemas.microsoft.com/office/powerpoint/2010/main" val="200891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one of these numbers is measured from our own analytics, not estimated. A 43 percent batch fill means a driver burns a full run for barely half the payload. Twenty-one minutes from broadcast to claim means a driver sits available before the app even knows they exist. And fifty-three requests ended cancelled or failed, each one a customer who had to ask somebody what happened to their parcel. The root cause is the same in all three: there is no single system of record, so every fact has to be re-established by asking a person.</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2</a:t>
            </a:fld>
            <a:endParaRPr lang="en-IN"/>
          </a:p>
        </p:txBody>
      </p:sp>
    </p:spTree>
    <p:extLst>
      <p:ext uri="{BB962C8B-B14F-4D97-AF65-F5344CB8AC3E}">
        <p14:creationId xmlns:p14="http://schemas.microsoft.com/office/powerpoint/2010/main" val="1249660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objectives. The first two are the product. The third is trust - a customer who can see their parcel does not phone the depot. The fourth is where most projects quietly go wrong: we put the pricing and the driver payout in the same place so they cannot disagree. And the fifth is what let us find the on-time bug - we built the measurement first and it immediately showed us a metric stuck at zero.</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3</a:t>
            </a:fld>
            <a:endParaRPr lang="en-IN"/>
          </a:p>
        </p:txBody>
      </p:sp>
    </p:spTree>
    <p:extLst>
      <p:ext uri="{BB962C8B-B14F-4D97-AF65-F5344CB8AC3E}">
        <p14:creationId xmlns:p14="http://schemas.microsoft.com/office/powerpoint/2010/main" val="3869266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LogiSync models a delivery as a priced, paid parcel, not a truck to watch. That one decision drives everything else. The stack is deliberately ordinary - React and FastAPI - because the interesting work is in the domain model, not the framework. Realtime is a single WebSocket hub that targets events per role and per batch, so a driver only receives the jobs they can actually take.</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4</a:t>
            </a:fld>
            <a:endParaRPr lang="en-IN"/>
          </a:p>
        </p:txBody>
      </p:sp>
    </p:spTree>
    <p:extLst>
      <p:ext uri="{BB962C8B-B14F-4D97-AF65-F5344CB8AC3E}">
        <p14:creationId xmlns:p14="http://schemas.microsoft.com/office/powerpoint/2010/main" val="1148561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layers. The important line is the bottom one: every status change is validated server-side against a declared chain. The UI cannot advance a parcel from picked-up straight to delivered, because the API rejects it. That matters most for money - a customer cannot self-cancel once a driver owns the stop, and only the assigned driver can mark it delivered.</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5</a:t>
            </a:fld>
            <a:endParaRPr lang="en-IN"/>
          </a:p>
        </p:txBody>
      </p:sp>
    </p:spTree>
    <p:extLst>
      <p:ext uri="{BB962C8B-B14F-4D97-AF65-F5344CB8AC3E}">
        <p14:creationId xmlns:p14="http://schemas.microsoft.com/office/powerpoint/2010/main" val="3663400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whole system in ten steps. Two of them are ours and unusual. Step 4: an unpaid parcel is filtered out of the depot queue entirely - not shown-and-disabled, absent - so a planner can never build a run around freight nobody has paid for. Step 9: the moment a parcel goes out for delivery the customer receives the driver's phone number, gated on a timestamp that can never be un-set. Step 7 uses a guarded database update, so under contention exactly one driver wins.</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6</a:t>
            </a:fld>
            <a:endParaRPr lang="en-IN"/>
          </a:p>
        </p:txBody>
      </p:sp>
    </p:spTree>
    <p:extLst>
      <p:ext uri="{BB962C8B-B14F-4D97-AF65-F5344CB8AC3E}">
        <p14:creationId xmlns:p14="http://schemas.microsoft.com/office/powerpoint/2010/main" val="2911795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platform, four genuinely different jobs. The number worth pausing on is the bottom strip: every role boundary is a server-side dependency, not a hidden button. We tested that. A fleet manager who requests another depot's analytics gets a 403, and a consumer who guesses another customer's tracking code gets a 404 rather than a 403 - because a 403 would confirm the code exists.</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7</a:t>
            </a:fld>
            <a:endParaRPr lang="en-IN"/>
          </a:p>
        </p:txBody>
      </p:sp>
    </p:spTree>
    <p:extLst>
      <p:ext uri="{BB962C8B-B14F-4D97-AF65-F5344CB8AC3E}">
        <p14:creationId xmlns:p14="http://schemas.microsoft.com/office/powerpoint/2010/main" val="3062105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open on the network rather than a login box. The map is the product: twelve Indian port depots, from V.O. Chidambaranar at Thoothukudi down to Paradip and Haldia. Each marker is live - click one and you get its fact sheet, and from there you can dispatch from that specific depot. It sets the scope immediately: this is a port logistics system, not a generic courier app.</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8</a:t>
            </a:fld>
            <a:endParaRPr lang="en-IN"/>
          </a:p>
        </p:txBody>
      </p:sp>
    </p:spTree>
    <p:extLst>
      <p:ext uri="{BB962C8B-B14F-4D97-AF65-F5344CB8AC3E}">
        <p14:creationId xmlns:p14="http://schemas.microsoft.com/office/powerpoint/2010/main" val="2584453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Access is split deliberately. Drivers and customers self-register; operators cannot. A fleet manager or port admin has to be provisioned by an admin, which is what stops someone simply signing up as an operator. The credential on screen is a seeded demo account - the autofill button is there so a reviewer can get in without setup.</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9</a:t>
            </a:fld>
            <a:endParaRPr lang="en-IN"/>
          </a:p>
        </p:txBody>
      </p:sp>
    </p:spTree>
    <p:extLst>
      <p:ext uri="{BB962C8B-B14F-4D97-AF65-F5344CB8AC3E}">
        <p14:creationId xmlns:p14="http://schemas.microsoft.com/office/powerpoint/2010/main" val="239047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screen we added for governance. The headline tiles answer who exists. The driver pool shows capacity in real time - twenty-two of forty-one available right now. Depot coverage is the one worth noting: a port with no fleet manager has nobody dispatching it, and that is called out with an amber warning rather than left for someone to infer from a list.</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10</a:t>
            </a:fld>
            <a:endParaRPr lang="en-IN"/>
          </a:p>
        </p:txBody>
      </p:sp>
    </p:spTree>
    <p:extLst>
      <p:ext uri="{BB962C8B-B14F-4D97-AF65-F5344CB8AC3E}">
        <p14:creationId xmlns:p14="http://schemas.microsoft.com/office/powerpoint/2010/main" val="1172222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heart of the system. The fleet manager draws a radius and sets a cap, and the panel shows what a driver will earn before broadcasting anything - two thousand four hundred and sixty rupees here, computed on the server so it cannot disagree with what the driver is offered. Notice the fragile chip and the weights on each parcel: those feed the payout. The orange panel is the scheduler telling the manager four urgent parcels have no run covering them.</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11</a:t>
            </a:fld>
            <a:endParaRPr lang="en-IN"/>
          </a:p>
        </p:txBody>
      </p:sp>
    </p:spTree>
    <p:extLst>
      <p:ext uri="{BB962C8B-B14F-4D97-AF65-F5344CB8AC3E}">
        <p14:creationId xmlns:p14="http://schemas.microsoft.com/office/powerpoint/2010/main" val="2896481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Drivers see every run they are eligible for, with the payout stated up front. Claiming is a single atomic database update, which means under contention exactly one driver wins and the rest get a clean 409 rather than a double-booked run. Once claimed the run is pinned: no other driver can take it, and the batch is locked to stop order on departure.</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12</a:t>
            </a:fld>
            <a:endParaRPr lang="en-IN"/>
          </a:p>
        </p:txBody>
      </p:sp>
    </p:spTree>
    <p:extLst>
      <p:ext uri="{BB962C8B-B14F-4D97-AF65-F5344CB8AC3E}">
        <p14:creationId xmlns:p14="http://schemas.microsoft.com/office/powerpoint/2010/main" val="2278313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customer side is deliberately plain. Handling used to be a free-text box, which meant the earnings and pricing models had to guess intent from prose. It is now explicit chips - fragile, keep upright, refrigerated, liquid - so the requirement is machine-readable. One thing we fixed here: the delivery window used to default to ten-to-six, which had already closed for anyone booking after six in the evening.</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13</a:t>
            </a:fld>
            <a:endParaRPr lang="en-IN"/>
          </a:p>
        </p:txBody>
      </p:sp>
    </p:spTree>
    <p:extLst>
      <p:ext uri="{BB962C8B-B14F-4D97-AF65-F5344CB8AC3E}">
        <p14:creationId xmlns:p14="http://schemas.microsoft.com/office/powerpoint/2010/main" val="2108404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this is why we build the measurement before the feature. This page is how we found the on-time metric was stuck at zero: the time window a customer picks is their local clock, but every timestamp we stored was UTC, so an evening delivery was being scored against the wrong hour. You cannot debug what you never measured.</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14</a:t>
            </a:fld>
            <a:endParaRPr lang="en-IN"/>
          </a:p>
        </p:txBody>
      </p:sp>
    </p:spTree>
    <p:extLst>
      <p:ext uri="{BB962C8B-B14F-4D97-AF65-F5344CB8AC3E}">
        <p14:creationId xmlns:p14="http://schemas.microsoft.com/office/powerpoint/2010/main" val="1326660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Eight features, each with the suite that proves it. These are not smoke tests - the payment suite, for instance, asserts that an unpaid parcel returns a 402 rather than a 409, because the client branches on that code to decide whether to re-offer checkout. The driver-contact suite asserts a cancelled-before-departure parcel never exposes a number, which is the specific regression a naive status check would have shipped.</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15</a:t>
            </a:fld>
            <a:endParaRPr lang="en-IN"/>
          </a:p>
        </p:txBody>
      </p:sp>
    </p:spTree>
    <p:extLst>
      <p:ext uri="{BB962C8B-B14F-4D97-AF65-F5344CB8AC3E}">
        <p14:creationId xmlns:p14="http://schemas.microsoft.com/office/powerpoint/2010/main" val="3628795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Twelve representative cases out of a hundred and twenty-seven. The first three are the bug we were asked to fix - the on-time metric reading zero. The middle block is the payment gate and the driver-contact gate, including the cancellation case that a status-based check would have failed. The last three cover concurrency and isolation. Everything runs in forty-five seconds against a throwaway database, so it is cheap to run on every change.</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16</a:t>
            </a:fld>
            <a:endParaRPr lang="en-IN"/>
          </a:p>
        </p:txBody>
      </p:sp>
    </p:spTree>
    <p:extLst>
      <p:ext uri="{BB962C8B-B14F-4D97-AF65-F5344CB8AC3E}">
        <p14:creationId xmlns:p14="http://schemas.microsoft.com/office/powerpoint/2010/main" val="3302214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would rather show you this than have you find it. The first limitation is the most important: every number in this deck comes from a seeded dataset, not from production traffic - the system is real, the volume is synthetic. Third is a genuine commercial bug we found and did not quietly paper over: express and urgent charge the customer five hundred and a thousand rupees while the driver's base pay is two twenty and three fifty. We pinned it with a test so whoever sets the commercial terms sees it.</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17</a:t>
            </a:fld>
            <a:endParaRPr lang="en-IN"/>
          </a:p>
        </p:txBody>
      </p:sp>
    </p:spTree>
    <p:extLst>
      <p:ext uri="{BB962C8B-B14F-4D97-AF65-F5344CB8AC3E}">
        <p14:creationId xmlns:p14="http://schemas.microsoft.com/office/powerpoint/2010/main" val="68187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Ninety days of intake against completed deliveries. The shape is the point: steady weekday volume with a visibly lighter weekend, and the gap between the two lines is work still in flight. Four hundred and ninety submitted, three hundred and seventy-six delivered.</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18</a:t>
            </a:fld>
            <a:endParaRPr lang="en-IN"/>
          </a:p>
        </p:txBody>
      </p:sp>
    </p:spTree>
    <p:extLst>
      <p:ext uri="{BB962C8B-B14F-4D97-AF65-F5344CB8AC3E}">
        <p14:creationId xmlns:p14="http://schemas.microsoft.com/office/powerpoint/2010/main" val="450035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chart we were asked about, so let us be blunt about it. It used to show zero percent for all three tiers. There were two causes and both were real. The window a customer picks is their local clock while every timestamp we stored was UTC, so an evening delivery was scored against the wrong hour. And the booking form defaulted to a ten-to-six window that had already closed for anyone ordering after six in the evening. Fixed, it reads ninety-two point six overall. Express sits below standard at eighty-nine versus ninety-four, which is honest and worth seeing.</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19</a:t>
            </a:fld>
            <a:endParaRPr lang="en-IN"/>
          </a:p>
        </p:txBody>
      </p:sp>
    </p:spTree>
    <p:extLst>
      <p:ext uri="{BB962C8B-B14F-4D97-AF65-F5344CB8AC3E}">
        <p14:creationId xmlns:p14="http://schemas.microsoft.com/office/powerpoint/2010/main" val="1969579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Outcome on the left, headroom on the right. Roughly three quarters of everything that entered the marketplace was delivered. But the batch fill chart is the roadmap: a hundred and ten batches carry a single stop, each of which is a driver paid a full run for one parcel. We group by geography, so those are genuinely scattered stops, and a wider departure window would let several share a run. That is a configuration change, not a rewrite.</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20</a:t>
            </a:fld>
            <a:endParaRPr lang="en-IN"/>
          </a:p>
        </p:txBody>
      </p:sp>
    </p:spTree>
    <p:extLst>
      <p:ext uri="{BB962C8B-B14F-4D97-AF65-F5344CB8AC3E}">
        <p14:creationId xmlns:p14="http://schemas.microsoft.com/office/powerpoint/2010/main" val="1017230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where the work actually is. Volume is spread fairly evenly across the twelve depots rather than concentrated, which is what makes the marketplace model work at all. One thing worth flagging honestly: per-depot on-time varies quite a bit, from sixty-four percent at V.O. Chidambaranar up to eighty-eight at Visakhapatnam. That is not noise - it tracks driver availability and route density per depot, and it tells you which depot to put the batching fix in first.</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21</a:t>
            </a:fld>
            <a:endParaRPr lang="en-IN"/>
          </a:p>
        </p:txBody>
      </p:sp>
    </p:spTree>
    <p:extLst>
      <p:ext uri="{BB962C8B-B14F-4D97-AF65-F5344CB8AC3E}">
        <p14:creationId xmlns:p14="http://schemas.microsoft.com/office/powerpoint/2010/main" val="3099235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Compared against the three things a team actually has: a spreadsheet, a courier aggregator, or a licensed fleet TMS. We score honestly, and LogiSync does not win every row. Courier aggregators do win on scale and get self-serve booking - we cannot match their network. A licensed TMS wins on fleet depth across mixed vehicle classes. Our edge is narrow and specific: we are built for the port-side depot rather than the last mile. A courier assumes a sorted, address-ready parcel. We model the awkward ones - a hundred and forty kilos, fragile, must stay upright - and price them.</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22</a:t>
            </a:fld>
            <a:endParaRPr lang="en-IN"/>
          </a:p>
        </p:txBody>
      </p:sp>
    </p:spTree>
    <p:extLst>
      <p:ext uri="{BB962C8B-B14F-4D97-AF65-F5344CB8AC3E}">
        <p14:creationId xmlns:p14="http://schemas.microsoft.com/office/powerpoint/2010/main" val="1469919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close: four roles, one marketplace, twelve depots, four hundred and ninety requests and two hundred and five runs. Ninety-two point six percent on-time, measured rather than asserted. Payment, dispatch and driver contact are all gated on state we can reason about. And a hundred and twenty-seven tests, green. The honest next step is operational, not architectural - there is a hundred and ten single-stop runs sitting in our own histogram, and widening the departure window is a configuration change, not a rewrite.</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23</a:t>
            </a:fld>
            <a:endParaRPr lang="en-IN"/>
          </a:p>
        </p:txBody>
      </p:sp>
    </p:spTree>
    <p:extLst>
      <p:ext uri="{BB962C8B-B14F-4D97-AF65-F5344CB8AC3E}">
        <p14:creationId xmlns:p14="http://schemas.microsoft.com/office/powerpoint/2010/main" val="1025231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We are happy to take questions on any part of it - the batching algorithm, the payment gate, the concurrency handling, or the timezone bug, which is probably the most interesting thing we found. Everything you saw is running locally, so we can walk through any screen live if that would help.</a:t>
            </a:r>
            <a:endParaRPr lang="en-IN"/>
          </a:p>
        </p:txBody>
      </p:sp>
      <p:sp>
        <p:nvSpPr>
          <p:cNvPr id="4" name="Slide Number Placeholder 3"/>
          <p:cNvSpPr>
            <a:spLocks noGrp="1"/>
          </p:cNvSpPr>
          <p:nvPr>
            <p:ph type="sldNum" sz="quarter" idx="5"/>
          </p:nvPr>
        </p:nvSpPr>
        <p:spPr/>
        <p:txBody>
          <a:bodyPr/>
          <a:lstStyle/>
          <a:p>
            <a:fld id="{E05ED6DD-71D4-4358-9B74-6096271DA917}" type="slidenum">
              <a:rPr lang="en-IN" smtClean="0"/>
              <a:t>24</a:t>
            </a:fld>
            <a:endParaRPr lang="en-IN"/>
          </a:p>
        </p:txBody>
      </p:sp>
    </p:spTree>
    <p:extLst>
      <p:ext uri="{BB962C8B-B14F-4D97-AF65-F5344CB8AC3E}">
        <p14:creationId xmlns:p14="http://schemas.microsoft.com/office/powerpoint/2010/main" val="3225599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14714-8E8F-E8D3-235C-DF7967CBD3C5}"/>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C215193E-540D-54CB-A94E-5DFD8F8BD473}"/>
              </a:ext>
            </a:extLst>
          </p:cNvPr>
          <p:cNvSpPr>
            <a:spLocks noGrp="1"/>
          </p:cNvSpPr>
          <p:nvPr>
            <p:ph type="subTitle" idx="1"/>
          </p:nvPr>
        </p:nvSpPr>
        <p:spPr>
          <a:xfrm>
            <a:off x="1524000" y="3602037"/>
            <a:ext cx="9144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728549-6460-D8BB-E4B3-E081339BE470}"/>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5" name="Footer Placeholder 4">
            <a:extLst>
              <a:ext uri="{FF2B5EF4-FFF2-40B4-BE49-F238E27FC236}">
                <a16:creationId xmlns:a16="http://schemas.microsoft.com/office/drawing/2014/main" id="{CD9E34DE-82B4-EF15-724F-6B8B25E633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2F4461-E719-FE2D-E35C-BB02299CA461}"/>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2861415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9C982-1537-9A05-0926-C6D7578C2B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3DE563-A3D6-7791-9EBC-FC8DA8FA61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713714-CB7E-CABC-B928-836AB62B293F}"/>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5" name="Footer Placeholder 4">
            <a:extLst>
              <a:ext uri="{FF2B5EF4-FFF2-40B4-BE49-F238E27FC236}">
                <a16:creationId xmlns:a16="http://schemas.microsoft.com/office/drawing/2014/main" id="{85ADA48D-8094-685F-6BAB-0672A291BE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2F384E-7739-4CD4-CF10-ED061E7E0DE9}"/>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4170176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449D-8888-DDE5-A164-4556CA93634A}"/>
              </a:ext>
            </a:extLst>
          </p:cNvPr>
          <p:cNvSpPr>
            <a:spLocks noGrp="1"/>
          </p:cNvSpPr>
          <p:nvPr>
            <p:ph type="title"/>
          </p:nvPr>
        </p:nvSpPr>
        <p:spPr>
          <a:xfrm>
            <a:off x="831851" y="1709741"/>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4CFB0A-0CC2-8203-A621-682B3371C615}"/>
              </a:ext>
            </a:extLst>
          </p:cNvPr>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C162E9-F8B1-CA6B-A801-BBE1645FB68E}"/>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5" name="Footer Placeholder 4">
            <a:extLst>
              <a:ext uri="{FF2B5EF4-FFF2-40B4-BE49-F238E27FC236}">
                <a16:creationId xmlns:a16="http://schemas.microsoft.com/office/drawing/2014/main" id="{D935633D-9BE4-1CBF-5821-3961B5679E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16F222-BCF6-6E8D-784A-A33478E0264F}"/>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1655743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1234-EF48-86C5-8AC5-0BBE683858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F4AC8C-1F8D-3472-3277-5FA36F89AF9F}"/>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6233D6-0C29-F248-22DF-016A2E8B02A3}"/>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4639E1-5C23-B851-ED4E-B9ABA644C42B}"/>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6" name="Footer Placeholder 5">
            <a:extLst>
              <a:ext uri="{FF2B5EF4-FFF2-40B4-BE49-F238E27FC236}">
                <a16:creationId xmlns:a16="http://schemas.microsoft.com/office/drawing/2014/main" id="{63F111A3-0693-916F-9F3B-112B219FC8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AA0848-0453-F2E2-77EB-72D9F9DB774B}"/>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1579864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F4DCE-F2A0-499B-1DCD-8555CEA061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D3C861-7527-6FFC-4A03-C803C5B8DF51}"/>
              </a:ext>
            </a:extLst>
          </p:cNvPr>
          <p:cNvSpPr>
            <a:spLocks noGrp="1"/>
          </p:cNvSpPr>
          <p:nvPr>
            <p:ph type="body" idx="1"/>
          </p:nvPr>
        </p:nvSpPr>
        <p:spPr>
          <a:xfrm>
            <a:off x="839790"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C23F6C6-49A9-7F5B-017C-D75859C5F40A}"/>
              </a:ext>
            </a:extLst>
          </p:cNvPr>
          <p:cNvSpPr>
            <a:spLocks noGrp="1"/>
          </p:cNvSpPr>
          <p:nvPr>
            <p:ph sz="half" idx="2"/>
          </p:nvPr>
        </p:nvSpPr>
        <p:spPr>
          <a:xfrm>
            <a:off x="839790" y="25050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2BFE23-0C39-B38F-2EFA-3B73F57716F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9EB7EDF-6C0F-6A35-EF69-33F122DEB63E}"/>
              </a:ext>
            </a:extLst>
          </p:cNvPr>
          <p:cNvSpPr>
            <a:spLocks noGrp="1"/>
          </p:cNvSpPr>
          <p:nvPr>
            <p:ph sz="quarter" idx="4"/>
          </p:nvPr>
        </p:nvSpPr>
        <p:spPr>
          <a:xfrm>
            <a:off x="6172201" y="25050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C929C3-A100-4060-468F-E348C445138E}"/>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8" name="Footer Placeholder 7">
            <a:extLst>
              <a:ext uri="{FF2B5EF4-FFF2-40B4-BE49-F238E27FC236}">
                <a16:creationId xmlns:a16="http://schemas.microsoft.com/office/drawing/2014/main" id="{A2BC69D0-48FF-CEF5-F665-5CE891DCDA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C18CDF-CECE-F432-290A-6AD1F92BFE00}"/>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906407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65749-6E3E-44C8-CC8F-CA9B347733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29322B-F6B7-57B2-2385-31442D0989BB}"/>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4" name="Footer Placeholder 3">
            <a:extLst>
              <a:ext uri="{FF2B5EF4-FFF2-40B4-BE49-F238E27FC236}">
                <a16:creationId xmlns:a16="http://schemas.microsoft.com/office/drawing/2014/main" id="{0A1D847D-595F-A039-BECC-3EA4930506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776D1C-1F55-BBCB-7E4A-B818813B3718}"/>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1975463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ED1736-E3F2-A04D-FAA7-D75CDA5F6CF8}"/>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3" name="Footer Placeholder 2">
            <a:extLst>
              <a:ext uri="{FF2B5EF4-FFF2-40B4-BE49-F238E27FC236}">
                <a16:creationId xmlns:a16="http://schemas.microsoft.com/office/drawing/2014/main" id="{5336E8D9-0937-1FCF-F49F-430DCCC687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F948F-F5BF-8A89-2A13-2BA297BAB8C8}"/>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1660776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5AFB7-54E7-BCB2-E654-C8984CD1F91C}"/>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154D08-7ABF-03DF-6A64-D0E6833B8AF6}"/>
              </a:ext>
            </a:extLst>
          </p:cNvPr>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2C5165-03BF-177C-B90E-8A5253585803}"/>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793D68F-D672-910D-A8B9-F2206283EAE5}"/>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6" name="Footer Placeholder 5">
            <a:extLst>
              <a:ext uri="{FF2B5EF4-FFF2-40B4-BE49-F238E27FC236}">
                <a16:creationId xmlns:a16="http://schemas.microsoft.com/office/drawing/2014/main" id="{C5E46C9C-C887-0161-78F3-75958F5C4E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6B75FD-513B-CA17-23C0-3BEAA7FF5054}"/>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3609568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4B94F-5AAF-E796-02B8-F40EFA10F549}"/>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ECC5B8-8FA5-EAAE-3459-F1394B4D7F19}"/>
              </a:ext>
            </a:extLst>
          </p:cNvPr>
          <p:cNvSpPr>
            <a:spLocks noGrp="1"/>
          </p:cNvSpPr>
          <p:nvPr>
            <p:ph type="pic" idx="1"/>
          </p:nvPr>
        </p:nvSpPr>
        <p:spPr>
          <a:xfrm>
            <a:off x="5183188"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AA0FC158-B8FF-1B46-BE96-03AFFBF71CCD}"/>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B46F361-03FD-808B-FF71-7F671F646BFA}"/>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6" name="Footer Placeholder 5">
            <a:extLst>
              <a:ext uri="{FF2B5EF4-FFF2-40B4-BE49-F238E27FC236}">
                <a16:creationId xmlns:a16="http://schemas.microsoft.com/office/drawing/2014/main" id="{1F839B33-7C62-49D7-8C14-B347F6470E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17F234-7982-73B8-1CFF-634E146252BF}"/>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24574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E40B-B9F4-0251-1417-373B0FA007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D7C559-A96E-FF76-AAC1-6E414DE693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B03526-86FF-7A3A-DCC9-CDF2DA39DE2F}"/>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5" name="Footer Placeholder 4">
            <a:extLst>
              <a:ext uri="{FF2B5EF4-FFF2-40B4-BE49-F238E27FC236}">
                <a16:creationId xmlns:a16="http://schemas.microsoft.com/office/drawing/2014/main" id="{DA33FCA6-B529-6DB3-8C4A-E5B97C17D4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231A88-C69F-7C9F-AC95-FCD25FAF6818}"/>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393262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27D82B-7642-C151-C16D-A31507D2DA9B}"/>
              </a:ext>
            </a:extLst>
          </p:cNvPr>
          <p:cNvSpPr>
            <a:spLocks noGrp="1"/>
          </p:cNvSpPr>
          <p:nvPr>
            <p:ph type="title" orient="vert"/>
          </p:nvPr>
        </p:nvSpPr>
        <p:spPr>
          <a:xfrm>
            <a:off x="8724901" y="365127"/>
            <a:ext cx="2628900" cy="581183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03EF25-1E57-1106-B5B8-7133D2A164A4}"/>
              </a:ext>
            </a:extLst>
          </p:cNvPr>
          <p:cNvSpPr>
            <a:spLocks noGrp="1"/>
          </p:cNvSpPr>
          <p:nvPr>
            <p:ph type="body" orient="vert" idx="1"/>
          </p:nvPr>
        </p:nvSpPr>
        <p:spPr>
          <a:xfrm>
            <a:off x="838201" y="365127"/>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146A07-960F-9FE6-C78A-5060EF78053F}"/>
              </a:ext>
            </a:extLst>
          </p:cNvPr>
          <p:cNvSpPr>
            <a:spLocks noGrp="1"/>
          </p:cNvSpPr>
          <p:nvPr>
            <p:ph type="dt" sz="half" idx="10"/>
          </p:nvPr>
        </p:nvSpPr>
        <p:spPr/>
        <p:txBody>
          <a:bodyPr/>
          <a:lstStyle/>
          <a:p>
            <a:fld id="{AF07598B-494C-4FF0-BE50-414160B7F57C}" type="datetimeFigureOut">
              <a:rPr lang="en-IN" smtClean="0"/>
              <a:t>14-10-2026</a:t>
            </a:fld>
            <a:endParaRPr lang="en-IN"/>
          </a:p>
        </p:txBody>
      </p:sp>
      <p:sp>
        <p:nvSpPr>
          <p:cNvPr id="5" name="Footer Placeholder 4">
            <a:extLst>
              <a:ext uri="{FF2B5EF4-FFF2-40B4-BE49-F238E27FC236}">
                <a16:creationId xmlns:a16="http://schemas.microsoft.com/office/drawing/2014/main" id="{0A29A797-7047-5711-F0DE-83D5ED109B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8B7DA1-4555-1041-F9A0-5C4CA662599D}"/>
              </a:ext>
            </a:extLst>
          </p:cNvPr>
          <p:cNvSpPr>
            <a:spLocks noGrp="1"/>
          </p:cNvSpPr>
          <p:nvPr>
            <p:ph type="sldNum" sz="quarter" idx="12"/>
          </p:nvPr>
        </p:nvSpPr>
        <p:spPr/>
        <p:txBody>
          <a:bodyPr/>
          <a:lstStyle/>
          <a:p>
            <a:fld id="{25DAD33A-FCAB-412A-B742-CCE93E9C49CB}" type="slidenum">
              <a:rPr lang="en-IN" smtClean="0"/>
              <a:t>‹#›</a:t>
            </a:fld>
            <a:endParaRPr lang="en-IN"/>
          </a:p>
        </p:txBody>
      </p:sp>
    </p:spTree>
    <p:extLst>
      <p:ext uri="{BB962C8B-B14F-4D97-AF65-F5344CB8AC3E}">
        <p14:creationId xmlns:p14="http://schemas.microsoft.com/office/powerpoint/2010/main" val="3772185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9DBBE9-F4C7-E002-7101-72C959200D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A06485-3469-F3FD-1707-8958FCC90415}"/>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975422-B0EA-695C-99E2-3E1C4ADC883F}"/>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F07598B-494C-4FF0-BE50-414160B7F57C}" type="datetimeFigureOut">
              <a:rPr lang="en-IN" smtClean="0"/>
              <a:t>14-10-2026</a:t>
            </a:fld>
            <a:endParaRPr lang="en-IN"/>
          </a:p>
        </p:txBody>
      </p:sp>
      <p:sp>
        <p:nvSpPr>
          <p:cNvPr id="5" name="Footer Placeholder 4">
            <a:extLst>
              <a:ext uri="{FF2B5EF4-FFF2-40B4-BE49-F238E27FC236}">
                <a16:creationId xmlns:a16="http://schemas.microsoft.com/office/drawing/2014/main" id="{AC308F2D-0567-D0C0-986A-D9A49FABF960}"/>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645D8F5-8277-B153-EF1A-6E5032E83A4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5DAD33A-FCAB-412A-B742-CCE93E9C49CB}" type="slidenum">
              <a:rPr lang="en-IN" smtClean="0"/>
              <a:t>‹#›</a:t>
            </a:fld>
            <a:endParaRPr lang="en-IN"/>
          </a:p>
        </p:txBody>
      </p:sp>
    </p:spTree>
    <p:extLst>
      <p:ext uri="{BB962C8B-B14F-4D97-AF65-F5344CB8AC3E}">
        <p14:creationId xmlns:p14="http://schemas.microsoft.com/office/powerpoint/2010/main" val="1201891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C590B0-E6C3-06CA-8C79-118B27EACAF1}"/>
              </a:ext>
            </a:extLst>
          </p:cNvPr>
          <p:cNvSpPr/>
          <p:nvPr/>
        </p:nvSpPr>
        <p:spPr>
          <a:xfrm>
            <a:off x="0" y="0"/>
            <a:ext cx="12192000" cy="68580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Rectangle 2">
            <a:extLst>
              <a:ext uri="{FF2B5EF4-FFF2-40B4-BE49-F238E27FC236}">
                <a16:creationId xmlns:a16="http://schemas.microsoft.com/office/drawing/2014/main" id="{AE7610EA-610F-B938-5031-0A2A793C0B39}"/>
              </a:ext>
            </a:extLst>
          </p:cNvPr>
          <p:cNvSpPr/>
          <p:nvPr/>
        </p:nvSpPr>
        <p:spPr>
          <a:xfrm>
            <a:off x="0" y="0"/>
            <a:ext cx="127000" cy="68580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 name="TextBox 3">
            <a:extLst>
              <a:ext uri="{FF2B5EF4-FFF2-40B4-BE49-F238E27FC236}">
                <a16:creationId xmlns:a16="http://schemas.microsoft.com/office/drawing/2014/main" id="{7DBE5A60-0779-81DB-E084-C2939ADDF6C9}"/>
              </a:ext>
            </a:extLst>
          </p:cNvPr>
          <p:cNvSpPr txBox="1"/>
          <p:nvPr/>
        </p:nvSpPr>
        <p:spPr>
          <a:xfrm>
            <a:off x="914400" y="1905000"/>
            <a:ext cx="10160000" cy="300082"/>
          </a:xfrm>
          <a:prstGeom prst="rect">
            <a:avLst/>
          </a:prstGeom>
          <a:noFill/>
        </p:spPr>
        <p:txBody>
          <a:bodyPr vert="horz" wrap="square" lIns="0" tIns="0" rIns="0" bIns="0" rtlCol="0">
            <a:noAutofit/>
          </a:bodyPr>
          <a:lstStyle/>
          <a:p>
            <a:r>
              <a:rPr lang="en-IN" sz="5400" b="1">
                <a:solidFill>
                  <a:srgbClr val="FFFFFF"/>
                </a:solidFill>
                <a:latin typeface="Segoe UI" panose="020B0502040204020203" pitchFamily="34" charset="0"/>
              </a:rPr>
              <a:t>LogiSync</a:t>
            </a:r>
          </a:p>
        </p:txBody>
      </p:sp>
      <p:sp>
        <p:nvSpPr>
          <p:cNvPr id="5" name="TextBox 4">
            <a:extLst>
              <a:ext uri="{FF2B5EF4-FFF2-40B4-BE49-F238E27FC236}">
                <a16:creationId xmlns:a16="http://schemas.microsoft.com/office/drawing/2014/main" id="{31A8C1D6-5D59-701C-5DE8-CAE53D5417E7}"/>
              </a:ext>
            </a:extLst>
          </p:cNvPr>
          <p:cNvSpPr txBox="1"/>
          <p:nvPr/>
        </p:nvSpPr>
        <p:spPr>
          <a:xfrm>
            <a:off x="914400" y="2743200"/>
            <a:ext cx="9906000" cy="300082"/>
          </a:xfrm>
          <a:prstGeom prst="rect">
            <a:avLst/>
          </a:prstGeom>
          <a:noFill/>
        </p:spPr>
        <p:txBody>
          <a:bodyPr vert="horz" wrap="square" lIns="0" tIns="0" rIns="0" bIns="0" rtlCol="0">
            <a:noAutofit/>
          </a:bodyPr>
          <a:lstStyle/>
          <a:p>
            <a:r>
              <a:rPr lang="en-IN" sz="2100">
                <a:solidFill>
                  <a:srgbClr val="F0C56B"/>
                </a:solidFill>
                <a:latin typeface="Segoe UI" panose="020B0502040204020203" pitchFamily="34" charset="0"/>
              </a:rPr>
              <a:t>Port-to-Doorstep Delivery Marketplace</a:t>
            </a:r>
          </a:p>
        </p:txBody>
      </p:sp>
      <p:sp>
        <p:nvSpPr>
          <p:cNvPr id="6" name="Rectangle 5">
            <a:extLst>
              <a:ext uri="{FF2B5EF4-FFF2-40B4-BE49-F238E27FC236}">
                <a16:creationId xmlns:a16="http://schemas.microsoft.com/office/drawing/2014/main" id="{61D36145-9FD7-764A-24D6-8F13087EE2DB}"/>
              </a:ext>
            </a:extLst>
          </p:cNvPr>
          <p:cNvSpPr/>
          <p:nvPr/>
        </p:nvSpPr>
        <p:spPr>
          <a:xfrm>
            <a:off x="914400" y="3403600"/>
            <a:ext cx="914400" cy="508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 name="TextBox 6">
            <a:extLst>
              <a:ext uri="{FF2B5EF4-FFF2-40B4-BE49-F238E27FC236}">
                <a16:creationId xmlns:a16="http://schemas.microsoft.com/office/drawing/2014/main" id="{220AD0C9-65EB-0DEE-779E-9195D3921654}"/>
              </a:ext>
            </a:extLst>
          </p:cNvPr>
          <p:cNvSpPr txBox="1"/>
          <p:nvPr/>
        </p:nvSpPr>
        <p:spPr>
          <a:xfrm>
            <a:off x="914400" y="3708400"/>
            <a:ext cx="8890000" cy="300082"/>
          </a:xfrm>
          <a:prstGeom prst="rect">
            <a:avLst/>
          </a:prstGeom>
          <a:noFill/>
        </p:spPr>
        <p:txBody>
          <a:bodyPr vert="horz" wrap="square" lIns="0" tIns="0" rIns="0" bIns="0" rtlCol="0">
            <a:noAutofit/>
          </a:bodyPr>
          <a:lstStyle/>
          <a:p>
            <a:r>
              <a:rPr lang="en-US" sz="1400">
                <a:solidFill>
                  <a:srgbClr val="D9C6B8"/>
                </a:solidFill>
                <a:latin typeface="Segoe UI" panose="020B0502040204020203" pitchFamily="34" charset="0"/>
              </a:rPr>
              <a:t>Batching, dispatching and tracking 490 delivery requests</a:t>
            </a:r>
          </a:p>
          <a:p>
            <a:r>
              <a:rPr lang="en-US" sz="1400">
                <a:solidFill>
                  <a:srgbClr val="D9C6B8"/>
                </a:solidFill>
                <a:latin typeface="Segoe UI" panose="020B0502040204020203" pitchFamily="34" charset="0"/>
              </a:rPr>
              <a:t>across 12 Indian port depots in one marketplace.</a:t>
            </a:r>
            <a:endParaRPr lang="en-IN" sz="1400">
              <a:solidFill>
                <a:srgbClr val="D9C6B8"/>
              </a:solidFill>
              <a:latin typeface="Segoe UI" panose="020B0502040204020203" pitchFamily="34" charset="0"/>
            </a:endParaRPr>
          </a:p>
        </p:txBody>
      </p:sp>
      <p:sp>
        <p:nvSpPr>
          <p:cNvPr id="8" name="TextBox 7">
            <a:extLst>
              <a:ext uri="{FF2B5EF4-FFF2-40B4-BE49-F238E27FC236}">
                <a16:creationId xmlns:a16="http://schemas.microsoft.com/office/drawing/2014/main" id="{A912CEEE-F708-3760-FBA9-374A195E00FE}"/>
              </a:ext>
            </a:extLst>
          </p:cNvPr>
          <p:cNvSpPr txBox="1"/>
          <p:nvPr/>
        </p:nvSpPr>
        <p:spPr>
          <a:xfrm>
            <a:off x="914400" y="5029200"/>
            <a:ext cx="3810000" cy="300082"/>
          </a:xfrm>
          <a:prstGeom prst="rect">
            <a:avLst/>
          </a:prstGeom>
          <a:noFill/>
        </p:spPr>
        <p:txBody>
          <a:bodyPr vert="horz" wrap="square" lIns="0" tIns="0" rIns="0" bIns="0" rtlCol="0">
            <a:noAutofit/>
          </a:bodyPr>
          <a:lstStyle/>
          <a:p>
            <a:r>
              <a:rPr lang="en-IN" sz="900" b="1">
                <a:solidFill>
                  <a:srgbClr val="AD937E"/>
                </a:solidFill>
                <a:latin typeface="Segoe UI" panose="020B0502040204020203" pitchFamily="34" charset="0"/>
              </a:rPr>
              <a:t>PRESENTED BY</a:t>
            </a:r>
          </a:p>
        </p:txBody>
      </p:sp>
      <p:sp>
        <p:nvSpPr>
          <p:cNvPr id="9" name="TextBox 8">
            <a:extLst>
              <a:ext uri="{FF2B5EF4-FFF2-40B4-BE49-F238E27FC236}">
                <a16:creationId xmlns:a16="http://schemas.microsoft.com/office/drawing/2014/main" id="{73EA7A30-E489-138F-BFE7-074EEC5BA77C}"/>
              </a:ext>
            </a:extLst>
          </p:cNvPr>
          <p:cNvSpPr txBox="1"/>
          <p:nvPr/>
        </p:nvSpPr>
        <p:spPr>
          <a:xfrm>
            <a:off x="914400" y="5257800"/>
            <a:ext cx="3810000" cy="304800"/>
          </a:xfrm>
          <a:prstGeom prst="rect">
            <a:avLst/>
          </a:prstGeom>
          <a:noFill/>
        </p:spPr>
        <p:txBody>
          <a:bodyPr vert="horz" wrap="square" lIns="0" tIns="0" rIns="0" bIns="0" rtlCol="0">
            <a:noAutofit/>
          </a:bodyPr>
          <a:lstStyle/>
          <a:p>
            <a:r>
              <a:rPr lang="en-IN" sz="1400" b="1">
                <a:solidFill>
                  <a:srgbClr val="FFFFFF"/>
                </a:solidFill>
                <a:latin typeface="Segoe UI" panose="020B0502040204020203" pitchFamily="34" charset="0"/>
              </a:rPr>
              <a:t>[Team Name]</a:t>
            </a:r>
          </a:p>
        </p:txBody>
      </p:sp>
      <p:sp>
        <p:nvSpPr>
          <p:cNvPr id="10" name="TextBox 9">
            <a:extLst>
              <a:ext uri="{FF2B5EF4-FFF2-40B4-BE49-F238E27FC236}">
                <a16:creationId xmlns:a16="http://schemas.microsoft.com/office/drawing/2014/main" id="{A1B6E984-810A-6E29-9938-50EB627BF2A4}"/>
              </a:ext>
            </a:extLst>
          </p:cNvPr>
          <p:cNvSpPr txBox="1"/>
          <p:nvPr/>
        </p:nvSpPr>
        <p:spPr>
          <a:xfrm>
            <a:off x="914400" y="5588000"/>
            <a:ext cx="5080000" cy="300082"/>
          </a:xfrm>
          <a:prstGeom prst="rect">
            <a:avLst/>
          </a:prstGeom>
          <a:noFill/>
        </p:spPr>
        <p:txBody>
          <a:bodyPr vert="horz" wrap="square" lIns="0" tIns="0" rIns="0" bIns="0" rtlCol="0">
            <a:noAutofit/>
          </a:bodyPr>
          <a:lstStyle/>
          <a:p>
            <a:r>
              <a:rPr lang="en-IN" sz="1100">
                <a:solidFill>
                  <a:srgbClr val="C6B29F"/>
                </a:solidFill>
                <a:latin typeface="Segoe UI" panose="020B0502040204020203" pitchFamily="34" charset="0"/>
              </a:rPr>
              <a:t>[Institution / Guide]</a:t>
            </a:r>
          </a:p>
        </p:txBody>
      </p:sp>
      <p:sp>
        <p:nvSpPr>
          <p:cNvPr id="11" name="TextBox 10">
            <a:extLst>
              <a:ext uri="{FF2B5EF4-FFF2-40B4-BE49-F238E27FC236}">
                <a16:creationId xmlns:a16="http://schemas.microsoft.com/office/drawing/2014/main" id="{D8091C6E-26BC-2BBC-A383-829F11DDBA70}"/>
              </a:ext>
            </a:extLst>
          </p:cNvPr>
          <p:cNvSpPr txBox="1"/>
          <p:nvPr/>
        </p:nvSpPr>
        <p:spPr>
          <a:xfrm>
            <a:off x="8382000" y="5588000"/>
            <a:ext cx="2921000" cy="300082"/>
          </a:xfrm>
          <a:prstGeom prst="rect">
            <a:avLst/>
          </a:prstGeom>
          <a:noFill/>
        </p:spPr>
        <p:txBody>
          <a:bodyPr vert="horz" wrap="square" lIns="0" tIns="0" rIns="0" bIns="0" rtlCol="0">
            <a:noAutofit/>
          </a:bodyPr>
          <a:lstStyle/>
          <a:p>
            <a:pPr algn="r"/>
            <a:r>
              <a:rPr lang="en-IN" sz="1100">
                <a:solidFill>
                  <a:srgbClr val="C6B29F"/>
                </a:solidFill>
                <a:latin typeface="Segoe UI" panose="020B0502040204020203" pitchFamily="34" charset="0"/>
              </a:rPr>
              <a:t>October 2026</a:t>
            </a:r>
          </a:p>
        </p:txBody>
      </p:sp>
    </p:spTree>
    <p:extLst>
      <p:ext uri="{BB962C8B-B14F-4D97-AF65-F5344CB8AC3E}">
        <p14:creationId xmlns:p14="http://schemas.microsoft.com/office/powerpoint/2010/main" val="1015818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EE1216-2E7C-26F7-61C8-277F4A80C548}"/>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3E84B80C-F045-1574-A979-33AF9F7CF896}"/>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THE PROBLEM</a:t>
            </a:r>
          </a:p>
        </p:txBody>
      </p:sp>
      <p:sp>
        <p:nvSpPr>
          <p:cNvPr id="4" name="TextBox 3">
            <a:extLst>
              <a:ext uri="{FF2B5EF4-FFF2-40B4-BE49-F238E27FC236}">
                <a16:creationId xmlns:a16="http://schemas.microsoft.com/office/drawing/2014/main" id="{74A2B694-A83A-3577-2860-A6C910DAE278}"/>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Freight leaving a port is still scheduled by hand</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BE5D0923-1C45-BAE6-E887-64A03DD85220}"/>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FC9C7495-09CB-C989-D702-A8DA8216C0A7}"/>
              </a:ext>
            </a:extLst>
          </p:cNvPr>
          <p:cNvSpPr txBox="1"/>
          <p:nvPr/>
        </p:nvSpPr>
        <p:spPr>
          <a:xfrm>
            <a:off x="711200" y="1905000"/>
            <a:ext cx="5334000" cy="1938992"/>
          </a:xfrm>
          <a:prstGeom prst="rect">
            <a:avLst/>
          </a:prstGeom>
          <a:noFill/>
        </p:spPr>
        <p:txBody>
          <a:bodyPr vert="horz" wrap="square" lIns="0" tIns="0" rIns="0" bIns="0" rtlCol="0">
            <a:spAutoFit/>
          </a:bodyPr>
          <a:lstStyle/>
          <a:p>
            <a:r>
              <a:rPr lang="en-US" sz="1400">
                <a:solidFill>
                  <a:srgbClr val="2F170A"/>
                </a:solidFill>
                <a:latin typeface="Segoe UI" panose="020B0502040204020203" pitchFamily="34" charset="0"/>
              </a:rPr>
              <a:t>•  Depots plan runs in spreadsheets - no shared view of what is waiting</a:t>
            </a:r>
          </a:p>
          <a:p>
            <a:endParaRPr lang="en-IN" sz="1400">
              <a:solidFill>
                <a:srgbClr val="2F170A"/>
              </a:solidFill>
              <a:latin typeface="Segoe UI" panose="020B0502040204020203" pitchFamily="34" charset="0"/>
            </a:endParaRPr>
          </a:p>
          <a:p>
            <a:r>
              <a:rPr lang="en-US" sz="1400">
                <a:solidFill>
                  <a:srgbClr val="2F170A"/>
                </a:solidFill>
                <a:latin typeface="Segoe UI" panose="020B0502040204020203" pitchFamily="34" charset="0"/>
              </a:rPr>
              <a:t>•  Drivers are phoned one at a time; batch fill stays low</a:t>
            </a:r>
          </a:p>
          <a:p>
            <a:endParaRPr lang="en-IN" sz="1400">
              <a:solidFill>
                <a:srgbClr val="2F170A"/>
              </a:solidFill>
              <a:latin typeface="Segoe UI" panose="020B0502040204020203" pitchFamily="34" charset="0"/>
            </a:endParaRPr>
          </a:p>
          <a:p>
            <a:r>
              <a:rPr lang="en-US" sz="1400">
                <a:solidFill>
                  <a:srgbClr val="2F170A"/>
                </a:solidFill>
                <a:latin typeface="Segoe UI" panose="020B0502040204020203" pitchFamily="34" charset="0"/>
              </a:rPr>
              <a:t>•  Customers chase drivers by phone for a delivery status</a:t>
            </a:r>
          </a:p>
          <a:p>
            <a:endParaRPr lang="en-IN" sz="1400">
              <a:solidFill>
                <a:srgbClr val="2F170A"/>
              </a:solidFill>
              <a:latin typeface="Segoe UI" panose="020B0502040204020203" pitchFamily="34" charset="0"/>
            </a:endParaRPr>
          </a:p>
          <a:p>
            <a:r>
              <a:rPr lang="en-US" sz="1400">
                <a:solidFill>
                  <a:srgbClr val="2F170A"/>
                </a:solidFill>
                <a:latin typeface="Segoe UI" panose="020B0502040204020203" pitchFamily="34" charset="0"/>
              </a:rPr>
              <a:t>•  Nobody can say why a parcel missed its window</a:t>
            </a:r>
          </a:p>
          <a:p>
            <a:endParaRPr lang="en-IN" sz="1400">
              <a:solidFill>
                <a:srgbClr val="2F170A"/>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96E3DAA6-FE5E-16BA-D1BA-872010EDAF40}"/>
              </a:ext>
            </a:extLst>
          </p:cNvPr>
          <p:cNvSpPr/>
          <p:nvPr/>
        </p:nvSpPr>
        <p:spPr>
          <a:xfrm>
            <a:off x="6604000" y="1905000"/>
            <a:ext cx="4876800" cy="3810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8" name="TextBox 7">
            <a:extLst>
              <a:ext uri="{FF2B5EF4-FFF2-40B4-BE49-F238E27FC236}">
                <a16:creationId xmlns:a16="http://schemas.microsoft.com/office/drawing/2014/main" id="{4F99F175-0775-AF8B-640B-D71F43843A24}"/>
              </a:ext>
            </a:extLst>
          </p:cNvPr>
          <p:cNvSpPr txBox="1"/>
          <p:nvPr/>
        </p:nvSpPr>
        <p:spPr>
          <a:xfrm>
            <a:off x="6908800" y="2184400"/>
            <a:ext cx="4318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THE COST OF IT</a:t>
            </a:r>
          </a:p>
        </p:txBody>
      </p:sp>
      <p:sp>
        <p:nvSpPr>
          <p:cNvPr id="9" name="TextBox 8">
            <a:extLst>
              <a:ext uri="{FF2B5EF4-FFF2-40B4-BE49-F238E27FC236}">
                <a16:creationId xmlns:a16="http://schemas.microsoft.com/office/drawing/2014/main" id="{19975886-C9CE-0033-9DC0-A61C35774C97}"/>
              </a:ext>
            </a:extLst>
          </p:cNvPr>
          <p:cNvSpPr txBox="1"/>
          <p:nvPr/>
        </p:nvSpPr>
        <p:spPr>
          <a:xfrm>
            <a:off x="6908800" y="2590800"/>
            <a:ext cx="1524000" cy="300082"/>
          </a:xfrm>
          <a:prstGeom prst="rect">
            <a:avLst/>
          </a:prstGeom>
          <a:noFill/>
        </p:spPr>
        <p:txBody>
          <a:bodyPr vert="horz" wrap="square" lIns="0" tIns="0" rIns="0" bIns="0" rtlCol="0">
            <a:noAutofit/>
          </a:bodyPr>
          <a:lstStyle/>
          <a:p>
            <a:r>
              <a:rPr lang="en-IN" sz="2200" b="1">
                <a:solidFill>
                  <a:srgbClr val="2F170A"/>
                </a:solidFill>
                <a:latin typeface="Segoe UI" panose="020B0502040204020203" pitchFamily="34" charset="0"/>
              </a:rPr>
              <a:t>43.0%</a:t>
            </a:r>
          </a:p>
        </p:txBody>
      </p:sp>
      <p:sp>
        <p:nvSpPr>
          <p:cNvPr id="10" name="TextBox 9">
            <a:extLst>
              <a:ext uri="{FF2B5EF4-FFF2-40B4-BE49-F238E27FC236}">
                <a16:creationId xmlns:a16="http://schemas.microsoft.com/office/drawing/2014/main" id="{14CC2104-8ABA-D930-C1BA-6DA1CA9CCCDC}"/>
              </a:ext>
            </a:extLst>
          </p:cNvPr>
          <p:cNvSpPr txBox="1"/>
          <p:nvPr/>
        </p:nvSpPr>
        <p:spPr>
          <a:xfrm>
            <a:off x="8534400" y="2616200"/>
            <a:ext cx="2794000" cy="300082"/>
          </a:xfrm>
          <a:prstGeom prst="rect">
            <a:avLst/>
          </a:prstGeom>
          <a:noFill/>
        </p:spPr>
        <p:txBody>
          <a:bodyPr vert="horz" wrap="square" lIns="0" tIns="0" rIns="0" bIns="0" rtlCol="0">
            <a:noAutofit/>
          </a:bodyPr>
          <a:lstStyle/>
          <a:p>
            <a:r>
              <a:rPr lang="en-IN" sz="1100" b="1">
                <a:solidFill>
                  <a:srgbClr val="2F170A"/>
                </a:solidFill>
                <a:latin typeface="Segoe UI" panose="020B0502040204020203" pitchFamily="34" charset="0"/>
              </a:rPr>
              <a:t>average batch fill</a:t>
            </a:r>
          </a:p>
        </p:txBody>
      </p:sp>
      <p:sp>
        <p:nvSpPr>
          <p:cNvPr id="11" name="TextBox 10">
            <a:extLst>
              <a:ext uri="{FF2B5EF4-FFF2-40B4-BE49-F238E27FC236}">
                <a16:creationId xmlns:a16="http://schemas.microsoft.com/office/drawing/2014/main" id="{96080661-AA46-FA5B-4B50-722EC5B5A06E}"/>
              </a:ext>
            </a:extLst>
          </p:cNvPr>
          <p:cNvSpPr txBox="1"/>
          <p:nvPr/>
        </p:nvSpPr>
        <p:spPr>
          <a:xfrm>
            <a:off x="8534400" y="2844800"/>
            <a:ext cx="2794000" cy="300082"/>
          </a:xfrm>
          <a:prstGeom prst="rect">
            <a:avLst/>
          </a:prstGeom>
          <a:noFill/>
        </p:spPr>
        <p:txBody>
          <a:bodyPr vert="horz" wrap="square" lIns="0" tIns="0" rIns="0" bIns="0" rtlCol="0">
            <a:noAutofit/>
          </a:bodyPr>
          <a:lstStyle/>
          <a:p>
            <a:r>
              <a:rPr lang="en-IN" sz="1000">
                <a:solidFill>
                  <a:srgbClr val="8B744B"/>
                </a:solidFill>
                <a:latin typeface="Segoe UI" panose="020B0502040204020203" pitchFamily="34" charset="0"/>
              </a:rPr>
              <a:t>half-empty runs burning fuel</a:t>
            </a:r>
          </a:p>
        </p:txBody>
      </p:sp>
      <p:sp>
        <p:nvSpPr>
          <p:cNvPr id="12" name="TextBox 11">
            <a:extLst>
              <a:ext uri="{FF2B5EF4-FFF2-40B4-BE49-F238E27FC236}">
                <a16:creationId xmlns:a16="http://schemas.microsoft.com/office/drawing/2014/main" id="{9B82F1EE-0664-29B5-B26E-41387E58677E}"/>
              </a:ext>
            </a:extLst>
          </p:cNvPr>
          <p:cNvSpPr txBox="1"/>
          <p:nvPr/>
        </p:nvSpPr>
        <p:spPr>
          <a:xfrm>
            <a:off x="6908800" y="3632200"/>
            <a:ext cx="1524000" cy="300082"/>
          </a:xfrm>
          <a:prstGeom prst="rect">
            <a:avLst/>
          </a:prstGeom>
          <a:noFill/>
        </p:spPr>
        <p:txBody>
          <a:bodyPr vert="horz" wrap="square" lIns="0" tIns="0" rIns="0" bIns="0" rtlCol="0">
            <a:noAutofit/>
          </a:bodyPr>
          <a:lstStyle/>
          <a:p>
            <a:r>
              <a:rPr lang="en-IN" sz="2200" b="1">
                <a:solidFill>
                  <a:srgbClr val="2F170A"/>
                </a:solidFill>
                <a:latin typeface="Segoe UI" panose="020B0502040204020203" pitchFamily="34" charset="0"/>
              </a:rPr>
              <a:t>21 min</a:t>
            </a:r>
          </a:p>
        </p:txBody>
      </p:sp>
      <p:sp>
        <p:nvSpPr>
          <p:cNvPr id="13" name="TextBox 12">
            <a:extLst>
              <a:ext uri="{FF2B5EF4-FFF2-40B4-BE49-F238E27FC236}">
                <a16:creationId xmlns:a16="http://schemas.microsoft.com/office/drawing/2014/main" id="{EE5D9EA8-20D9-BA97-6464-237FC771D2F3}"/>
              </a:ext>
            </a:extLst>
          </p:cNvPr>
          <p:cNvSpPr txBox="1"/>
          <p:nvPr/>
        </p:nvSpPr>
        <p:spPr>
          <a:xfrm>
            <a:off x="8534400" y="3657600"/>
            <a:ext cx="2794000" cy="300082"/>
          </a:xfrm>
          <a:prstGeom prst="rect">
            <a:avLst/>
          </a:prstGeom>
          <a:noFill/>
        </p:spPr>
        <p:txBody>
          <a:bodyPr vert="horz" wrap="square" lIns="0" tIns="0" rIns="0" bIns="0" rtlCol="0">
            <a:noAutofit/>
          </a:bodyPr>
          <a:lstStyle/>
          <a:p>
            <a:r>
              <a:rPr lang="en-IN" sz="1100" b="1">
                <a:solidFill>
                  <a:srgbClr val="2F170A"/>
                </a:solidFill>
                <a:latin typeface="Segoe UI" panose="020B0502040204020203" pitchFamily="34" charset="0"/>
              </a:rPr>
              <a:t>median broadcast to claim</a:t>
            </a:r>
          </a:p>
        </p:txBody>
      </p:sp>
      <p:sp>
        <p:nvSpPr>
          <p:cNvPr id="14" name="TextBox 13">
            <a:extLst>
              <a:ext uri="{FF2B5EF4-FFF2-40B4-BE49-F238E27FC236}">
                <a16:creationId xmlns:a16="http://schemas.microsoft.com/office/drawing/2014/main" id="{3AAB89B8-DA0E-8865-C62D-5BAF0A093686}"/>
              </a:ext>
            </a:extLst>
          </p:cNvPr>
          <p:cNvSpPr txBox="1"/>
          <p:nvPr/>
        </p:nvSpPr>
        <p:spPr>
          <a:xfrm>
            <a:off x="8534400" y="3886200"/>
            <a:ext cx="2794000" cy="300082"/>
          </a:xfrm>
          <a:prstGeom prst="rect">
            <a:avLst/>
          </a:prstGeom>
          <a:noFill/>
        </p:spPr>
        <p:txBody>
          <a:bodyPr vert="horz" wrap="square" lIns="0" tIns="0" rIns="0" bIns="0" rtlCol="0">
            <a:noAutofit/>
          </a:bodyPr>
          <a:lstStyle/>
          <a:p>
            <a:r>
              <a:rPr lang="en-US" sz="1000">
                <a:solidFill>
                  <a:srgbClr val="8B744B"/>
                </a:solidFill>
                <a:latin typeface="Segoe UI" panose="020B0502040204020203" pitchFamily="34" charset="0"/>
              </a:rPr>
              <a:t>drivers idle, waiting to be asked</a:t>
            </a:r>
            <a:endParaRPr lang="en-IN" sz="1000">
              <a:solidFill>
                <a:srgbClr val="8B744B"/>
              </a:solidFill>
              <a:latin typeface="Segoe UI" panose="020B0502040204020203" pitchFamily="34" charset="0"/>
            </a:endParaRPr>
          </a:p>
        </p:txBody>
      </p:sp>
      <p:sp>
        <p:nvSpPr>
          <p:cNvPr id="15" name="TextBox 14">
            <a:extLst>
              <a:ext uri="{FF2B5EF4-FFF2-40B4-BE49-F238E27FC236}">
                <a16:creationId xmlns:a16="http://schemas.microsoft.com/office/drawing/2014/main" id="{32287BA9-A70A-5EA1-7F47-705BDF1C7790}"/>
              </a:ext>
            </a:extLst>
          </p:cNvPr>
          <p:cNvSpPr txBox="1"/>
          <p:nvPr/>
        </p:nvSpPr>
        <p:spPr>
          <a:xfrm>
            <a:off x="6908800" y="4673600"/>
            <a:ext cx="1524000" cy="300082"/>
          </a:xfrm>
          <a:prstGeom prst="rect">
            <a:avLst/>
          </a:prstGeom>
          <a:noFill/>
        </p:spPr>
        <p:txBody>
          <a:bodyPr vert="horz" wrap="square" lIns="0" tIns="0" rIns="0" bIns="0" rtlCol="0">
            <a:noAutofit/>
          </a:bodyPr>
          <a:lstStyle/>
          <a:p>
            <a:r>
              <a:rPr lang="en-IN" sz="2200" b="1">
                <a:solidFill>
                  <a:srgbClr val="2F170A"/>
                </a:solidFill>
                <a:latin typeface="Segoe UI" panose="020B0502040204020203" pitchFamily="34" charset="0"/>
              </a:rPr>
              <a:t>53</a:t>
            </a:r>
          </a:p>
        </p:txBody>
      </p:sp>
      <p:sp>
        <p:nvSpPr>
          <p:cNvPr id="16" name="TextBox 15">
            <a:extLst>
              <a:ext uri="{FF2B5EF4-FFF2-40B4-BE49-F238E27FC236}">
                <a16:creationId xmlns:a16="http://schemas.microsoft.com/office/drawing/2014/main" id="{E81B291E-DA62-5B77-99C0-E10C915333BD}"/>
              </a:ext>
            </a:extLst>
          </p:cNvPr>
          <p:cNvSpPr txBox="1"/>
          <p:nvPr/>
        </p:nvSpPr>
        <p:spPr>
          <a:xfrm>
            <a:off x="8534400" y="4699000"/>
            <a:ext cx="2794000" cy="300082"/>
          </a:xfrm>
          <a:prstGeom prst="rect">
            <a:avLst/>
          </a:prstGeom>
          <a:noFill/>
        </p:spPr>
        <p:txBody>
          <a:bodyPr vert="horz" wrap="square" lIns="0" tIns="0" rIns="0" bIns="0" rtlCol="0">
            <a:noAutofit/>
          </a:bodyPr>
          <a:lstStyle/>
          <a:p>
            <a:r>
              <a:rPr lang="en-IN" sz="1100" b="1">
                <a:solidFill>
                  <a:srgbClr val="2F170A"/>
                </a:solidFill>
                <a:latin typeface="Segoe UI" panose="020B0502040204020203" pitchFamily="34" charset="0"/>
              </a:rPr>
              <a:t>requests cancelled or failed</a:t>
            </a:r>
          </a:p>
        </p:txBody>
      </p:sp>
      <p:sp>
        <p:nvSpPr>
          <p:cNvPr id="17" name="TextBox 16">
            <a:extLst>
              <a:ext uri="{FF2B5EF4-FFF2-40B4-BE49-F238E27FC236}">
                <a16:creationId xmlns:a16="http://schemas.microsoft.com/office/drawing/2014/main" id="{F752BC67-7573-0393-3104-B2C26624D140}"/>
              </a:ext>
            </a:extLst>
          </p:cNvPr>
          <p:cNvSpPr txBox="1"/>
          <p:nvPr/>
        </p:nvSpPr>
        <p:spPr>
          <a:xfrm>
            <a:off x="8534400" y="4927600"/>
            <a:ext cx="2794000" cy="300082"/>
          </a:xfrm>
          <a:prstGeom prst="rect">
            <a:avLst/>
          </a:prstGeom>
          <a:noFill/>
        </p:spPr>
        <p:txBody>
          <a:bodyPr vert="horz" wrap="square" lIns="0" tIns="0" rIns="0" bIns="0" rtlCol="0">
            <a:noAutofit/>
          </a:bodyPr>
          <a:lstStyle/>
          <a:p>
            <a:r>
              <a:rPr lang="en-US" sz="1000">
                <a:solidFill>
                  <a:srgbClr val="8B744B"/>
                </a:solidFill>
                <a:latin typeface="Segoe UI" panose="020B0502040204020203" pitchFamily="34" charset="0"/>
              </a:rPr>
              <a:t>untracked in a spreadsheet world</a:t>
            </a:r>
            <a:endParaRPr lang="en-IN" sz="1000">
              <a:solidFill>
                <a:srgbClr val="8B744B"/>
              </a:solidFill>
              <a:latin typeface="Segoe UI" panose="020B0502040204020203" pitchFamily="34" charset="0"/>
            </a:endParaRPr>
          </a:p>
        </p:txBody>
      </p:sp>
      <p:sp>
        <p:nvSpPr>
          <p:cNvPr id="18" name="TextBox 17">
            <a:extLst>
              <a:ext uri="{FF2B5EF4-FFF2-40B4-BE49-F238E27FC236}">
                <a16:creationId xmlns:a16="http://schemas.microsoft.com/office/drawing/2014/main" id="{5C0CD0E3-04D8-CE48-E248-7A530D39219A}"/>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9" name="TextBox 18">
            <a:extLst>
              <a:ext uri="{FF2B5EF4-FFF2-40B4-BE49-F238E27FC236}">
                <a16:creationId xmlns:a16="http://schemas.microsoft.com/office/drawing/2014/main" id="{2A5809DA-615A-E052-4B56-563F9E4F0CA2}"/>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2</a:t>
            </a:r>
          </a:p>
        </p:txBody>
      </p:sp>
    </p:spTree>
    <p:extLst>
      <p:ext uri="{BB962C8B-B14F-4D97-AF65-F5344CB8AC3E}">
        <p14:creationId xmlns:p14="http://schemas.microsoft.com/office/powerpoint/2010/main" val="4269860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DB2D1B-FE1E-F216-D1BE-9C34197BDB06}"/>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7F4BB3AB-A9F7-4107-6B0E-DCEB82B62EDC}"/>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OBJECTIVES</a:t>
            </a:r>
          </a:p>
        </p:txBody>
      </p:sp>
      <p:sp>
        <p:nvSpPr>
          <p:cNvPr id="4" name="TextBox 3">
            <a:extLst>
              <a:ext uri="{FF2B5EF4-FFF2-40B4-BE49-F238E27FC236}">
                <a16:creationId xmlns:a16="http://schemas.microsoft.com/office/drawing/2014/main" id="{B46DD368-38BB-B187-422C-3418BD12002B}"/>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What we set out to build</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880EC275-A831-4347-1984-C89A3F2F1F7A}"/>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0497156C-7124-B1D0-FED9-1CC5049F0C01}"/>
              </a:ext>
            </a:extLst>
          </p:cNvPr>
          <p:cNvSpPr txBox="1"/>
          <p:nvPr/>
        </p:nvSpPr>
        <p:spPr>
          <a:xfrm>
            <a:off x="711200" y="1879600"/>
            <a:ext cx="584200" cy="300082"/>
          </a:xfrm>
          <a:prstGeom prst="rect">
            <a:avLst/>
          </a:prstGeom>
          <a:noFill/>
        </p:spPr>
        <p:txBody>
          <a:bodyPr vert="horz" wrap="square" lIns="0" tIns="0" rIns="0" bIns="0" rtlCol="0">
            <a:noAutofit/>
          </a:bodyPr>
          <a:lstStyle/>
          <a:p>
            <a:r>
              <a:rPr lang="en-IN" sz="2000" b="1">
                <a:solidFill>
                  <a:srgbClr val="D9C6B8"/>
                </a:solidFill>
                <a:latin typeface="Segoe UI" panose="020B0502040204020203" pitchFamily="34" charset="0"/>
              </a:rPr>
              <a:t>01</a:t>
            </a:r>
          </a:p>
        </p:txBody>
      </p:sp>
      <p:sp>
        <p:nvSpPr>
          <p:cNvPr id="7" name="TextBox 6">
            <a:extLst>
              <a:ext uri="{FF2B5EF4-FFF2-40B4-BE49-F238E27FC236}">
                <a16:creationId xmlns:a16="http://schemas.microsoft.com/office/drawing/2014/main" id="{D964B611-A770-CC1C-636C-8776E54376DA}"/>
              </a:ext>
            </a:extLst>
          </p:cNvPr>
          <p:cNvSpPr txBox="1"/>
          <p:nvPr/>
        </p:nvSpPr>
        <p:spPr>
          <a:xfrm>
            <a:off x="1371600" y="1854200"/>
            <a:ext cx="3175000" cy="300082"/>
          </a:xfrm>
          <a:prstGeom prst="rect">
            <a:avLst/>
          </a:prstGeom>
          <a:noFill/>
        </p:spPr>
        <p:txBody>
          <a:bodyPr vert="horz" wrap="square" lIns="0" tIns="0" rIns="0" bIns="0" rtlCol="0">
            <a:noAutofit/>
          </a:bodyPr>
          <a:lstStyle/>
          <a:p>
            <a:r>
              <a:rPr lang="en-IN" sz="1500" b="1">
                <a:solidFill>
                  <a:srgbClr val="2F170A"/>
                </a:solidFill>
                <a:latin typeface="Segoe UI" panose="020B0502040204020203" pitchFamily="34" charset="0"/>
              </a:rPr>
              <a:t>One marketplace</a:t>
            </a:r>
          </a:p>
        </p:txBody>
      </p:sp>
      <p:sp>
        <p:nvSpPr>
          <p:cNvPr id="8" name="TextBox 7">
            <a:extLst>
              <a:ext uri="{FF2B5EF4-FFF2-40B4-BE49-F238E27FC236}">
                <a16:creationId xmlns:a16="http://schemas.microsoft.com/office/drawing/2014/main" id="{98E7C34B-60E8-4DA8-3D7A-0931A872C8AE}"/>
              </a:ext>
            </a:extLst>
          </p:cNvPr>
          <p:cNvSpPr txBox="1"/>
          <p:nvPr/>
        </p:nvSpPr>
        <p:spPr>
          <a:xfrm>
            <a:off x="4724400" y="1879600"/>
            <a:ext cx="6731000" cy="300082"/>
          </a:xfrm>
          <a:prstGeom prst="rect">
            <a:avLst/>
          </a:prstGeom>
          <a:noFill/>
        </p:spPr>
        <p:txBody>
          <a:bodyPr vert="horz" wrap="square" lIns="0" tIns="0" rIns="0" bIns="0" rtlCol="0">
            <a:noAutofit/>
          </a:bodyPr>
          <a:lstStyle/>
          <a:p>
            <a:r>
              <a:rPr lang="en-US" sz="1200">
                <a:solidFill>
                  <a:srgbClr val="8B744B"/>
                </a:solidFill>
                <a:latin typeface="Segoe UI" panose="020B0502040204020203" pitchFamily="34" charset="0"/>
              </a:rPr>
              <a:t>Customer books, depot batches, driver claims - in the same system</a:t>
            </a:r>
            <a:endParaRPr lang="en-IN" sz="1200">
              <a:solidFill>
                <a:srgbClr val="8B744B"/>
              </a:solidFill>
              <a:latin typeface="Segoe UI" panose="020B0502040204020203" pitchFamily="34" charset="0"/>
            </a:endParaRPr>
          </a:p>
        </p:txBody>
      </p:sp>
      <p:sp>
        <p:nvSpPr>
          <p:cNvPr id="9" name="Rectangle 8">
            <a:extLst>
              <a:ext uri="{FF2B5EF4-FFF2-40B4-BE49-F238E27FC236}">
                <a16:creationId xmlns:a16="http://schemas.microsoft.com/office/drawing/2014/main" id="{E4DBE13D-B4B6-CBA7-C2C0-344BBAED4B7A}"/>
              </a:ext>
            </a:extLst>
          </p:cNvPr>
          <p:cNvSpPr/>
          <p:nvPr/>
        </p:nvSpPr>
        <p:spPr>
          <a:xfrm>
            <a:off x="711200" y="2540000"/>
            <a:ext cx="10769600" cy="12700"/>
          </a:xfrm>
          <a:prstGeom prst="rect">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0" name="TextBox 9">
            <a:extLst>
              <a:ext uri="{FF2B5EF4-FFF2-40B4-BE49-F238E27FC236}">
                <a16:creationId xmlns:a16="http://schemas.microsoft.com/office/drawing/2014/main" id="{F7284BDB-0333-06BF-6009-2DB752DF0C5C}"/>
              </a:ext>
            </a:extLst>
          </p:cNvPr>
          <p:cNvSpPr txBox="1"/>
          <p:nvPr/>
        </p:nvSpPr>
        <p:spPr>
          <a:xfrm>
            <a:off x="711200" y="2794000"/>
            <a:ext cx="584200" cy="300082"/>
          </a:xfrm>
          <a:prstGeom prst="rect">
            <a:avLst/>
          </a:prstGeom>
          <a:noFill/>
        </p:spPr>
        <p:txBody>
          <a:bodyPr vert="horz" wrap="square" lIns="0" tIns="0" rIns="0" bIns="0" rtlCol="0">
            <a:noAutofit/>
          </a:bodyPr>
          <a:lstStyle/>
          <a:p>
            <a:r>
              <a:rPr lang="en-IN" sz="2000" b="1">
                <a:solidFill>
                  <a:srgbClr val="D9C6B8"/>
                </a:solidFill>
                <a:latin typeface="Segoe UI" panose="020B0502040204020203" pitchFamily="34" charset="0"/>
              </a:rPr>
              <a:t>02</a:t>
            </a:r>
          </a:p>
        </p:txBody>
      </p:sp>
      <p:sp>
        <p:nvSpPr>
          <p:cNvPr id="11" name="TextBox 10">
            <a:extLst>
              <a:ext uri="{FF2B5EF4-FFF2-40B4-BE49-F238E27FC236}">
                <a16:creationId xmlns:a16="http://schemas.microsoft.com/office/drawing/2014/main" id="{FBF09214-685E-8F85-1C42-2D109B3BB26D}"/>
              </a:ext>
            </a:extLst>
          </p:cNvPr>
          <p:cNvSpPr txBox="1"/>
          <p:nvPr/>
        </p:nvSpPr>
        <p:spPr>
          <a:xfrm>
            <a:off x="1371600" y="2768600"/>
            <a:ext cx="3175000" cy="300082"/>
          </a:xfrm>
          <a:prstGeom prst="rect">
            <a:avLst/>
          </a:prstGeom>
          <a:noFill/>
        </p:spPr>
        <p:txBody>
          <a:bodyPr vert="horz" wrap="square" lIns="0" tIns="0" rIns="0" bIns="0" rtlCol="0">
            <a:noAutofit/>
          </a:bodyPr>
          <a:lstStyle/>
          <a:p>
            <a:r>
              <a:rPr lang="en-IN" sz="1500" b="1">
                <a:solidFill>
                  <a:srgbClr val="2F170A"/>
                </a:solidFill>
                <a:latin typeface="Segoe UI" panose="020B0502040204020203" pitchFamily="34" charset="0"/>
              </a:rPr>
              <a:t>Automatic batching</a:t>
            </a:r>
          </a:p>
        </p:txBody>
      </p:sp>
      <p:sp>
        <p:nvSpPr>
          <p:cNvPr id="12" name="TextBox 11">
            <a:extLst>
              <a:ext uri="{FF2B5EF4-FFF2-40B4-BE49-F238E27FC236}">
                <a16:creationId xmlns:a16="http://schemas.microsoft.com/office/drawing/2014/main" id="{B7D32685-3F1F-7F11-20C6-E5F9EA52E387}"/>
              </a:ext>
            </a:extLst>
          </p:cNvPr>
          <p:cNvSpPr txBox="1"/>
          <p:nvPr/>
        </p:nvSpPr>
        <p:spPr>
          <a:xfrm>
            <a:off x="4724400" y="2794000"/>
            <a:ext cx="6731000" cy="300082"/>
          </a:xfrm>
          <a:prstGeom prst="rect">
            <a:avLst/>
          </a:prstGeom>
          <a:noFill/>
        </p:spPr>
        <p:txBody>
          <a:bodyPr vert="horz" wrap="square" lIns="0" tIns="0" rIns="0" bIns="0" rtlCol="0">
            <a:noAutofit/>
          </a:bodyPr>
          <a:lstStyle/>
          <a:p>
            <a:r>
              <a:rPr lang="en-US" sz="1200">
                <a:solidFill>
                  <a:srgbClr val="8B744B"/>
                </a:solidFill>
                <a:latin typeface="Segoe UI" panose="020B0502040204020203" pitchFamily="34" charset="0"/>
              </a:rPr>
              <a:t>Nearby stops group into runs without anyone sorting them</a:t>
            </a:r>
            <a:endParaRPr lang="en-IN" sz="1200">
              <a:solidFill>
                <a:srgbClr val="8B744B"/>
              </a:solidFill>
              <a:latin typeface="Segoe UI" panose="020B0502040204020203" pitchFamily="34" charset="0"/>
            </a:endParaRPr>
          </a:p>
        </p:txBody>
      </p:sp>
      <p:sp>
        <p:nvSpPr>
          <p:cNvPr id="13" name="Rectangle 12">
            <a:extLst>
              <a:ext uri="{FF2B5EF4-FFF2-40B4-BE49-F238E27FC236}">
                <a16:creationId xmlns:a16="http://schemas.microsoft.com/office/drawing/2014/main" id="{F2B7ACBE-FA20-1C2A-8C87-920E116522AA}"/>
              </a:ext>
            </a:extLst>
          </p:cNvPr>
          <p:cNvSpPr/>
          <p:nvPr/>
        </p:nvSpPr>
        <p:spPr>
          <a:xfrm>
            <a:off x="711200" y="3454400"/>
            <a:ext cx="10769600" cy="12700"/>
          </a:xfrm>
          <a:prstGeom prst="rect">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4" name="TextBox 13">
            <a:extLst>
              <a:ext uri="{FF2B5EF4-FFF2-40B4-BE49-F238E27FC236}">
                <a16:creationId xmlns:a16="http://schemas.microsoft.com/office/drawing/2014/main" id="{8843B558-394D-0274-CD13-C6CE8D702860}"/>
              </a:ext>
            </a:extLst>
          </p:cNvPr>
          <p:cNvSpPr txBox="1"/>
          <p:nvPr/>
        </p:nvSpPr>
        <p:spPr>
          <a:xfrm>
            <a:off x="711200" y="3708400"/>
            <a:ext cx="584200" cy="300082"/>
          </a:xfrm>
          <a:prstGeom prst="rect">
            <a:avLst/>
          </a:prstGeom>
          <a:noFill/>
        </p:spPr>
        <p:txBody>
          <a:bodyPr vert="horz" wrap="square" lIns="0" tIns="0" rIns="0" bIns="0" rtlCol="0">
            <a:noAutofit/>
          </a:bodyPr>
          <a:lstStyle/>
          <a:p>
            <a:r>
              <a:rPr lang="en-IN" sz="2000" b="1">
                <a:solidFill>
                  <a:srgbClr val="D9C6B8"/>
                </a:solidFill>
                <a:latin typeface="Segoe UI" panose="020B0502040204020203" pitchFamily="34" charset="0"/>
              </a:rPr>
              <a:t>03</a:t>
            </a:r>
          </a:p>
        </p:txBody>
      </p:sp>
      <p:sp>
        <p:nvSpPr>
          <p:cNvPr id="15" name="TextBox 14">
            <a:extLst>
              <a:ext uri="{FF2B5EF4-FFF2-40B4-BE49-F238E27FC236}">
                <a16:creationId xmlns:a16="http://schemas.microsoft.com/office/drawing/2014/main" id="{CEA92D03-D1F4-B480-9FE0-096F94861940}"/>
              </a:ext>
            </a:extLst>
          </p:cNvPr>
          <p:cNvSpPr txBox="1"/>
          <p:nvPr/>
        </p:nvSpPr>
        <p:spPr>
          <a:xfrm>
            <a:off x="1371600" y="3683000"/>
            <a:ext cx="3175000" cy="300082"/>
          </a:xfrm>
          <a:prstGeom prst="rect">
            <a:avLst/>
          </a:prstGeom>
          <a:noFill/>
        </p:spPr>
        <p:txBody>
          <a:bodyPr vert="horz" wrap="square" lIns="0" tIns="0" rIns="0" bIns="0" rtlCol="0">
            <a:noAutofit/>
          </a:bodyPr>
          <a:lstStyle/>
          <a:p>
            <a:r>
              <a:rPr lang="en-IN" sz="1500" b="1">
                <a:solidFill>
                  <a:srgbClr val="2F170A"/>
                </a:solidFill>
                <a:latin typeface="Segoe UI" panose="020B0502040204020203" pitchFamily="34" charset="0"/>
              </a:rPr>
              <a:t>Visible status</a:t>
            </a:r>
          </a:p>
        </p:txBody>
      </p:sp>
      <p:sp>
        <p:nvSpPr>
          <p:cNvPr id="16" name="TextBox 15">
            <a:extLst>
              <a:ext uri="{FF2B5EF4-FFF2-40B4-BE49-F238E27FC236}">
                <a16:creationId xmlns:a16="http://schemas.microsoft.com/office/drawing/2014/main" id="{D1F0D236-1AA4-B53D-B3E9-59F6383B90EF}"/>
              </a:ext>
            </a:extLst>
          </p:cNvPr>
          <p:cNvSpPr txBox="1"/>
          <p:nvPr/>
        </p:nvSpPr>
        <p:spPr>
          <a:xfrm>
            <a:off x="4724400" y="3708400"/>
            <a:ext cx="6731000" cy="300082"/>
          </a:xfrm>
          <a:prstGeom prst="rect">
            <a:avLst/>
          </a:prstGeom>
          <a:noFill/>
        </p:spPr>
        <p:txBody>
          <a:bodyPr vert="horz" wrap="square" lIns="0" tIns="0" rIns="0" bIns="0" rtlCol="0">
            <a:noAutofit/>
          </a:bodyPr>
          <a:lstStyle/>
          <a:p>
            <a:r>
              <a:rPr lang="en-US" sz="1200">
                <a:solidFill>
                  <a:srgbClr val="8B744B"/>
                </a:solidFill>
                <a:latin typeface="Segoe UI" panose="020B0502040204020203" pitchFamily="34" charset="0"/>
              </a:rPr>
              <a:t>Every parcel trackable by the customer, live</a:t>
            </a:r>
            <a:endParaRPr lang="en-IN" sz="1200">
              <a:solidFill>
                <a:srgbClr val="8B744B"/>
              </a:solidFill>
              <a:latin typeface="Segoe UI" panose="020B0502040204020203" pitchFamily="34" charset="0"/>
            </a:endParaRPr>
          </a:p>
        </p:txBody>
      </p:sp>
      <p:sp>
        <p:nvSpPr>
          <p:cNvPr id="17" name="Rectangle 16">
            <a:extLst>
              <a:ext uri="{FF2B5EF4-FFF2-40B4-BE49-F238E27FC236}">
                <a16:creationId xmlns:a16="http://schemas.microsoft.com/office/drawing/2014/main" id="{E33C6D10-9752-DF05-D92C-B149B98371E0}"/>
              </a:ext>
            </a:extLst>
          </p:cNvPr>
          <p:cNvSpPr/>
          <p:nvPr/>
        </p:nvSpPr>
        <p:spPr>
          <a:xfrm>
            <a:off x="711200" y="4368800"/>
            <a:ext cx="10769600" cy="12700"/>
          </a:xfrm>
          <a:prstGeom prst="rect">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8" name="TextBox 17">
            <a:extLst>
              <a:ext uri="{FF2B5EF4-FFF2-40B4-BE49-F238E27FC236}">
                <a16:creationId xmlns:a16="http://schemas.microsoft.com/office/drawing/2014/main" id="{DB33C062-FFFD-C2B4-DDEF-13DB5707C761}"/>
              </a:ext>
            </a:extLst>
          </p:cNvPr>
          <p:cNvSpPr txBox="1"/>
          <p:nvPr/>
        </p:nvSpPr>
        <p:spPr>
          <a:xfrm>
            <a:off x="711200" y="4622800"/>
            <a:ext cx="584200" cy="300082"/>
          </a:xfrm>
          <a:prstGeom prst="rect">
            <a:avLst/>
          </a:prstGeom>
          <a:noFill/>
        </p:spPr>
        <p:txBody>
          <a:bodyPr vert="horz" wrap="square" lIns="0" tIns="0" rIns="0" bIns="0" rtlCol="0">
            <a:noAutofit/>
          </a:bodyPr>
          <a:lstStyle/>
          <a:p>
            <a:r>
              <a:rPr lang="en-IN" sz="2000" b="1">
                <a:solidFill>
                  <a:srgbClr val="D9C6B8"/>
                </a:solidFill>
                <a:latin typeface="Segoe UI" panose="020B0502040204020203" pitchFamily="34" charset="0"/>
              </a:rPr>
              <a:t>04</a:t>
            </a:r>
          </a:p>
        </p:txBody>
      </p:sp>
      <p:sp>
        <p:nvSpPr>
          <p:cNvPr id="19" name="TextBox 18">
            <a:extLst>
              <a:ext uri="{FF2B5EF4-FFF2-40B4-BE49-F238E27FC236}">
                <a16:creationId xmlns:a16="http://schemas.microsoft.com/office/drawing/2014/main" id="{7E5CBF25-E753-40C9-B669-A8DA6E937A31}"/>
              </a:ext>
            </a:extLst>
          </p:cNvPr>
          <p:cNvSpPr txBox="1"/>
          <p:nvPr/>
        </p:nvSpPr>
        <p:spPr>
          <a:xfrm>
            <a:off x="1371600" y="4597400"/>
            <a:ext cx="3175000" cy="300082"/>
          </a:xfrm>
          <a:prstGeom prst="rect">
            <a:avLst/>
          </a:prstGeom>
          <a:noFill/>
        </p:spPr>
        <p:txBody>
          <a:bodyPr vert="horz" wrap="square" lIns="0" tIns="0" rIns="0" bIns="0" rtlCol="0">
            <a:noAutofit/>
          </a:bodyPr>
          <a:lstStyle/>
          <a:p>
            <a:r>
              <a:rPr lang="en-IN" sz="1500" b="1">
                <a:solidFill>
                  <a:srgbClr val="2F170A"/>
                </a:solidFill>
                <a:latin typeface="Segoe UI" panose="020B0502040204020203" pitchFamily="34" charset="0"/>
              </a:rPr>
              <a:t>Honest money</a:t>
            </a:r>
          </a:p>
        </p:txBody>
      </p:sp>
      <p:sp>
        <p:nvSpPr>
          <p:cNvPr id="20" name="TextBox 19">
            <a:extLst>
              <a:ext uri="{FF2B5EF4-FFF2-40B4-BE49-F238E27FC236}">
                <a16:creationId xmlns:a16="http://schemas.microsoft.com/office/drawing/2014/main" id="{0063503B-1866-2BD4-8B78-07234C8904FB}"/>
              </a:ext>
            </a:extLst>
          </p:cNvPr>
          <p:cNvSpPr txBox="1"/>
          <p:nvPr/>
        </p:nvSpPr>
        <p:spPr>
          <a:xfrm>
            <a:off x="4724400" y="4622800"/>
            <a:ext cx="6731000" cy="300082"/>
          </a:xfrm>
          <a:prstGeom prst="rect">
            <a:avLst/>
          </a:prstGeom>
          <a:noFill/>
        </p:spPr>
        <p:txBody>
          <a:bodyPr vert="horz" wrap="square" lIns="0" tIns="0" rIns="0" bIns="0" rtlCol="0">
            <a:noAutofit/>
          </a:bodyPr>
          <a:lstStyle/>
          <a:p>
            <a:r>
              <a:rPr lang="en-US" sz="1200">
                <a:solidFill>
                  <a:srgbClr val="8B744B"/>
                </a:solidFill>
                <a:latin typeface="Segoe UI" panose="020B0502040204020203" pitchFamily="34" charset="0"/>
              </a:rPr>
              <a:t>Price and driver pay both derived from weight, handling and distance</a:t>
            </a:r>
            <a:endParaRPr lang="en-IN" sz="1200">
              <a:solidFill>
                <a:srgbClr val="8B744B"/>
              </a:solidFill>
              <a:latin typeface="Segoe UI" panose="020B0502040204020203" pitchFamily="34" charset="0"/>
            </a:endParaRPr>
          </a:p>
        </p:txBody>
      </p:sp>
      <p:sp>
        <p:nvSpPr>
          <p:cNvPr id="21" name="Rectangle 20">
            <a:extLst>
              <a:ext uri="{FF2B5EF4-FFF2-40B4-BE49-F238E27FC236}">
                <a16:creationId xmlns:a16="http://schemas.microsoft.com/office/drawing/2014/main" id="{6A49E8AF-FB3F-2C1A-5BA1-882D2BA979B6}"/>
              </a:ext>
            </a:extLst>
          </p:cNvPr>
          <p:cNvSpPr/>
          <p:nvPr/>
        </p:nvSpPr>
        <p:spPr>
          <a:xfrm>
            <a:off x="711200" y="5283200"/>
            <a:ext cx="10769600" cy="12700"/>
          </a:xfrm>
          <a:prstGeom prst="rect">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2" name="TextBox 21">
            <a:extLst>
              <a:ext uri="{FF2B5EF4-FFF2-40B4-BE49-F238E27FC236}">
                <a16:creationId xmlns:a16="http://schemas.microsoft.com/office/drawing/2014/main" id="{8490EFB6-6963-6572-5939-8DC0E0D80D9C}"/>
              </a:ext>
            </a:extLst>
          </p:cNvPr>
          <p:cNvSpPr txBox="1"/>
          <p:nvPr/>
        </p:nvSpPr>
        <p:spPr>
          <a:xfrm>
            <a:off x="711200" y="5537200"/>
            <a:ext cx="584200" cy="300082"/>
          </a:xfrm>
          <a:prstGeom prst="rect">
            <a:avLst/>
          </a:prstGeom>
          <a:noFill/>
        </p:spPr>
        <p:txBody>
          <a:bodyPr vert="horz" wrap="square" lIns="0" tIns="0" rIns="0" bIns="0" rtlCol="0">
            <a:noAutofit/>
          </a:bodyPr>
          <a:lstStyle/>
          <a:p>
            <a:r>
              <a:rPr lang="en-IN" sz="2000" b="1">
                <a:solidFill>
                  <a:srgbClr val="D9C6B8"/>
                </a:solidFill>
                <a:latin typeface="Segoe UI" panose="020B0502040204020203" pitchFamily="34" charset="0"/>
              </a:rPr>
              <a:t>05</a:t>
            </a:r>
          </a:p>
        </p:txBody>
      </p:sp>
      <p:sp>
        <p:nvSpPr>
          <p:cNvPr id="23" name="TextBox 22">
            <a:extLst>
              <a:ext uri="{FF2B5EF4-FFF2-40B4-BE49-F238E27FC236}">
                <a16:creationId xmlns:a16="http://schemas.microsoft.com/office/drawing/2014/main" id="{6325374B-426D-DCD5-FB46-2B30E557027C}"/>
              </a:ext>
            </a:extLst>
          </p:cNvPr>
          <p:cNvSpPr txBox="1"/>
          <p:nvPr/>
        </p:nvSpPr>
        <p:spPr>
          <a:xfrm>
            <a:off x="1371600" y="5511800"/>
            <a:ext cx="3175000" cy="300082"/>
          </a:xfrm>
          <a:prstGeom prst="rect">
            <a:avLst/>
          </a:prstGeom>
          <a:noFill/>
        </p:spPr>
        <p:txBody>
          <a:bodyPr vert="horz" wrap="square" lIns="0" tIns="0" rIns="0" bIns="0" rtlCol="0">
            <a:noAutofit/>
          </a:bodyPr>
          <a:lstStyle/>
          <a:p>
            <a:r>
              <a:rPr lang="en-IN" sz="1500" b="1">
                <a:solidFill>
                  <a:srgbClr val="2F170A"/>
                </a:solidFill>
                <a:latin typeface="Segoe UI" panose="020B0502040204020203" pitchFamily="34" charset="0"/>
              </a:rPr>
              <a:t>Measured, not guessed</a:t>
            </a:r>
          </a:p>
        </p:txBody>
      </p:sp>
      <p:sp>
        <p:nvSpPr>
          <p:cNvPr id="24" name="TextBox 23">
            <a:extLst>
              <a:ext uri="{FF2B5EF4-FFF2-40B4-BE49-F238E27FC236}">
                <a16:creationId xmlns:a16="http://schemas.microsoft.com/office/drawing/2014/main" id="{1ECA9BD2-5B9A-1D2B-2585-A7B4F71F6B92}"/>
              </a:ext>
            </a:extLst>
          </p:cNvPr>
          <p:cNvSpPr txBox="1"/>
          <p:nvPr/>
        </p:nvSpPr>
        <p:spPr>
          <a:xfrm>
            <a:off x="4724400" y="5537200"/>
            <a:ext cx="6731000" cy="300082"/>
          </a:xfrm>
          <a:prstGeom prst="rect">
            <a:avLst/>
          </a:prstGeom>
          <a:noFill/>
        </p:spPr>
        <p:txBody>
          <a:bodyPr vert="horz" wrap="square" lIns="0" tIns="0" rIns="0" bIns="0" rtlCol="0">
            <a:noAutofit/>
          </a:bodyPr>
          <a:lstStyle/>
          <a:p>
            <a:r>
              <a:rPr lang="en-US" sz="1200">
                <a:solidFill>
                  <a:srgbClr val="8B744B"/>
                </a:solidFill>
                <a:latin typeface="Segoe UI" panose="020B0502040204020203" pitchFamily="34" charset="0"/>
              </a:rPr>
              <a:t>Analytics over real events, not a spreadsheet</a:t>
            </a:r>
            <a:endParaRPr lang="en-IN" sz="1200">
              <a:solidFill>
                <a:srgbClr val="8B744B"/>
              </a:solidFill>
              <a:latin typeface="Segoe UI" panose="020B0502040204020203" pitchFamily="34" charset="0"/>
            </a:endParaRPr>
          </a:p>
        </p:txBody>
      </p:sp>
      <p:sp>
        <p:nvSpPr>
          <p:cNvPr id="25" name="TextBox 24">
            <a:extLst>
              <a:ext uri="{FF2B5EF4-FFF2-40B4-BE49-F238E27FC236}">
                <a16:creationId xmlns:a16="http://schemas.microsoft.com/office/drawing/2014/main" id="{E7ECF8DC-A368-A5EE-9FC2-F1FAC4B04055}"/>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26" name="TextBox 25">
            <a:extLst>
              <a:ext uri="{FF2B5EF4-FFF2-40B4-BE49-F238E27FC236}">
                <a16:creationId xmlns:a16="http://schemas.microsoft.com/office/drawing/2014/main" id="{343693D1-E11D-BD1A-6D29-0F680AE36545}"/>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3</a:t>
            </a:r>
          </a:p>
        </p:txBody>
      </p:sp>
    </p:spTree>
    <p:extLst>
      <p:ext uri="{BB962C8B-B14F-4D97-AF65-F5344CB8AC3E}">
        <p14:creationId xmlns:p14="http://schemas.microsoft.com/office/powerpoint/2010/main" val="983372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723EEA-43B3-D5D7-7C7E-5815EE8E0FD2}"/>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EB1E4ED3-4639-A87D-2C02-5A7D75569661}"/>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PROJECT OVERVIEW</a:t>
            </a:r>
          </a:p>
        </p:txBody>
      </p:sp>
      <p:sp>
        <p:nvSpPr>
          <p:cNvPr id="4" name="TextBox 3">
            <a:extLst>
              <a:ext uri="{FF2B5EF4-FFF2-40B4-BE49-F238E27FC236}">
                <a16:creationId xmlns:a16="http://schemas.microsoft.com/office/drawing/2014/main" id="{235BE5F7-2399-9E4B-04AB-35B8B1AB4DCB}"/>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A delivery marketplace, not a tracking viewer</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4D0D1EA2-27CA-5133-B10C-4F2A9ABF0AF8}"/>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E117F7CF-D43E-87EB-831C-FF9E700C38FA}"/>
              </a:ext>
            </a:extLst>
          </p:cNvPr>
          <p:cNvSpPr txBox="1"/>
          <p:nvPr/>
        </p:nvSpPr>
        <p:spPr>
          <a:xfrm>
            <a:off x="711200" y="1879600"/>
            <a:ext cx="5080000" cy="1800493"/>
          </a:xfrm>
          <a:prstGeom prst="rect">
            <a:avLst/>
          </a:prstGeom>
          <a:noFill/>
        </p:spPr>
        <p:txBody>
          <a:bodyPr vert="horz" wrap="square" lIns="0" tIns="0" rIns="0" bIns="0" rtlCol="0">
            <a:spAutoFit/>
          </a:bodyPr>
          <a:lstStyle/>
          <a:p>
            <a:r>
              <a:rPr lang="en-US" sz="1300">
                <a:solidFill>
                  <a:srgbClr val="2F170A"/>
                </a:solidFill>
                <a:latin typeface="Segoe UI" panose="020B0502040204020203" pitchFamily="34" charset="0"/>
              </a:rPr>
              <a:t>•  Four roles, one workflow: customer, fleet manager, driver, port admin</a:t>
            </a:r>
          </a:p>
          <a:p>
            <a:endParaRPr lang="en-IN" sz="1300">
              <a:solidFill>
                <a:srgbClr val="2F170A"/>
              </a:solidFill>
              <a:latin typeface="Segoe UI" panose="020B0502040204020203" pitchFamily="34" charset="0"/>
            </a:endParaRPr>
          </a:p>
          <a:p>
            <a:r>
              <a:rPr lang="en-US" sz="1300">
                <a:solidFill>
                  <a:srgbClr val="2F170A"/>
                </a:solidFill>
                <a:latin typeface="Segoe UI" panose="020B0502040204020203" pitchFamily="34" charset="0"/>
              </a:rPr>
              <a:t>•  A request is a priced, paid parcel with a tracking code</a:t>
            </a:r>
          </a:p>
          <a:p>
            <a:endParaRPr lang="en-IN" sz="1300">
              <a:solidFill>
                <a:srgbClr val="2F170A"/>
              </a:solidFill>
              <a:latin typeface="Segoe UI" panose="020B0502040204020203" pitchFamily="34" charset="0"/>
            </a:endParaRPr>
          </a:p>
          <a:p>
            <a:r>
              <a:rPr lang="en-US" sz="1300">
                <a:solidFill>
                  <a:srgbClr val="2F170A"/>
                </a:solidFill>
                <a:latin typeface="Segoe UI" panose="020B0502040204020203" pitchFamily="34" charset="0"/>
              </a:rPr>
              <a:t>•  Nearby paid requests become a batch with a driver payout</a:t>
            </a:r>
          </a:p>
          <a:p>
            <a:endParaRPr lang="en-IN" sz="1300">
              <a:solidFill>
                <a:srgbClr val="2F170A"/>
              </a:solidFill>
              <a:latin typeface="Segoe UI" panose="020B0502040204020203" pitchFamily="34" charset="0"/>
            </a:endParaRPr>
          </a:p>
          <a:p>
            <a:r>
              <a:rPr lang="en-US" sz="1300">
                <a:solidFill>
                  <a:srgbClr val="2F170A"/>
                </a:solidFill>
                <a:latin typeface="Segoe UI" panose="020B0502040204020203" pitchFamily="34" charset="0"/>
              </a:rPr>
              <a:t>•  A driver claims it, the route is optimised, stops are worked in order</a:t>
            </a:r>
          </a:p>
          <a:p>
            <a:endParaRPr lang="en-IN" sz="1300">
              <a:solidFill>
                <a:srgbClr val="2F170A"/>
              </a:solidFill>
              <a:latin typeface="Segoe UI" panose="020B0502040204020203" pitchFamily="34" charset="0"/>
            </a:endParaRPr>
          </a:p>
        </p:txBody>
      </p:sp>
      <p:sp>
        <p:nvSpPr>
          <p:cNvPr id="7" name="TextBox 6">
            <a:extLst>
              <a:ext uri="{FF2B5EF4-FFF2-40B4-BE49-F238E27FC236}">
                <a16:creationId xmlns:a16="http://schemas.microsoft.com/office/drawing/2014/main" id="{F50E883B-F943-E5EE-B884-40D52AF9757C}"/>
              </a:ext>
            </a:extLst>
          </p:cNvPr>
          <p:cNvSpPr txBox="1"/>
          <p:nvPr/>
        </p:nvSpPr>
        <p:spPr>
          <a:xfrm>
            <a:off x="6350000" y="1879600"/>
            <a:ext cx="51308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TECH STACK</a:t>
            </a:r>
          </a:p>
        </p:txBody>
      </p:sp>
      <p:sp>
        <p:nvSpPr>
          <p:cNvPr id="8" name="Rectangle: Rounded Corners 7">
            <a:extLst>
              <a:ext uri="{FF2B5EF4-FFF2-40B4-BE49-F238E27FC236}">
                <a16:creationId xmlns:a16="http://schemas.microsoft.com/office/drawing/2014/main" id="{8E145C1B-2911-8159-6959-DC3E1DEE7ED2}"/>
              </a:ext>
            </a:extLst>
          </p:cNvPr>
          <p:cNvSpPr/>
          <p:nvPr/>
        </p:nvSpPr>
        <p:spPr>
          <a:xfrm>
            <a:off x="6350000" y="2235200"/>
            <a:ext cx="5130800" cy="558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79CE8358-C768-ACB3-B9E8-A3810208BCA5}"/>
              </a:ext>
            </a:extLst>
          </p:cNvPr>
          <p:cNvSpPr txBox="1"/>
          <p:nvPr/>
        </p:nvSpPr>
        <p:spPr>
          <a:xfrm>
            <a:off x="6553200" y="2311400"/>
            <a:ext cx="1397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Frontend</a:t>
            </a:r>
          </a:p>
        </p:txBody>
      </p:sp>
      <p:sp>
        <p:nvSpPr>
          <p:cNvPr id="10" name="TextBox 9">
            <a:extLst>
              <a:ext uri="{FF2B5EF4-FFF2-40B4-BE49-F238E27FC236}">
                <a16:creationId xmlns:a16="http://schemas.microsoft.com/office/drawing/2014/main" id="{DCA80E45-2D27-9889-30BE-98A0EA7CA5C2}"/>
              </a:ext>
            </a:extLst>
          </p:cNvPr>
          <p:cNvSpPr txBox="1"/>
          <p:nvPr/>
        </p:nvSpPr>
        <p:spPr>
          <a:xfrm>
            <a:off x="6553200" y="2514600"/>
            <a:ext cx="47244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React 19 - TypeScript - Vite - Tailwind - Leaflet</a:t>
            </a:r>
            <a:endParaRPr lang="en-IN" sz="1000">
              <a:solidFill>
                <a:srgbClr val="2F170A"/>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7409C959-C862-A5C7-547B-B9E751161C51}"/>
              </a:ext>
            </a:extLst>
          </p:cNvPr>
          <p:cNvSpPr/>
          <p:nvPr/>
        </p:nvSpPr>
        <p:spPr>
          <a:xfrm>
            <a:off x="6350000" y="2895600"/>
            <a:ext cx="5130800" cy="558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2" name="TextBox 11">
            <a:extLst>
              <a:ext uri="{FF2B5EF4-FFF2-40B4-BE49-F238E27FC236}">
                <a16:creationId xmlns:a16="http://schemas.microsoft.com/office/drawing/2014/main" id="{E6D8B804-46C3-91BE-993C-E82390D9608C}"/>
              </a:ext>
            </a:extLst>
          </p:cNvPr>
          <p:cNvSpPr txBox="1"/>
          <p:nvPr/>
        </p:nvSpPr>
        <p:spPr>
          <a:xfrm>
            <a:off x="6553200" y="2971800"/>
            <a:ext cx="1397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Backend</a:t>
            </a:r>
          </a:p>
        </p:txBody>
      </p:sp>
      <p:sp>
        <p:nvSpPr>
          <p:cNvPr id="13" name="TextBox 12">
            <a:extLst>
              <a:ext uri="{FF2B5EF4-FFF2-40B4-BE49-F238E27FC236}">
                <a16:creationId xmlns:a16="http://schemas.microsoft.com/office/drawing/2014/main" id="{8C34F791-AE8B-0D41-6150-3516D72A4102}"/>
              </a:ext>
            </a:extLst>
          </p:cNvPr>
          <p:cNvSpPr txBox="1"/>
          <p:nvPr/>
        </p:nvSpPr>
        <p:spPr>
          <a:xfrm>
            <a:off x="6553200" y="3175000"/>
            <a:ext cx="4724400" cy="300082"/>
          </a:xfrm>
          <a:prstGeom prst="rect">
            <a:avLst/>
          </a:prstGeom>
          <a:noFill/>
        </p:spPr>
        <p:txBody>
          <a:bodyPr vert="horz" wrap="square" lIns="0" tIns="0" rIns="0" bIns="0" rtlCol="0">
            <a:noAutofit/>
          </a:bodyPr>
          <a:lstStyle/>
          <a:p>
            <a:r>
              <a:rPr lang="en-IN" sz="1000">
                <a:solidFill>
                  <a:srgbClr val="2F170A"/>
                </a:solidFill>
                <a:latin typeface="Segoe UI" panose="020B0502040204020203" pitchFamily="34" charset="0"/>
              </a:rPr>
              <a:t>FastAPI - SQLAlchemy 2.0 - Alembic - Pydantic</a:t>
            </a:r>
          </a:p>
        </p:txBody>
      </p:sp>
      <p:sp>
        <p:nvSpPr>
          <p:cNvPr id="14" name="Rectangle: Rounded Corners 13">
            <a:extLst>
              <a:ext uri="{FF2B5EF4-FFF2-40B4-BE49-F238E27FC236}">
                <a16:creationId xmlns:a16="http://schemas.microsoft.com/office/drawing/2014/main" id="{6311153C-54C4-E2C3-46E0-E1F313D687C6}"/>
              </a:ext>
            </a:extLst>
          </p:cNvPr>
          <p:cNvSpPr/>
          <p:nvPr/>
        </p:nvSpPr>
        <p:spPr>
          <a:xfrm>
            <a:off x="6350000" y="3556000"/>
            <a:ext cx="5130800" cy="558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5" name="TextBox 14">
            <a:extLst>
              <a:ext uri="{FF2B5EF4-FFF2-40B4-BE49-F238E27FC236}">
                <a16:creationId xmlns:a16="http://schemas.microsoft.com/office/drawing/2014/main" id="{E443C373-77D1-F24F-8BC8-4B330A2CA30C}"/>
              </a:ext>
            </a:extLst>
          </p:cNvPr>
          <p:cNvSpPr txBox="1"/>
          <p:nvPr/>
        </p:nvSpPr>
        <p:spPr>
          <a:xfrm>
            <a:off x="6553200" y="3632200"/>
            <a:ext cx="1397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Database</a:t>
            </a:r>
          </a:p>
        </p:txBody>
      </p:sp>
      <p:sp>
        <p:nvSpPr>
          <p:cNvPr id="16" name="TextBox 15">
            <a:extLst>
              <a:ext uri="{FF2B5EF4-FFF2-40B4-BE49-F238E27FC236}">
                <a16:creationId xmlns:a16="http://schemas.microsoft.com/office/drawing/2014/main" id="{EC39F05A-C93B-FF75-9563-58C2410D47FF}"/>
              </a:ext>
            </a:extLst>
          </p:cNvPr>
          <p:cNvSpPr txBox="1"/>
          <p:nvPr/>
        </p:nvSpPr>
        <p:spPr>
          <a:xfrm>
            <a:off x="6553200" y="3835400"/>
            <a:ext cx="4724400" cy="300082"/>
          </a:xfrm>
          <a:prstGeom prst="rect">
            <a:avLst/>
          </a:prstGeom>
          <a:noFill/>
        </p:spPr>
        <p:txBody>
          <a:bodyPr vert="horz" wrap="square" lIns="0" tIns="0" rIns="0" bIns="0" rtlCol="0">
            <a:noAutofit/>
          </a:bodyPr>
          <a:lstStyle/>
          <a:p>
            <a:r>
              <a:rPr lang="fr-FR" sz="1000">
                <a:solidFill>
                  <a:srgbClr val="2F170A"/>
                </a:solidFill>
                <a:latin typeface="Segoe UI" panose="020B0502040204020203" pitchFamily="34" charset="0"/>
              </a:rPr>
              <a:t>SQLite (dev) - PostgreSQL (production) - 9 tables</a:t>
            </a:r>
            <a:endParaRPr lang="en-IN" sz="1000">
              <a:solidFill>
                <a:srgbClr val="2F170A"/>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1D739CFE-ED8E-B3DA-660D-27BB453D5506}"/>
              </a:ext>
            </a:extLst>
          </p:cNvPr>
          <p:cNvSpPr/>
          <p:nvPr/>
        </p:nvSpPr>
        <p:spPr>
          <a:xfrm>
            <a:off x="6350000" y="4216400"/>
            <a:ext cx="5130800" cy="558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8" name="TextBox 17">
            <a:extLst>
              <a:ext uri="{FF2B5EF4-FFF2-40B4-BE49-F238E27FC236}">
                <a16:creationId xmlns:a16="http://schemas.microsoft.com/office/drawing/2014/main" id="{A390032F-DB06-81AF-8B8F-F64EDD051080}"/>
              </a:ext>
            </a:extLst>
          </p:cNvPr>
          <p:cNvSpPr txBox="1"/>
          <p:nvPr/>
        </p:nvSpPr>
        <p:spPr>
          <a:xfrm>
            <a:off x="6553200" y="4292600"/>
            <a:ext cx="1397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Realtime</a:t>
            </a:r>
          </a:p>
        </p:txBody>
      </p:sp>
      <p:sp>
        <p:nvSpPr>
          <p:cNvPr id="19" name="TextBox 18">
            <a:extLst>
              <a:ext uri="{FF2B5EF4-FFF2-40B4-BE49-F238E27FC236}">
                <a16:creationId xmlns:a16="http://schemas.microsoft.com/office/drawing/2014/main" id="{DCF178DA-EC15-B2B7-9E1A-19622941FB8E}"/>
              </a:ext>
            </a:extLst>
          </p:cNvPr>
          <p:cNvSpPr txBox="1"/>
          <p:nvPr/>
        </p:nvSpPr>
        <p:spPr>
          <a:xfrm>
            <a:off x="6553200" y="4495800"/>
            <a:ext cx="47244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WebSocket hub, targeted per role and per batch</a:t>
            </a:r>
            <a:endParaRPr lang="en-IN" sz="1000">
              <a:solidFill>
                <a:srgbClr val="2F170A"/>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36FF428C-6191-502A-D547-F30814ED20B2}"/>
              </a:ext>
            </a:extLst>
          </p:cNvPr>
          <p:cNvSpPr/>
          <p:nvPr/>
        </p:nvSpPr>
        <p:spPr>
          <a:xfrm>
            <a:off x="6350000" y="4876800"/>
            <a:ext cx="5130800" cy="558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1" name="TextBox 20">
            <a:extLst>
              <a:ext uri="{FF2B5EF4-FFF2-40B4-BE49-F238E27FC236}">
                <a16:creationId xmlns:a16="http://schemas.microsoft.com/office/drawing/2014/main" id="{A66B1A14-17B5-4E49-77E8-E4E6442C3112}"/>
              </a:ext>
            </a:extLst>
          </p:cNvPr>
          <p:cNvSpPr txBox="1"/>
          <p:nvPr/>
        </p:nvSpPr>
        <p:spPr>
          <a:xfrm>
            <a:off x="6553200" y="4953000"/>
            <a:ext cx="1397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Auth</a:t>
            </a:r>
          </a:p>
        </p:txBody>
      </p:sp>
      <p:sp>
        <p:nvSpPr>
          <p:cNvPr id="22" name="TextBox 21">
            <a:extLst>
              <a:ext uri="{FF2B5EF4-FFF2-40B4-BE49-F238E27FC236}">
                <a16:creationId xmlns:a16="http://schemas.microsoft.com/office/drawing/2014/main" id="{D63AA558-04EE-0FB7-8635-C6261EC67F37}"/>
              </a:ext>
            </a:extLst>
          </p:cNvPr>
          <p:cNvSpPr txBox="1"/>
          <p:nvPr/>
        </p:nvSpPr>
        <p:spPr>
          <a:xfrm>
            <a:off x="6553200" y="5156200"/>
            <a:ext cx="47244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JWT, role-scoped dependencies, bcrypt hashing</a:t>
            </a:r>
            <a:endParaRPr lang="en-IN" sz="1000">
              <a:solidFill>
                <a:srgbClr val="2F170A"/>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82744283-9C9F-07F4-6C15-C391937DF590}"/>
              </a:ext>
            </a:extLst>
          </p:cNvPr>
          <p:cNvSpPr/>
          <p:nvPr/>
        </p:nvSpPr>
        <p:spPr>
          <a:xfrm>
            <a:off x="6350000" y="5537200"/>
            <a:ext cx="5130800" cy="558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4" name="TextBox 23">
            <a:extLst>
              <a:ext uri="{FF2B5EF4-FFF2-40B4-BE49-F238E27FC236}">
                <a16:creationId xmlns:a16="http://schemas.microsoft.com/office/drawing/2014/main" id="{363D4D6C-03A2-5799-ABCE-C10A1214C839}"/>
              </a:ext>
            </a:extLst>
          </p:cNvPr>
          <p:cNvSpPr txBox="1"/>
          <p:nvPr/>
        </p:nvSpPr>
        <p:spPr>
          <a:xfrm>
            <a:off x="6553200" y="5613400"/>
            <a:ext cx="1397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Payments</a:t>
            </a:r>
          </a:p>
        </p:txBody>
      </p:sp>
      <p:sp>
        <p:nvSpPr>
          <p:cNvPr id="25" name="TextBox 24">
            <a:extLst>
              <a:ext uri="{FF2B5EF4-FFF2-40B4-BE49-F238E27FC236}">
                <a16:creationId xmlns:a16="http://schemas.microsoft.com/office/drawing/2014/main" id="{D0740BF0-7847-CBDA-D782-5E79AB1B3681}"/>
              </a:ext>
            </a:extLst>
          </p:cNvPr>
          <p:cNvSpPr txBox="1"/>
          <p:nvPr/>
        </p:nvSpPr>
        <p:spPr>
          <a:xfrm>
            <a:off x="6553200" y="5816600"/>
            <a:ext cx="4724400" cy="300082"/>
          </a:xfrm>
          <a:prstGeom prst="rect">
            <a:avLst/>
          </a:prstGeom>
          <a:noFill/>
        </p:spPr>
        <p:txBody>
          <a:bodyPr vert="horz" wrap="square" lIns="0" tIns="0" rIns="0" bIns="0" rtlCol="0">
            <a:noAutofit/>
          </a:bodyPr>
          <a:lstStyle/>
          <a:p>
            <a:r>
              <a:rPr lang="en-IN" sz="1000">
                <a:solidFill>
                  <a:srgbClr val="2F170A"/>
                </a:solidFill>
                <a:latin typeface="Segoe UI" panose="020B0502040204020203" pitchFamily="34" charset="0"/>
              </a:rPr>
              <a:t>Razorpay, server-verified (pay-at-depot fallback)</a:t>
            </a:r>
          </a:p>
        </p:txBody>
      </p:sp>
      <p:sp>
        <p:nvSpPr>
          <p:cNvPr id="26" name="TextBox 25">
            <a:extLst>
              <a:ext uri="{FF2B5EF4-FFF2-40B4-BE49-F238E27FC236}">
                <a16:creationId xmlns:a16="http://schemas.microsoft.com/office/drawing/2014/main" id="{4A13450D-58EF-6C86-439C-031983048029}"/>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27" name="TextBox 26">
            <a:extLst>
              <a:ext uri="{FF2B5EF4-FFF2-40B4-BE49-F238E27FC236}">
                <a16:creationId xmlns:a16="http://schemas.microsoft.com/office/drawing/2014/main" id="{86FAC62C-55FC-2DDB-8859-851C729A7E35}"/>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4</a:t>
            </a:r>
          </a:p>
        </p:txBody>
      </p:sp>
    </p:spTree>
    <p:extLst>
      <p:ext uri="{BB962C8B-B14F-4D97-AF65-F5344CB8AC3E}">
        <p14:creationId xmlns:p14="http://schemas.microsoft.com/office/powerpoint/2010/main" val="3510378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59A39D-9E86-F194-9153-19C2EA675E90}"/>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4EF7C14E-4430-6EC6-1AF5-9C8C7A57B2A8}"/>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SYSTEM ARCHITECTURE</a:t>
            </a:r>
          </a:p>
        </p:txBody>
      </p:sp>
      <p:sp>
        <p:nvSpPr>
          <p:cNvPr id="4" name="TextBox 3">
            <a:extLst>
              <a:ext uri="{FF2B5EF4-FFF2-40B4-BE49-F238E27FC236}">
                <a16:creationId xmlns:a16="http://schemas.microsoft.com/office/drawing/2014/main" id="{10E8C8B8-2ED1-DB19-9AEF-29939562EA97}"/>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Four layers, one direction of truth</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E39B9767-BA02-8E24-2B66-874F25F50EED}"/>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AA4D2DC6-CFB9-FCDF-56E9-5BBA0ADF27FC}"/>
              </a:ext>
            </a:extLst>
          </p:cNvPr>
          <p:cNvSpPr txBox="1"/>
          <p:nvPr/>
        </p:nvSpPr>
        <p:spPr>
          <a:xfrm>
            <a:off x="711200" y="1752600"/>
            <a:ext cx="3175000" cy="300082"/>
          </a:xfrm>
          <a:prstGeom prst="rect">
            <a:avLst/>
          </a:prstGeom>
          <a:noFill/>
        </p:spPr>
        <p:txBody>
          <a:bodyPr vert="horz" wrap="square" lIns="0" tIns="0" rIns="0" bIns="0" rtlCol="0">
            <a:noAutofit/>
          </a:bodyPr>
          <a:lstStyle/>
          <a:p>
            <a:r>
              <a:rPr lang="en-IN" sz="900" b="1">
                <a:solidFill>
                  <a:srgbClr val="8B744B"/>
                </a:solidFill>
                <a:latin typeface="Segoe UI" panose="020B0502040204020203" pitchFamily="34" charset="0"/>
              </a:rPr>
              <a:t>CLIENT</a:t>
            </a:r>
          </a:p>
        </p:txBody>
      </p:sp>
      <p:sp>
        <p:nvSpPr>
          <p:cNvPr id="7" name="TextBox 6">
            <a:extLst>
              <a:ext uri="{FF2B5EF4-FFF2-40B4-BE49-F238E27FC236}">
                <a16:creationId xmlns:a16="http://schemas.microsoft.com/office/drawing/2014/main" id="{54CE5342-50A9-5E7D-EF88-42284C41153A}"/>
              </a:ext>
            </a:extLst>
          </p:cNvPr>
          <p:cNvSpPr txBox="1"/>
          <p:nvPr/>
        </p:nvSpPr>
        <p:spPr>
          <a:xfrm>
            <a:off x="4762500" y="1752600"/>
            <a:ext cx="3175000" cy="300082"/>
          </a:xfrm>
          <a:prstGeom prst="rect">
            <a:avLst/>
          </a:prstGeom>
          <a:noFill/>
        </p:spPr>
        <p:txBody>
          <a:bodyPr vert="horz" wrap="square" lIns="0" tIns="0" rIns="0" bIns="0" rtlCol="0">
            <a:noAutofit/>
          </a:bodyPr>
          <a:lstStyle/>
          <a:p>
            <a:r>
              <a:rPr lang="en-IN" sz="900" b="1">
                <a:solidFill>
                  <a:srgbClr val="8B744B"/>
                </a:solidFill>
                <a:latin typeface="Segoe UI" panose="020B0502040204020203" pitchFamily="34" charset="0"/>
              </a:rPr>
              <a:t>APPLICATION</a:t>
            </a:r>
          </a:p>
        </p:txBody>
      </p:sp>
      <p:sp>
        <p:nvSpPr>
          <p:cNvPr id="8" name="TextBox 7">
            <a:extLst>
              <a:ext uri="{FF2B5EF4-FFF2-40B4-BE49-F238E27FC236}">
                <a16:creationId xmlns:a16="http://schemas.microsoft.com/office/drawing/2014/main" id="{A40AB3A4-A600-F0EE-74A5-060C6BD4F01F}"/>
              </a:ext>
            </a:extLst>
          </p:cNvPr>
          <p:cNvSpPr txBox="1"/>
          <p:nvPr/>
        </p:nvSpPr>
        <p:spPr>
          <a:xfrm>
            <a:off x="8813800" y="1752600"/>
            <a:ext cx="3175000" cy="300082"/>
          </a:xfrm>
          <a:prstGeom prst="rect">
            <a:avLst/>
          </a:prstGeom>
          <a:noFill/>
        </p:spPr>
        <p:txBody>
          <a:bodyPr vert="horz" wrap="square" lIns="0" tIns="0" rIns="0" bIns="0" rtlCol="0">
            <a:noAutofit/>
          </a:bodyPr>
          <a:lstStyle/>
          <a:p>
            <a:r>
              <a:rPr lang="en-IN" sz="900" b="1">
                <a:solidFill>
                  <a:srgbClr val="8B744B"/>
                </a:solidFill>
                <a:latin typeface="Segoe UI" panose="020B0502040204020203" pitchFamily="34" charset="0"/>
              </a:rPr>
              <a:t>DATA</a:t>
            </a:r>
          </a:p>
        </p:txBody>
      </p:sp>
      <p:sp>
        <p:nvSpPr>
          <p:cNvPr id="9" name="Rectangle: Rounded Corners 8">
            <a:extLst>
              <a:ext uri="{FF2B5EF4-FFF2-40B4-BE49-F238E27FC236}">
                <a16:creationId xmlns:a16="http://schemas.microsoft.com/office/drawing/2014/main" id="{D5351914-C363-BC31-797D-F4A82886D3AD}"/>
              </a:ext>
            </a:extLst>
          </p:cNvPr>
          <p:cNvSpPr/>
          <p:nvPr/>
        </p:nvSpPr>
        <p:spPr>
          <a:xfrm>
            <a:off x="711200" y="20828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0" name="Rectangle 9">
            <a:extLst>
              <a:ext uri="{FF2B5EF4-FFF2-40B4-BE49-F238E27FC236}">
                <a16:creationId xmlns:a16="http://schemas.microsoft.com/office/drawing/2014/main" id="{38B31602-F3C9-CC2A-CF3F-954B7413E76F}"/>
              </a:ext>
            </a:extLst>
          </p:cNvPr>
          <p:cNvSpPr/>
          <p:nvPr/>
        </p:nvSpPr>
        <p:spPr>
          <a:xfrm>
            <a:off x="711200" y="20828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1" name="TextBox 10">
            <a:extLst>
              <a:ext uri="{FF2B5EF4-FFF2-40B4-BE49-F238E27FC236}">
                <a16:creationId xmlns:a16="http://schemas.microsoft.com/office/drawing/2014/main" id="{C8401E5E-D564-5C4F-7F84-414154322F9D}"/>
              </a:ext>
            </a:extLst>
          </p:cNvPr>
          <p:cNvSpPr txBox="1"/>
          <p:nvPr/>
        </p:nvSpPr>
        <p:spPr>
          <a:xfrm>
            <a:off x="914400" y="22098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Consumer portal</a:t>
            </a:r>
          </a:p>
        </p:txBody>
      </p:sp>
      <p:sp>
        <p:nvSpPr>
          <p:cNvPr id="12" name="TextBox 11">
            <a:extLst>
              <a:ext uri="{FF2B5EF4-FFF2-40B4-BE49-F238E27FC236}">
                <a16:creationId xmlns:a16="http://schemas.microsoft.com/office/drawing/2014/main" id="{66A07E32-EFDC-D78A-EC09-CE628F684DB9}"/>
              </a:ext>
            </a:extLst>
          </p:cNvPr>
          <p:cNvSpPr txBox="1"/>
          <p:nvPr/>
        </p:nvSpPr>
        <p:spPr>
          <a:xfrm>
            <a:off x="914400" y="24638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book - pay - track</a:t>
            </a:r>
          </a:p>
        </p:txBody>
      </p:sp>
      <p:sp>
        <p:nvSpPr>
          <p:cNvPr id="13" name="Rectangle: Rounded Corners 12">
            <a:extLst>
              <a:ext uri="{FF2B5EF4-FFF2-40B4-BE49-F238E27FC236}">
                <a16:creationId xmlns:a16="http://schemas.microsoft.com/office/drawing/2014/main" id="{3DF6A950-EE9C-2106-B931-BE1F40AE246C}"/>
              </a:ext>
            </a:extLst>
          </p:cNvPr>
          <p:cNvSpPr/>
          <p:nvPr/>
        </p:nvSpPr>
        <p:spPr>
          <a:xfrm>
            <a:off x="711200" y="30480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4" name="Rectangle 13">
            <a:extLst>
              <a:ext uri="{FF2B5EF4-FFF2-40B4-BE49-F238E27FC236}">
                <a16:creationId xmlns:a16="http://schemas.microsoft.com/office/drawing/2014/main" id="{42BF0EC5-62C1-DFDF-BF3F-70A2D70C626A}"/>
              </a:ext>
            </a:extLst>
          </p:cNvPr>
          <p:cNvSpPr/>
          <p:nvPr/>
        </p:nvSpPr>
        <p:spPr>
          <a:xfrm>
            <a:off x="711200" y="30480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5" name="TextBox 14">
            <a:extLst>
              <a:ext uri="{FF2B5EF4-FFF2-40B4-BE49-F238E27FC236}">
                <a16:creationId xmlns:a16="http://schemas.microsoft.com/office/drawing/2014/main" id="{59782489-51C7-1C81-D28E-903C01A57C99}"/>
              </a:ext>
            </a:extLst>
          </p:cNvPr>
          <p:cNvSpPr txBox="1"/>
          <p:nvPr/>
        </p:nvSpPr>
        <p:spPr>
          <a:xfrm>
            <a:off x="914400" y="31750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Driver app</a:t>
            </a:r>
          </a:p>
        </p:txBody>
      </p:sp>
      <p:sp>
        <p:nvSpPr>
          <p:cNvPr id="16" name="TextBox 15">
            <a:extLst>
              <a:ext uri="{FF2B5EF4-FFF2-40B4-BE49-F238E27FC236}">
                <a16:creationId xmlns:a16="http://schemas.microsoft.com/office/drawing/2014/main" id="{9D5ECAE8-9902-162F-ABF5-1F46D85FB606}"/>
              </a:ext>
            </a:extLst>
          </p:cNvPr>
          <p:cNvSpPr txBox="1"/>
          <p:nvPr/>
        </p:nvSpPr>
        <p:spPr>
          <a:xfrm>
            <a:off x="914400" y="34290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claim - route - deliver</a:t>
            </a:r>
          </a:p>
        </p:txBody>
      </p:sp>
      <p:sp>
        <p:nvSpPr>
          <p:cNvPr id="17" name="Rectangle: Rounded Corners 16">
            <a:extLst>
              <a:ext uri="{FF2B5EF4-FFF2-40B4-BE49-F238E27FC236}">
                <a16:creationId xmlns:a16="http://schemas.microsoft.com/office/drawing/2014/main" id="{056C321B-A716-2B6C-96F3-5AE96D9558FC}"/>
              </a:ext>
            </a:extLst>
          </p:cNvPr>
          <p:cNvSpPr/>
          <p:nvPr/>
        </p:nvSpPr>
        <p:spPr>
          <a:xfrm>
            <a:off x="711200" y="40132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8" name="Rectangle 17">
            <a:extLst>
              <a:ext uri="{FF2B5EF4-FFF2-40B4-BE49-F238E27FC236}">
                <a16:creationId xmlns:a16="http://schemas.microsoft.com/office/drawing/2014/main" id="{899500FE-A6C0-52D7-3CA9-C3E7A3687A1B}"/>
              </a:ext>
            </a:extLst>
          </p:cNvPr>
          <p:cNvSpPr/>
          <p:nvPr/>
        </p:nvSpPr>
        <p:spPr>
          <a:xfrm>
            <a:off x="711200" y="40132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9" name="TextBox 18">
            <a:extLst>
              <a:ext uri="{FF2B5EF4-FFF2-40B4-BE49-F238E27FC236}">
                <a16:creationId xmlns:a16="http://schemas.microsoft.com/office/drawing/2014/main" id="{EB5FFD26-E30A-0269-8E63-DBB116974194}"/>
              </a:ext>
            </a:extLst>
          </p:cNvPr>
          <p:cNvSpPr txBox="1"/>
          <p:nvPr/>
        </p:nvSpPr>
        <p:spPr>
          <a:xfrm>
            <a:off x="914400" y="41402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Fleet console</a:t>
            </a:r>
          </a:p>
        </p:txBody>
      </p:sp>
      <p:sp>
        <p:nvSpPr>
          <p:cNvPr id="20" name="TextBox 19">
            <a:extLst>
              <a:ext uri="{FF2B5EF4-FFF2-40B4-BE49-F238E27FC236}">
                <a16:creationId xmlns:a16="http://schemas.microsoft.com/office/drawing/2014/main" id="{33E93A75-7D0C-51B3-24C7-45FECF5EC739}"/>
              </a:ext>
            </a:extLst>
          </p:cNvPr>
          <p:cNvSpPr txBox="1"/>
          <p:nvPr/>
        </p:nvSpPr>
        <p:spPr>
          <a:xfrm>
            <a:off x="914400" y="43942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batch - price - dispatch</a:t>
            </a:r>
          </a:p>
        </p:txBody>
      </p:sp>
      <p:sp>
        <p:nvSpPr>
          <p:cNvPr id="21" name="Rectangle: Rounded Corners 20">
            <a:extLst>
              <a:ext uri="{FF2B5EF4-FFF2-40B4-BE49-F238E27FC236}">
                <a16:creationId xmlns:a16="http://schemas.microsoft.com/office/drawing/2014/main" id="{9563BE36-40EF-04BF-DFE4-F53C81EED1F0}"/>
              </a:ext>
            </a:extLst>
          </p:cNvPr>
          <p:cNvSpPr/>
          <p:nvPr/>
        </p:nvSpPr>
        <p:spPr>
          <a:xfrm>
            <a:off x="711200" y="49784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2" name="Rectangle 21">
            <a:extLst>
              <a:ext uri="{FF2B5EF4-FFF2-40B4-BE49-F238E27FC236}">
                <a16:creationId xmlns:a16="http://schemas.microsoft.com/office/drawing/2014/main" id="{86AD7BC5-C0F9-2C63-08E5-8000C5A2E098}"/>
              </a:ext>
            </a:extLst>
          </p:cNvPr>
          <p:cNvSpPr/>
          <p:nvPr/>
        </p:nvSpPr>
        <p:spPr>
          <a:xfrm>
            <a:off x="711200" y="49784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3" name="TextBox 22">
            <a:extLst>
              <a:ext uri="{FF2B5EF4-FFF2-40B4-BE49-F238E27FC236}">
                <a16:creationId xmlns:a16="http://schemas.microsoft.com/office/drawing/2014/main" id="{3EDAC95F-31B7-A05E-8C1B-E4C6E3BD8DC7}"/>
              </a:ext>
            </a:extLst>
          </p:cNvPr>
          <p:cNvSpPr txBox="1"/>
          <p:nvPr/>
        </p:nvSpPr>
        <p:spPr>
          <a:xfrm>
            <a:off x="914400" y="51054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Admin console</a:t>
            </a:r>
          </a:p>
        </p:txBody>
      </p:sp>
      <p:sp>
        <p:nvSpPr>
          <p:cNvPr id="24" name="TextBox 23">
            <a:extLst>
              <a:ext uri="{FF2B5EF4-FFF2-40B4-BE49-F238E27FC236}">
                <a16:creationId xmlns:a16="http://schemas.microsoft.com/office/drawing/2014/main" id="{CC4B62BC-2972-153C-387B-D18F66DCD58C}"/>
              </a:ext>
            </a:extLst>
          </p:cNvPr>
          <p:cNvSpPr txBox="1"/>
          <p:nvPr/>
        </p:nvSpPr>
        <p:spPr>
          <a:xfrm>
            <a:off x="914400" y="53594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users - analytics</a:t>
            </a:r>
          </a:p>
        </p:txBody>
      </p:sp>
      <p:sp>
        <p:nvSpPr>
          <p:cNvPr id="25" name="Rectangle: Rounded Corners 24">
            <a:extLst>
              <a:ext uri="{FF2B5EF4-FFF2-40B4-BE49-F238E27FC236}">
                <a16:creationId xmlns:a16="http://schemas.microsoft.com/office/drawing/2014/main" id="{2BE40EE5-36AD-7454-506F-C8A7EB8C02E7}"/>
              </a:ext>
            </a:extLst>
          </p:cNvPr>
          <p:cNvSpPr/>
          <p:nvPr/>
        </p:nvSpPr>
        <p:spPr>
          <a:xfrm>
            <a:off x="4762500" y="20828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6" name="Rectangle 25">
            <a:extLst>
              <a:ext uri="{FF2B5EF4-FFF2-40B4-BE49-F238E27FC236}">
                <a16:creationId xmlns:a16="http://schemas.microsoft.com/office/drawing/2014/main" id="{BE899F16-4F62-7231-2AE3-8560070EED32}"/>
              </a:ext>
            </a:extLst>
          </p:cNvPr>
          <p:cNvSpPr/>
          <p:nvPr/>
        </p:nvSpPr>
        <p:spPr>
          <a:xfrm>
            <a:off x="4762500" y="2082800"/>
            <a:ext cx="50800" cy="7874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7" name="TextBox 26">
            <a:extLst>
              <a:ext uri="{FF2B5EF4-FFF2-40B4-BE49-F238E27FC236}">
                <a16:creationId xmlns:a16="http://schemas.microsoft.com/office/drawing/2014/main" id="{4673FA19-22C6-1E8F-245C-45BE125A1744}"/>
              </a:ext>
            </a:extLst>
          </p:cNvPr>
          <p:cNvSpPr txBox="1"/>
          <p:nvPr/>
        </p:nvSpPr>
        <p:spPr>
          <a:xfrm>
            <a:off x="4965700" y="22098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Routers</a:t>
            </a:r>
          </a:p>
        </p:txBody>
      </p:sp>
      <p:sp>
        <p:nvSpPr>
          <p:cNvPr id="28" name="TextBox 27">
            <a:extLst>
              <a:ext uri="{FF2B5EF4-FFF2-40B4-BE49-F238E27FC236}">
                <a16:creationId xmlns:a16="http://schemas.microsoft.com/office/drawing/2014/main" id="{E82D9BDE-2AF2-4C71-B794-E627749AC805}"/>
              </a:ext>
            </a:extLst>
          </p:cNvPr>
          <p:cNvSpPr txBox="1"/>
          <p:nvPr/>
        </p:nvSpPr>
        <p:spPr>
          <a:xfrm>
            <a:off x="4965700" y="2463800"/>
            <a:ext cx="2794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auth - consumer - schedules - deliveries - payments - analytics</a:t>
            </a:r>
            <a:endParaRPr lang="en-IN" sz="900">
              <a:solidFill>
                <a:srgbClr val="8B744B"/>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90F8B282-E039-5C2A-E414-C439E46EBA8C}"/>
              </a:ext>
            </a:extLst>
          </p:cNvPr>
          <p:cNvSpPr/>
          <p:nvPr/>
        </p:nvSpPr>
        <p:spPr>
          <a:xfrm>
            <a:off x="4762500" y="30480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0" name="Rectangle 29">
            <a:extLst>
              <a:ext uri="{FF2B5EF4-FFF2-40B4-BE49-F238E27FC236}">
                <a16:creationId xmlns:a16="http://schemas.microsoft.com/office/drawing/2014/main" id="{6DD5CEBA-28CF-EEC4-DCCD-D2A0519B9B6E}"/>
              </a:ext>
            </a:extLst>
          </p:cNvPr>
          <p:cNvSpPr/>
          <p:nvPr/>
        </p:nvSpPr>
        <p:spPr>
          <a:xfrm>
            <a:off x="4762500" y="3048000"/>
            <a:ext cx="50800" cy="7874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1" name="TextBox 30">
            <a:extLst>
              <a:ext uri="{FF2B5EF4-FFF2-40B4-BE49-F238E27FC236}">
                <a16:creationId xmlns:a16="http://schemas.microsoft.com/office/drawing/2014/main" id="{9325C6A6-4860-AD51-7CA9-2E94378AF9CB}"/>
              </a:ext>
            </a:extLst>
          </p:cNvPr>
          <p:cNvSpPr txBox="1"/>
          <p:nvPr/>
        </p:nvSpPr>
        <p:spPr>
          <a:xfrm>
            <a:off x="4965700" y="31750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Schedule engine</a:t>
            </a:r>
          </a:p>
        </p:txBody>
      </p:sp>
      <p:sp>
        <p:nvSpPr>
          <p:cNvPr id="32" name="TextBox 31">
            <a:extLst>
              <a:ext uri="{FF2B5EF4-FFF2-40B4-BE49-F238E27FC236}">
                <a16:creationId xmlns:a16="http://schemas.microsoft.com/office/drawing/2014/main" id="{B1A98089-34EA-2D7D-E807-2BF2CB89FDE7}"/>
              </a:ext>
            </a:extLst>
          </p:cNvPr>
          <p:cNvSpPr txBox="1"/>
          <p:nvPr/>
        </p:nvSpPr>
        <p:spPr>
          <a:xfrm>
            <a:off x="4965700" y="34290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auto-attach - lock - complete</a:t>
            </a:r>
          </a:p>
        </p:txBody>
      </p:sp>
      <p:sp>
        <p:nvSpPr>
          <p:cNvPr id="33" name="Rectangle: Rounded Corners 32">
            <a:extLst>
              <a:ext uri="{FF2B5EF4-FFF2-40B4-BE49-F238E27FC236}">
                <a16:creationId xmlns:a16="http://schemas.microsoft.com/office/drawing/2014/main" id="{9489CFC3-6565-C1C8-A7F2-EA0313D2A69B}"/>
              </a:ext>
            </a:extLst>
          </p:cNvPr>
          <p:cNvSpPr/>
          <p:nvPr/>
        </p:nvSpPr>
        <p:spPr>
          <a:xfrm>
            <a:off x="4762500" y="40132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4" name="Rectangle 33">
            <a:extLst>
              <a:ext uri="{FF2B5EF4-FFF2-40B4-BE49-F238E27FC236}">
                <a16:creationId xmlns:a16="http://schemas.microsoft.com/office/drawing/2014/main" id="{04C43C45-CD7E-ADBE-7328-E4ADFA55F05D}"/>
              </a:ext>
            </a:extLst>
          </p:cNvPr>
          <p:cNvSpPr/>
          <p:nvPr/>
        </p:nvSpPr>
        <p:spPr>
          <a:xfrm>
            <a:off x="4762500" y="4013200"/>
            <a:ext cx="50800" cy="7874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5" name="TextBox 34">
            <a:extLst>
              <a:ext uri="{FF2B5EF4-FFF2-40B4-BE49-F238E27FC236}">
                <a16:creationId xmlns:a16="http://schemas.microsoft.com/office/drawing/2014/main" id="{7476D361-130E-5E42-5D2E-E09DB0CC41FA}"/>
              </a:ext>
            </a:extLst>
          </p:cNvPr>
          <p:cNvSpPr txBox="1"/>
          <p:nvPr/>
        </p:nvSpPr>
        <p:spPr>
          <a:xfrm>
            <a:off x="4965700" y="41402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Earnings engine</a:t>
            </a:r>
          </a:p>
        </p:txBody>
      </p:sp>
      <p:sp>
        <p:nvSpPr>
          <p:cNvPr id="36" name="TextBox 35">
            <a:extLst>
              <a:ext uri="{FF2B5EF4-FFF2-40B4-BE49-F238E27FC236}">
                <a16:creationId xmlns:a16="http://schemas.microsoft.com/office/drawing/2014/main" id="{9FD73E8C-D94C-2543-D58F-1EF5C9AC4306}"/>
              </a:ext>
            </a:extLst>
          </p:cNvPr>
          <p:cNvSpPr txBox="1"/>
          <p:nvPr/>
        </p:nvSpPr>
        <p:spPr>
          <a:xfrm>
            <a:off x="4965700" y="43942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tier + weight + handling + km</a:t>
            </a:r>
          </a:p>
        </p:txBody>
      </p:sp>
      <p:sp>
        <p:nvSpPr>
          <p:cNvPr id="37" name="Rectangle: Rounded Corners 36">
            <a:extLst>
              <a:ext uri="{FF2B5EF4-FFF2-40B4-BE49-F238E27FC236}">
                <a16:creationId xmlns:a16="http://schemas.microsoft.com/office/drawing/2014/main" id="{E98652F8-4AE5-4D5E-6CC2-C74B1A86C8C1}"/>
              </a:ext>
            </a:extLst>
          </p:cNvPr>
          <p:cNvSpPr/>
          <p:nvPr/>
        </p:nvSpPr>
        <p:spPr>
          <a:xfrm>
            <a:off x="4762500" y="49784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8" name="Rectangle 37">
            <a:extLst>
              <a:ext uri="{FF2B5EF4-FFF2-40B4-BE49-F238E27FC236}">
                <a16:creationId xmlns:a16="http://schemas.microsoft.com/office/drawing/2014/main" id="{78C25F5A-792E-0A84-5866-81F88693A426}"/>
              </a:ext>
            </a:extLst>
          </p:cNvPr>
          <p:cNvSpPr/>
          <p:nvPr/>
        </p:nvSpPr>
        <p:spPr>
          <a:xfrm>
            <a:off x="4762500" y="4978400"/>
            <a:ext cx="50800" cy="7874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9" name="TextBox 38">
            <a:extLst>
              <a:ext uri="{FF2B5EF4-FFF2-40B4-BE49-F238E27FC236}">
                <a16:creationId xmlns:a16="http://schemas.microsoft.com/office/drawing/2014/main" id="{ED81A023-9518-1939-5879-D9C943D87A5E}"/>
              </a:ext>
            </a:extLst>
          </p:cNvPr>
          <p:cNvSpPr txBox="1"/>
          <p:nvPr/>
        </p:nvSpPr>
        <p:spPr>
          <a:xfrm>
            <a:off x="4965700" y="51054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Event hub</a:t>
            </a:r>
          </a:p>
        </p:txBody>
      </p:sp>
      <p:sp>
        <p:nvSpPr>
          <p:cNvPr id="40" name="TextBox 39">
            <a:extLst>
              <a:ext uri="{FF2B5EF4-FFF2-40B4-BE49-F238E27FC236}">
                <a16:creationId xmlns:a16="http://schemas.microsoft.com/office/drawing/2014/main" id="{E17BEDF3-5C52-0405-FAF1-E955BD470480}"/>
              </a:ext>
            </a:extLst>
          </p:cNvPr>
          <p:cNvSpPr txBox="1"/>
          <p:nvPr/>
        </p:nvSpPr>
        <p:spPr>
          <a:xfrm>
            <a:off x="4965700" y="53594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role-targeted WebSocket</a:t>
            </a:r>
          </a:p>
        </p:txBody>
      </p:sp>
      <p:sp>
        <p:nvSpPr>
          <p:cNvPr id="41" name="Rectangle: Rounded Corners 40">
            <a:extLst>
              <a:ext uri="{FF2B5EF4-FFF2-40B4-BE49-F238E27FC236}">
                <a16:creationId xmlns:a16="http://schemas.microsoft.com/office/drawing/2014/main" id="{FAFDE2AC-48AB-F872-6786-DCD87AC1BF4C}"/>
              </a:ext>
            </a:extLst>
          </p:cNvPr>
          <p:cNvSpPr/>
          <p:nvPr/>
        </p:nvSpPr>
        <p:spPr>
          <a:xfrm>
            <a:off x="8813800" y="20828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2" name="Rectangle 41">
            <a:extLst>
              <a:ext uri="{FF2B5EF4-FFF2-40B4-BE49-F238E27FC236}">
                <a16:creationId xmlns:a16="http://schemas.microsoft.com/office/drawing/2014/main" id="{FC294D0B-58FB-F1E8-380B-2F9B08BC4E36}"/>
              </a:ext>
            </a:extLst>
          </p:cNvPr>
          <p:cNvSpPr/>
          <p:nvPr/>
        </p:nvSpPr>
        <p:spPr>
          <a:xfrm>
            <a:off x="8813800" y="20828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3" name="TextBox 42">
            <a:extLst>
              <a:ext uri="{FF2B5EF4-FFF2-40B4-BE49-F238E27FC236}">
                <a16:creationId xmlns:a16="http://schemas.microsoft.com/office/drawing/2014/main" id="{F951041D-0FF0-F80A-5F66-C1D922E6F97A}"/>
              </a:ext>
            </a:extLst>
          </p:cNvPr>
          <p:cNvSpPr txBox="1"/>
          <p:nvPr/>
        </p:nvSpPr>
        <p:spPr>
          <a:xfrm>
            <a:off x="9017000" y="22098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PostgreSQL / SQLite</a:t>
            </a:r>
          </a:p>
        </p:txBody>
      </p:sp>
      <p:sp>
        <p:nvSpPr>
          <p:cNvPr id="44" name="TextBox 43">
            <a:extLst>
              <a:ext uri="{FF2B5EF4-FFF2-40B4-BE49-F238E27FC236}">
                <a16:creationId xmlns:a16="http://schemas.microsoft.com/office/drawing/2014/main" id="{F81D5C33-A8EA-C25E-73F9-615C40600185}"/>
              </a:ext>
            </a:extLst>
          </p:cNvPr>
          <p:cNvSpPr txBox="1"/>
          <p:nvPr/>
        </p:nvSpPr>
        <p:spPr>
          <a:xfrm>
            <a:off x="9017000" y="24638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9 tables - Alembic migrations</a:t>
            </a:r>
          </a:p>
        </p:txBody>
      </p:sp>
      <p:sp>
        <p:nvSpPr>
          <p:cNvPr id="45" name="Rectangle: Rounded Corners 44">
            <a:extLst>
              <a:ext uri="{FF2B5EF4-FFF2-40B4-BE49-F238E27FC236}">
                <a16:creationId xmlns:a16="http://schemas.microsoft.com/office/drawing/2014/main" id="{DF467D43-812D-A87B-FC04-1BFE2AC0E8BE}"/>
              </a:ext>
            </a:extLst>
          </p:cNvPr>
          <p:cNvSpPr/>
          <p:nvPr/>
        </p:nvSpPr>
        <p:spPr>
          <a:xfrm>
            <a:off x="8813800" y="30480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6" name="Rectangle 45">
            <a:extLst>
              <a:ext uri="{FF2B5EF4-FFF2-40B4-BE49-F238E27FC236}">
                <a16:creationId xmlns:a16="http://schemas.microsoft.com/office/drawing/2014/main" id="{8EB81B84-2C6B-0FE7-C6FE-BC3EEAEA607B}"/>
              </a:ext>
            </a:extLst>
          </p:cNvPr>
          <p:cNvSpPr/>
          <p:nvPr/>
        </p:nvSpPr>
        <p:spPr>
          <a:xfrm>
            <a:off x="8813800" y="30480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7" name="TextBox 46">
            <a:extLst>
              <a:ext uri="{FF2B5EF4-FFF2-40B4-BE49-F238E27FC236}">
                <a16:creationId xmlns:a16="http://schemas.microsoft.com/office/drawing/2014/main" id="{F4D799B4-3118-7861-EB94-743DF492AA58}"/>
              </a:ext>
            </a:extLst>
          </p:cNvPr>
          <p:cNvSpPr txBox="1"/>
          <p:nvPr/>
        </p:nvSpPr>
        <p:spPr>
          <a:xfrm>
            <a:off x="9017000" y="31750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Geoapify</a:t>
            </a:r>
          </a:p>
        </p:txBody>
      </p:sp>
      <p:sp>
        <p:nvSpPr>
          <p:cNvPr id="48" name="TextBox 47">
            <a:extLst>
              <a:ext uri="{FF2B5EF4-FFF2-40B4-BE49-F238E27FC236}">
                <a16:creationId xmlns:a16="http://schemas.microsoft.com/office/drawing/2014/main" id="{6D46CF21-9938-4B76-F068-E6BF2649B712}"/>
              </a:ext>
            </a:extLst>
          </p:cNvPr>
          <p:cNvSpPr txBox="1"/>
          <p:nvPr/>
        </p:nvSpPr>
        <p:spPr>
          <a:xfrm>
            <a:off x="9017000" y="34290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geocode - road geometry</a:t>
            </a:r>
          </a:p>
        </p:txBody>
      </p:sp>
      <p:sp>
        <p:nvSpPr>
          <p:cNvPr id="49" name="Rectangle: Rounded Corners 48">
            <a:extLst>
              <a:ext uri="{FF2B5EF4-FFF2-40B4-BE49-F238E27FC236}">
                <a16:creationId xmlns:a16="http://schemas.microsoft.com/office/drawing/2014/main" id="{B65EDB56-0872-6195-95B6-A3995AFC20C8}"/>
              </a:ext>
            </a:extLst>
          </p:cNvPr>
          <p:cNvSpPr/>
          <p:nvPr/>
        </p:nvSpPr>
        <p:spPr>
          <a:xfrm>
            <a:off x="8813800" y="4013200"/>
            <a:ext cx="3175000" cy="787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50" name="Rectangle 49">
            <a:extLst>
              <a:ext uri="{FF2B5EF4-FFF2-40B4-BE49-F238E27FC236}">
                <a16:creationId xmlns:a16="http://schemas.microsoft.com/office/drawing/2014/main" id="{22381741-BF32-4715-A70E-6E82158B9010}"/>
              </a:ext>
            </a:extLst>
          </p:cNvPr>
          <p:cNvSpPr/>
          <p:nvPr/>
        </p:nvSpPr>
        <p:spPr>
          <a:xfrm>
            <a:off x="8813800" y="4013200"/>
            <a:ext cx="50800" cy="7874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51" name="TextBox 50">
            <a:extLst>
              <a:ext uri="{FF2B5EF4-FFF2-40B4-BE49-F238E27FC236}">
                <a16:creationId xmlns:a16="http://schemas.microsoft.com/office/drawing/2014/main" id="{554EC33D-42D8-EF01-EF58-6CE1D1318682}"/>
              </a:ext>
            </a:extLst>
          </p:cNvPr>
          <p:cNvSpPr txBox="1"/>
          <p:nvPr/>
        </p:nvSpPr>
        <p:spPr>
          <a:xfrm>
            <a:off x="9017000" y="4140200"/>
            <a:ext cx="27686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Razorpay</a:t>
            </a:r>
          </a:p>
        </p:txBody>
      </p:sp>
      <p:sp>
        <p:nvSpPr>
          <p:cNvPr id="52" name="TextBox 51">
            <a:extLst>
              <a:ext uri="{FF2B5EF4-FFF2-40B4-BE49-F238E27FC236}">
                <a16:creationId xmlns:a16="http://schemas.microsoft.com/office/drawing/2014/main" id="{7C7B387D-16C2-C3BC-82D4-5EA866CB6AF1}"/>
              </a:ext>
            </a:extLst>
          </p:cNvPr>
          <p:cNvSpPr txBox="1"/>
          <p:nvPr/>
        </p:nvSpPr>
        <p:spPr>
          <a:xfrm>
            <a:off x="9017000" y="4394200"/>
            <a:ext cx="2794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order - verify - webhook</a:t>
            </a:r>
          </a:p>
        </p:txBody>
      </p:sp>
      <p:sp>
        <p:nvSpPr>
          <p:cNvPr id="53" name="Arrow: Right 52">
            <a:extLst>
              <a:ext uri="{FF2B5EF4-FFF2-40B4-BE49-F238E27FC236}">
                <a16:creationId xmlns:a16="http://schemas.microsoft.com/office/drawing/2014/main" id="{4E05143E-410D-9850-67EC-E68910277220}"/>
              </a:ext>
            </a:extLst>
          </p:cNvPr>
          <p:cNvSpPr/>
          <p:nvPr/>
        </p:nvSpPr>
        <p:spPr>
          <a:xfrm>
            <a:off x="4013200" y="2362200"/>
            <a:ext cx="609600" cy="228600"/>
          </a:xfrm>
          <a:prstGeom prst="rightArrow">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Arrow: Right 53">
            <a:extLst>
              <a:ext uri="{FF2B5EF4-FFF2-40B4-BE49-F238E27FC236}">
                <a16:creationId xmlns:a16="http://schemas.microsoft.com/office/drawing/2014/main" id="{504275DE-4A15-A0E0-CFE8-D76FE4EF8BE3}"/>
              </a:ext>
            </a:extLst>
          </p:cNvPr>
          <p:cNvSpPr/>
          <p:nvPr/>
        </p:nvSpPr>
        <p:spPr>
          <a:xfrm>
            <a:off x="8064500" y="2362200"/>
            <a:ext cx="609600" cy="228600"/>
          </a:xfrm>
          <a:prstGeom prst="rightArrow">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Arrow: Right 54">
            <a:extLst>
              <a:ext uri="{FF2B5EF4-FFF2-40B4-BE49-F238E27FC236}">
                <a16:creationId xmlns:a16="http://schemas.microsoft.com/office/drawing/2014/main" id="{7248B114-FCF6-AB6A-CDD1-D58AB741D2E6}"/>
              </a:ext>
            </a:extLst>
          </p:cNvPr>
          <p:cNvSpPr/>
          <p:nvPr/>
        </p:nvSpPr>
        <p:spPr>
          <a:xfrm>
            <a:off x="4013200" y="3327400"/>
            <a:ext cx="609600" cy="228600"/>
          </a:xfrm>
          <a:prstGeom prst="rightArrow">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Arrow: Right 55">
            <a:extLst>
              <a:ext uri="{FF2B5EF4-FFF2-40B4-BE49-F238E27FC236}">
                <a16:creationId xmlns:a16="http://schemas.microsoft.com/office/drawing/2014/main" id="{6CCC641F-A311-0E0F-1AF2-4B2DC9394485}"/>
              </a:ext>
            </a:extLst>
          </p:cNvPr>
          <p:cNvSpPr/>
          <p:nvPr/>
        </p:nvSpPr>
        <p:spPr>
          <a:xfrm>
            <a:off x="8064500" y="3327400"/>
            <a:ext cx="609600" cy="228600"/>
          </a:xfrm>
          <a:prstGeom prst="rightArrow">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Arrow: Right 56">
            <a:extLst>
              <a:ext uri="{FF2B5EF4-FFF2-40B4-BE49-F238E27FC236}">
                <a16:creationId xmlns:a16="http://schemas.microsoft.com/office/drawing/2014/main" id="{F7AEA99A-E95E-1E3B-1D0D-661B54C1221C}"/>
              </a:ext>
            </a:extLst>
          </p:cNvPr>
          <p:cNvSpPr/>
          <p:nvPr/>
        </p:nvSpPr>
        <p:spPr>
          <a:xfrm>
            <a:off x="4013200" y="4292600"/>
            <a:ext cx="609600" cy="228600"/>
          </a:xfrm>
          <a:prstGeom prst="rightArrow">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Arrow: Right 57">
            <a:extLst>
              <a:ext uri="{FF2B5EF4-FFF2-40B4-BE49-F238E27FC236}">
                <a16:creationId xmlns:a16="http://schemas.microsoft.com/office/drawing/2014/main" id="{2AC90FBF-60CE-2577-4DE8-12E994A98C4C}"/>
              </a:ext>
            </a:extLst>
          </p:cNvPr>
          <p:cNvSpPr/>
          <p:nvPr/>
        </p:nvSpPr>
        <p:spPr>
          <a:xfrm>
            <a:off x="8064500" y="4292600"/>
            <a:ext cx="609600" cy="228600"/>
          </a:xfrm>
          <a:prstGeom prst="rightArrow">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F4EA4520-F68E-52C3-5B7A-BAA1309EFD41}"/>
              </a:ext>
            </a:extLst>
          </p:cNvPr>
          <p:cNvSpPr txBox="1"/>
          <p:nvPr/>
        </p:nvSpPr>
        <p:spPr>
          <a:xfrm>
            <a:off x="711200" y="5969000"/>
            <a:ext cx="10769600" cy="300082"/>
          </a:xfrm>
          <a:prstGeom prst="rect">
            <a:avLst/>
          </a:prstGeom>
          <a:noFill/>
        </p:spPr>
        <p:txBody>
          <a:bodyPr vert="horz" wrap="square" lIns="0" tIns="0" rIns="0" bIns="0" rtlCol="0">
            <a:noAutofit/>
          </a:bodyPr>
          <a:lstStyle/>
          <a:p>
            <a:r>
              <a:rPr lang="en-US" sz="1000">
                <a:solidFill>
                  <a:srgbClr val="8B744B"/>
                </a:solidFill>
                <a:latin typeface="Segoe UI" panose="020B0502040204020203" pitchFamily="34" charset="0"/>
              </a:rPr>
              <a:t>Every write is validated against a server-side status chain. The client cannot advance a parcel the backend will not allow.</a:t>
            </a:r>
            <a:endParaRPr lang="en-IN" sz="1000">
              <a:solidFill>
                <a:srgbClr val="8B744B"/>
              </a:solidFill>
              <a:latin typeface="Segoe UI" panose="020B0502040204020203" pitchFamily="34" charset="0"/>
            </a:endParaRPr>
          </a:p>
        </p:txBody>
      </p:sp>
      <p:sp>
        <p:nvSpPr>
          <p:cNvPr id="60" name="TextBox 59">
            <a:extLst>
              <a:ext uri="{FF2B5EF4-FFF2-40B4-BE49-F238E27FC236}">
                <a16:creationId xmlns:a16="http://schemas.microsoft.com/office/drawing/2014/main" id="{60B061DB-32D3-2E90-017C-BA0383262DED}"/>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61" name="TextBox 60">
            <a:extLst>
              <a:ext uri="{FF2B5EF4-FFF2-40B4-BE49-F238E27FC236}">
                <a16:creationId xmlns:a16="http://schemas.microsoft.com/office/drawing/2014/main" id="{D7E67869-7CA3-EE88-DF2E-8CFFC3F396FE}"/>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5</a:t>
            </a:r>
          </a:p>
        </p:txBody>
      </p:sp>
    </p:spTree>
    <p:extLst>
      <p:ext uri="{BB962C8B-B14F-4D97-AF65-F5344CB8AC3E}">
        <p14:creationId xmlns:p14="http://schemas.microsoft.com/office/powerpoint/2010/main" val="491763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32D4B5-C858-5271-AC6B-A47707084D5E}"/>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A8147404-1050-683B-E81B-B49DD3C8FA0A}"/>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WORKFLOW</a:t>
            </a:r>
          </a:p>
        </p:txBody>
      </p:sp>
      <p:sp>
        <p:nvSpPr>
          <p:cNvPr id="4" name="TextBox 3">
            <a:extLst>
              <a:ext uri="{FF2B5EF4-FFF2-40B4-BE49-F238E27FC236}">
                <a16:creationId xmlns:a16="http://schemas.microsoft.com/office/drawing/2014/main" id="{9798D713-8B47-E556-1CCF-506378D1CB89}"/>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How a parcel actually moves</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B5980CE8-0C8B-6332-DF48-C5EC307C907B}"/>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Rectangle: Rounded Corners 5">
            <a:extLst>
              <a:ext uri="{FF2B5EF4-FFF2-40B4-BE49-F238E27FC236}">
                <a16:creationId xmlns:a16="http://schemas.microsoft.com/office/drawing/2014/main" id="{08BEB70A-6687-8581-84A4-8885DCCB5709}"/>
              </a:ext>
            </a:extLst>
          </p:cNvPr>
          <p:cNvSpPr/>
          <p:nvPr/>
        </p:nvSpPr>
        <p:spPr>
          <a:xfrm>
            <a:off x="711200" y="1905000"/>
            <a:ext cx="508000" cy="508000"/>
          </a:xfrm>
          <a:prstGeom prst="roundRect">
            <a:avLst>
              <a:gd name="adj" fmla="val 50000"/>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 name="TextBox 6">
            <a:extLst>
              <a:ext uri="{FF2B5EF4-FFF2-40B4-BE49-F238E27FC236}">
                <a16:creationId xmlns:a16="http://schemas.microsoft.com/office/drawing/2014/main" id="{D152791A-1AF1-4C8E-03AB-5B876C0CCCDD}"/>
              </a:ext>
            </a:extLst>
          </p:cNvPr>
          <p:cNvSpPr txBox="1"/>
          <p:nvPr/>
        </p:nvSpPr>
        <p:spPr>
          <a:xfrm>
            <a:off x="711200" y="20447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1</a:t>
            </a:r>
          </a:p>
        </p:txBody>
      </p:sp>
      <p:sp>
        <p:nvSpPr>
          <p:cNvPr id="8" name="TextBox 7">
            <a:extLst>
              <a:ext uri="{FF2B5EF4-FFF2-40B4-BE49-F238E27FC236}">
                <a16:creationId xmlns:a16="http://schemas.microsoft.com/office/drawing/2014/main" id="{2A5BA3B8-B5CD-4D0C-B7BA-CCB7A365BF97}"/>
              </a:ext>
            </a:extLst>
          </p:cNvPr>
          <p:cNvSpPr txBox="1"/>
          <p:nvPr/>
        </p:nvSpPr>
        <p:spPr>
          <a:xfrm>
            <a:off x="1371600" y="19177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Customer books</a:t>
            </a:r>
          </a:p>
        </p:txBody>
      </p:sp>
      <p:sp>
        <p:nvSpPr>
          <p:cNvPr id="9" name="TextBox 8">
            <a:extLst>
              <a:ext uri="{FF2B5EF4-FFF2-40B4-BE49-F238E27FC236}">
                <a16:creationId xmlns:a16="http://schemas.microsoft.com/office/drawing/2014/main" id="{2E0A39C8-D2B5-5BAB-FC07-89B930B3FC7C}"/>
              </a:ext>
            </a:extLst>
          </p:cNvPr>
          <p:cNvSpPr txBox="1"/>
          <p:nvPr/>
        </p:nvSpPr>
        <p:spPr>
          <a:xfrm>
            <a:off x="1371600" y="21463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Address, weight, handling`nand a time window</a:t>
            </a:r>
            <a:endParaRPr lang="en-IN" sz="900">
              <a:solidFill>
                <a:srgbClr val="8B744B"/>
              </a:solidFill>
              <a:latin typeface="Segoe UI" panose="020B0502040204020203" pitchFamily="34" charset="0"/>
            </a:endParaRPr>
          </a:p>
        </p:txBody>
      </p:sp>
      <p:sp>
        <p:nvSpPr>
          <p:cNvPr id="10" name="Arrow: Right 9">
            <a:extLst>
              <a:ext uri="{FF2B5EF4-FFF2-40B4-BE49-F238E27FC236}">
                <a16:creationId xmlns:a16="http://schemas.microsoft.com/office/drawing/2014/main" id="{56E1FE65-B4F9-5F84-28ED-8DD2451F17BA}"/>
              </a:ext>
            </a:extLst>
          </p:cNvPr>
          <p:cNvSpPr/>
          <p:nvPr/>
        </p:nvSpPr>
        <p:spPr>
          <a:xfrm>
            <a:off x="3683000" y="20574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CF19508C-F734-DD5F-2EBF-82AD0D5C6613}"/>
              </a:ext>
            </a:extLst>
          </p:cNvPr>
          <p:cNvSpPr/>
          <p:nvPr/>
        </p:nvSpPr>
        <p:spPr>
          <a:xfrm>
            <a:off x="711200" y="2743200"/>
            <a:ext cx="508000" cy="508000"/>
          </a:xfrm>
          <a:prstGeom prst="roundRect">
            <a:avLst>
              <a:gd name="adj" fmla="val 50000"/>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2" name="TextBox 11">
            <a:extLst>
              <a:ext uri="{FF2B5EF4-FFF2-40B4-BE49-F238E27FC236}">
                <a16:creationId xmlns:a16="http://schemas.microsoft.com/office/drawing/2014/main" id="{6498FC6D-CF1F-6193-A302-96FE7AB55BC8}"/>
              </a:ext>
            </a:extLst>
          </p:cNvPr>
          <p:cNvSpPr txBox="1"/>
          <p:nvPr/>
        </p:nvSpPr>
        <p:spPr>
          <a:xfrm>
            <a:off x="711200" y="28829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2</a:t>
            </a:r>
          </a:p>
        </p:txBody>
      </p:sp>
      <p:sp>
        <p:nvSpPr>
          <p:cNvPr id="13" name="TextBox 12">
            <a:extLst>
              <a:ext uri="{FF2B5EF4-FFF2-40B4-BE49-F238E27FC236}">
                <a16:creationId xmlns:a16="http://schemas.microsoft.com/office/drawing/2014/main" id="{95773354-726F-E743-A511-E13EE158CD31}"/>
              </a:ext>
            </a:extLst>
          </p:cNvPr>
          <p:cNvSpPr txBox="1"/>
          <p:nvPr/>
        </p:nvSpPr>
        <p:spPr>
          <a:xfrm>
            <a:off x="1371600" y="27559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Price quoted</a:t>
            </a:r>
          </a:p>
        </p:txBody>
      </p:sp>
      <p:sp>
        <p:nvSpPr>
          <p:cNvPr id="14" name="TextBox 13">
            <a:extLst>
              <a:ext uri="{FF2B5EF4-FFF2-40B4-BE49-F238E27FC236}">
                <a16:creationId xmlns:a16="http://schemas.microsoft.com/office/drawing/2014/main" id="{B42748C6-4767-0251-4D76-413DCF355DBF}"/>
              </a:ext>
            </a:extLst>
          </p:cNvPr>
          <p:cNvSpPr txBox="1"/>
          <p:nvPr/>
        </p:nvSpPr>
        <p:spPr>
          <a:xfrm>
            <a:off x="1371600" y="2984500"/>
            <a:ext cx="2413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Server computes tier + weight`+ handling + minimum</a:t>
            </a:r>
          </a:p>
        </p:txBody>
      </p:sp>
      <p:sp>
        <p:nvSpPr>
          <p:cNvPr id="15" name="Arrow: Right 14">
            <a:extLst>
              <a:ext uri="{FF2B5EF4-FFF2-40B4-BE49-F238E27FC236}">
                <a16:creationId xmlns:a16="http://schemas.microsoft.com/office/drawing/2014/main" id="{9D5EF618-53BA-D8A9-4D7A-343D1E9FDD24}"/>
              </a:ext>
            </a:extLst>
          </p:cNvPr>
          <p:cNvSpPr/>
          <p:nvPr/>
        </p:nvSpPr>
        <p:spPr>
          <a:xfrm>
            <a:off x="3683000" y="28956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4E022011-3DE2-DD52-7EA2-AE119E1480E8}"/>
              </a:ext>
            </a:extLst>
          </p:cNvPr>
          <p:cNvSpPr/>
          <p:nvPr/>
        </p:nvSpPr>
        <p:spPr>
          <a:xfrm>
            <a:off x="711200" y="3581400"/>
            <a:ext cx="508000" cy="508000"/>
          </a:xfrm>
          <a:prstGeom prst="roundRect">
            <a:avLst>
              <a:gd name="adj" fmla="val 5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7" name="TextBox 16">
            <a:extLst>
              <a:ext uri="{FF2B5EF4-FFF2-40B4-BE49-F238E27FC236}">
                <a16:creationId xmlns:a16="http://schemas.microsoft.com/office/drawing/2014/main" id="{0C5A771C-C630-38AE-A660-58C3E87A2D5C}"/>
              </a:ext>
            </a:extLst>
          </p:cNvPr>
          <p:cNvSpPr txBox="1"/>
          <p:nvPr/>
        </p:nvSpPr>
        <p:spPr>
          <a:xfrm>
            <a:off x="711200" y="37211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3</a:t>
            </a:r>
          </a:p>
        </p:txBody>
      </p:sp>
      <p:sp>
        <p:nvSpPr>
          <p:cNvPr id="18" name="TextBox 17">
            <a:extLst>
              <a:ext uri="{FF2B5EF4-FFF2-40B4-BE49-F238E27FC236}">
                <a16:creationId xmlns:a16="http://schemas.microsoft.com/office/drawing/2014/main" id="{5E10C7A4-7BA8-93B4-227F-F9C6F493E72F}"/>
              </a:ext>
            </a:extLst>
          </p:cNvPr>
          <p:cNvSpPr txBox="1"/>
          <p:nvPr/>
        </p:nvSpPr>
        <p:spPr>
          <a:xfrm>
            <a:off x="1371600" y="35941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Payment captured</a:t>
            </a:r>
          </a:p>
        </p:txBody>
      </p:sp>
      <p:sp>
        <p:nvSpPr>
          <p:cNvPr id="19" name="TextBox 18">
            <a:extLst>
              <a:ext uri="{FF2B5EF4-FFF2-40B4-BE49-F238E27FC236}">
                <a16:creationId xmlns:a16="http://schemas.microsoft.com/office/drawing/2014/main" id="{18361698-1296-5DD3-66FD-18EC303FB9BA}"/>
              </a:ext>
            </a:extLst>
          </p:cNvPr>
          <p:cNvSpPr txBox="1"/>
          <p:nvPr/>
        </p:nvSpPr>
        <p:spPr>
          <a:xfrm>
            <a:off x="1371600" y="3822700"/>
            <a:ext cx="2413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Razorpay signature verified`nserver-side</a:t>
            </a:r>
          </a:p>
        </p:txBody>
      </p:sp>
      <p:sp>
        <p:nvSpPr>
          <p:cNvPr id="20" name="Arrow: Right 19">
            <a:extLst>
              <a:ext uri="{FF2B5EF4-FFF2-40B4-BE49-F238E27FC236}">
                <a16:creationId xmlns:a16="http://schemas.microsoft.com/office/drawing/2014/main" id="{D6A26862-8430-3E9C-8258-F3E868B19E73}"/>
              </a:ext>
            </a:extLst>
          </p:cNvPr>
          <p:cNvSpPr/>
          <p:nvPr/>
        </p:nvSpPr>
        <p:spPr>
          <a:xfrm>
            <a:off x="3683000" y="37338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2AD9C474-A704-4FCE-69BB-79D6D9DF3774}"/>
              </a:ext>
            </a:extLst>
          </p:cNvPr>
          <p:cNvSpPr/>
          <p:nvPr/>
        </p:nvSpPr>
        <p:spPr>
          <a:xfrm>
            <a:off x="711200" y="4419600"/>
            <a:ext cx="508000" cy="508000"/>
          </a:xfrm>
          <a:prstGeom prst="roundRect">
            <a:avLst>
              <a:gd name="adj" fmla="val 5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2" name="TextBox 21">
            <a:extLst>
              <a:ext uri="{FF2B5EF4-FFF2-40B4-BE49-F238E27FC236}">
                <a16:creationId xmlns:a16="http://schemas.microsoft.com/office/drawing/2014/main" id="{38B68288-0430-A638-D91F-9DB25BA615C4}"/>
              </a:ext>
            </a:extLst>
          </p:cNvPr>
          <p:cNvSpPr txBox="1"/>
          <p:nvPr/>
        </p:nvSpPr>
        <p:spPr>
          <a:xfrm>
            <a:off x="711200" y="45593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4</a:t>
            </a:r>
          </a:p>
        </p:txBody>
      </p:sp>
      <p:sp>
        <p:nvSpPr>
          <p:cNvPr id="23" name="TextBox 22">
            <a:extLst>
              <a:ext uri="{FF2B5EF4-FFF2-40B4-BE49-F238E27FC236}">
                <a16:creationId xmlns:a16="http://schemas.microsoft.com/office/drawing/2014/main" id="{1780FD19-F564-CC59-C327-4AFE3C4894E8}"/>
              </a:ext>
            </a:extLst>
          </p:cNvPr>
          <p:cNvSpPr txBox="1"/>
          <p:nvPr/>
        </p:nvSpPr>
        <p:spPr>
          <a:xfrm>
            <a:off x="1371600" y="44323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Enters depot queue</a:t>
            </a:r>
          </a:p>
        </p:txBody>
      </p:sp>
      <p:sp>
        <p:nvSpPr>
          <p:cNvPr id="24" name="TextBox 23">
            <a:extLst>
              <a:ext uri="{FF2B5EF4-FFF2-40B4-BE49-F238E27FC236}">
                <a16:creationId xmlns:a16="http://schemas.microsoft.com/office/drawing/2014/main" id="{63B951D9-EB9B-CB60-9066-353E0CD82CBF}"/>
              </a:ext>
            </a:extLst>
          </p:cNvPr>
          <p:cNvSpPr txBox="1"/>
          <p:nvPr/>
        </p:nvSpPr>
        <p:spPr>
          <a:xfrm>
            <a:off x="1371600" y="46609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Only paid parcels are`dispatchable</a:t>
            </a:r>
            <a:endParaRPr lang="en-IN" sz="900">
              <a:solidFill>
                <a:srgbClr val="8B744B"/>
              </a:solidFill>
              <a:latin typeface="Segoe UI" panose="020B0502040204020203" pitchFamily="34" charset="0"/>
            </a:endParaRPr>
          </a:p>
        </p:txBody>
      </p:sp>
      <p:sp>
        <p:nvSpPr>
          <p:cNvPr id="25" name="Arrow: Right 24">
            <a:extLst>
              <a:ext uri="{FF2B5EF4-FFF2-40B4-BE49-F238E27FC236}">
                <a16:creationId xmlns:a16="http://schemas.microsoft.com/office/drawing/2014/main" id="{80D54772-9772-C4EC-A41E-112A27AD883B}"/>
              </a:ext>
            </a:extLst>
          </p:cNvPr>
          <p:cNvSpPr/>
          <p:nvPr/>
        </p:nvSpPr>
        <p:spPr>
          <a:xfrm>
            <a:off x="3683000" y="45720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E5FFB0B3-90E4-C5F3-6FE3-F6FE65F01CC2}"/>
              </a:ext>
            </a:extLst>
          </p:cNvPr>
          <p:cNvSpPr/>
          <p:nvPr/>
        </p:nvSpPr>
        <p:spPr>
          <a:xfrm>
            <a:off x="711200" y="5257800"/>
            <a:ext cx="508000" cy="508000"/>
          </a:xfrm>
          <a:prstGeom prst="roundRect">
            <a:avLst>
              <a:gd name="adj" fmla="val 5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7" name="TextBox 26">
            <a:extLst>
              <a:ext uri="{FF2B5EF4-FFF2-40B4-BE49-F238E27FC236}">
                <a16:creationId xmlns:a16="http://schemas.microsoft.com/office/drawing/2014/main" id="{B1C9C902-A84D-AABE-6A37-3FD72511CCAC}"/>
              </a:ext>
            </a:extLst>
          </p:cNvPr>
          <p:cNvSpPr txBox="1"/>
          <p:nvPr/>
        </p:nvSpPr>
        <p:spPr>
          <a:xfrm>
            <a:off x="711200" y="53975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5</a:t>
            </a:r>
          </a:p>
        </p:txBody>
      </p:sp>
      <p:sp>
        <p:nvSpPr>
          <p:cNvPr id="28" name="TextBox 27">
            <a:extLst>
              <a:ext uri="{FF2B5EF4-FFF2-40B4-BE49-F238E27FC236}">
                <a16:creationId xmlns:a16="http://schemas.microsoft.com/office/drawing/2014/main" id="{67665347-92DA-30DF-BE4A-F39C94C06FE3}"/>
              </a:ext>
            </a:extLst>
          </p:cNvPr>
          <p:cNvSpPr txBox="1"/>
          <p:nvPr/>
        </p:nvSpPr>
        <p:spPr>
          <a:xfrm>
            <a:off x="1371600" y="52705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Fleet manager batches</a:t>
            </a:r>
          </a:p>
        </p:txBody>
      </p:sp>
      <p:sp>
        <p:nvSpPr>
          <p:cNvPr id="29" name="TextBox 28">
            <a:extLst>
              <a:ext uri="{FF2B5EF4-FFF2-40B4-BE49-F238E27FC236}">
                <a16:creationId xmlns:a16="http://schemas.microsoft.com/office/drawing/2014/main" id="{53FC47E3-9C4E-D2AE-76BE-E7D75FB308CC}"/>
              </a:ext>
            </a:extLst>
          </p:cNvPr>
          <p:cNvSpPr txBox="1"/>
          <p:nvPr/>
        </p:nvSpPr>
        <p:spPr>
          <a:xfrm>
            <a:off x="1371600" y="54991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Radius + cap, payout`computed per stop</a:t>
            </a:r>
            <a:endParaRPr lang="en-IN" sz="900">
              <a:solidFill>
                <a:srgbClr val="8B744B"/>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17B0BA01-4F01-6746-16B4-ABF6EAF04204}"/>
              </a:ext>
            </a:extLst>
          </p:cNvPr>
          <p:cNvSpPr/>
          <p:nvPr/>
        </p:nvSpPr>
        <p:spPr>
          <a:xfrm>
            <a:off x="6299200" y="1905000"/>
            <a:ext cx="508000" cy="508000"/>
          </a:xfrm>
          <a:prstGeom prst="roundRect">
            <a:avLst>
              <a:gd name="adj" fmla="val 5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1" name="TextBox 30">
            <a:extLst>
              <a:ext uri="{FF2B5EF4-FFF2-40B4-BE49-F238E27FC236}">
                <a16:creationId xmlns:a16="http://schemas.microsoft.com/office/drawing/2014/main" id="{A36C4227-8528-DF31-CD35-2F1DE2DB22C8}"/>
              </a:ext>
            </a:extLst>
          </p:cNvPr>
          <p:cNvSpPr txBox="1"/>
          <p:nvPr/>
        </p:nvSpPr>
        <p:spPr>
          <a:xfrm>
            <a:off x="6299200" y="20447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6</a:t>
            </a:r>
          </a:p>
        </p:txBody>
      </p:sp>
      <p:sp>
        <p:nvSpPr>
          <p:cNvPr id="32" name="TextBox 31">
            <a:extLst>
              <a:ext uri="{FF2B5EF4-FFF2-40B4-BE49-F238E27FC236}">
                <a16:creationId xmlns:a16="http://schemas.microsoft.com/office/drawing/2014/main" id="{B7BA78A0-5E30-2B30-043A-F5A129F699E9}"/>
              </a:ext>
            </a:extLst>
          </p:cNvPr>
          <p:cNvSpPr txBox="1"/>
          <p:nvPr/>
        </p:nvSpPr>
        <p:spPr>
          <a:xfrm>
            <a:off x="6959600" y="19177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Broadcast to drivers</a:t>
            </a:r>
          </a:p>
        </p:txBody>
      </p:sp>
      <p:sp>
        <p:nvSpPr>
          <p:cNvPr id="33" name="TextBox 32">
            <a:extLst>
              <a:ext uri="{FF2B5EF4-FFF2-40B4-BE49-F238E27FC236}">
                <a16:creationId xmlns:a16="http://schemas.microsoft.com/office/drawing/2014/main" id="{0067D46E-C42E-2BC9-C6DC-6379167F5F19}"/>
              </a:ext>
            </a:extLst>
          </p:cNvPr>
          <p:cNvSpPr txBox="1"/>
          <p:nvPr/>
        </p:nvSpPr>
        <p:spPr>
          <a:xfrm>
            <a:off x="6959600" y="21463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Every available driver`is offered the run</a:t>
            </a:r>
            <a:endParaRPr lang="en-IN" sz="900">
              <a:solidFill>
                <a:srgbClr val="8B744B"/>
              </a:solidFill>
              <a:latin typeface="Segoe UI" panose="020B0502040204020203" pitchFamily="34" charset="0"/>
            </a:endParaRPr>
          </a:p>
        </p:txBody>
      </p:sp>
      <p:sp>
        <p:nvSpPr>
          <p:cNvPr id="34" name="Arrow: Right 33">
            <a:extLst>
              <a:ext uri="{FF2B5EF4-FFF2-40B4-BE49-F238E27FC236}">
                <a16:creationId xmlns:a16="http://schemas.microsoft.com/office/drawing/2014/main" id="{9F31CFA1-1656-E2FA-29DC-1BEAA732708C}"/>
              </a:ext>
            </a:extLst>
          </p:cNvPr>
          <p:cNvSpPr/>
          <p:nvPr/>
        </p:nvSpPr>
        <p:spPr>
          <a:xfrm>
            <a:off x="9271000" y="20574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36D0D1B6-A163-A9E5-5A78-C53E1CE06540}"/>
              </a:ext>
            </a:extLst>
          </p:cNvPr>
          <p:cNvSpPr/>
          <p:nvPr/>
        </p:nvSpPr>
        <p:spPr>
          <a:xfrm>
            <a:off x="6299200" y="2743200"/>
            <a:ext cx="508000" cy="508000"/>
          </a:xfrm>
          <a:prstGeom prst="roundRect">
            <a:avLst>
              <a:gd name="adj" fmla="val 50000"/>
            </a:avLst>
          </a:prstGeom>
          <a:solidFill>
            <a:srgbClr val="E59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6" name="TextBox 35">
            <a:extLst>
              <a:ext uri="{FF2B5EF4-FFF2-40B4-BE49-F238E27FC236}">
                <a16:creationId xmlns:a16="http://schemas.microsoft.com/office/drawing/2014/main" id="{44C821F2-165A-B783-D3B6-539F250CF894}"/>
              </a:ext>
            </a:extLst>
          </p:cNvPr>
          <p:cNvSpPr txBox="1"/>
          <p:nvPr/>
        </p:nvSpPr>
        <p:spPr>
          <a:xfrm>
            <a:off x="6299200" y="28829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7</a:t>
            </a:r>
          </a:p>
        </p:txBody>
      </p:sp>
      <p:sp>
        <p:nvSpPr>
          <p:cNvPr id="37" name="TextBox 36">
            <a:extLst>
              <a:ext uri="{FF2B5EF4-FFF2-40B4-BE49-F238E27FC236}">
                <a16:creationId xmlns:a16="http://schemas.microsoft.com/office/drawing/2014/main" id="{FC6A5A23-DC5E-EB9B-D587-A1E5181F076A}"/>
              </a:ext>
            </a:extLst>
          </p:cNvPr>
          <p:cNvSpPr txBox="1"/>
          <p:nvPr/>
        </p:nvSpPr>
        <p:spPr>
          <a:xfrm>
            <a:off x="6959600" y="27559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Driver claims</a:t>
            </a:r>
          </a:p>
        </p:txBody>
      </p:sp>
      <p:sp>
        <p:nvSpPr>
          <p:cNvPr id="38" name="TextBox 37">
            <a:extLst>
              <a:ext uri="{FF2B5EF4-FFF2-40B4-BE49-F238E27FC236}">
                <a16:creationId xmlns:a16="http://schemas.microsoft.com/office/drawing/2014/main" id="{85CE15B9-4F91-6105-8A17-D94C1BC1806B}"/>
              </a:ext>
            </a:extLst>
          </p:cNvPr>
          <p:cNvSpPr txBox="1"/>
          <p:nvPr/>
        </p:nvSpPr>
        <p:spPr>
          <a:xfrm>
            <a:off x="6959600" y="29845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Atomic - exactly one`winner, median 21 min</a:t>
            </a:r>
            <a:endParaRPr lang="en-IN" sz="900">
              <a:solidFill>
                <a:srgbClr val="8B744B"/>
              </a:solidFill>
              <a:latin typeface="Segoe UI" panose="020B0502040204020203" pitchFamily="34" charset="0"/>
            </a:endParaRPr>
          </a:p>
        </p:txBody>
      </p:sp>
      <p:sp>
        <p:nvSpPr>
          <p:cNvPr id="39" name="Arrow: Right 38">
            <a:extLst>
              <a:ext uri="{FF2B5EF4-FFF2-40B4-BE49-F238E27FC236}">
                <a16:creationId xmlns:a16="http://schemas.microsoft.com/office/drawing/2014/main" id="{3FF72848-5C45-279C-A610-670D0C3605D4}"/>
              </a:ext>
            </a:extLst>
          </p:cNvPr>
          <p:cNvSpPr/>
          <p:nvPr/>
        </p:nvSpPr>
        <p:spPr>
          <a:xfrm>
            <a:off x="9271000" y="28956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B0A1AB67-347C-1B3D-298F-B5EA8D049785}"/>
              </a:ext>
            </a:extLst>
          </p:cNvPr>
          <p:cNvSpPr/>
          <p:nvPr/>
        </p:nvSpPr>
        <p:spPr>
          <a:xfrm>
            <a:off x="6299200" y="3581400"/>
            <a:ext cx="508000" cy="508000"/>
          </a:xfrm>
          <a:prstGeom prst="roundRect">
            <a:avLst>
              <a:gd name="adj" fmla="val 50000"/>
            </a:avLst>
          </a:prstGeom>
          <a:solidFill>
            <a:srgbClr val="E59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1" name="TextBox 40">
            <a:extLst>
              <a:ext uri="{FF2B5EF4-FFF2-40B4-BE49-F238E27FC236}">
                <a16:creationId xmlns:a16="http://schemas.microsoft.com/office/drawing/2014/main" id="{58B473DA-5ED4-3017-3D02-2807BA791167}"/>
              </a:ext>
            </a:extLst>
          </p:cNvPr>
          <p:cNvSpPr txBox="1"/>
          <p:nvPr/>
        </p:nvSpPr>
        <p:spPr>
          <a:xfrm>
            <a:off x="6299200" y="37211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8</a:t>
            </a:r>
          </a:p>
        </p:txBody>
      </p:sp>
      <p:sp>
        <p:nvSpPr>
          <p:cNvPr id="42" name="TextBox 41">
            <a:extLst>
              <a:ext uri="{FF2B5EF4-FFF2-40B4-BE49-F238E27FC236}">
                <a16:creationId xmlns:a16="http://schemas.microsoft.com/office/drawing/2014/main" id="{4F493DAE-24C6-AC6E-D3B3-AA5CFB4CF044}"/>
              </a:ext>
            </a:extLst>
          </p:cNvPr>
          <p:cNvSpPr txBox="1"/>
          <p:nvPr/>
        </p:nvSpPr>
        <p:spPr>
          <a:xfrm>
            <a:off x="6959600" y="35941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Route optimised</a:t>
            </a:r>
          </a:p>
        </p:txBody>
      </p:sp>
      <p:sp>
        <p:nvSpPr>
          <p:cNvPr id="43" name="TextBox 42">
            <a:extLst>
              <a:ext uri="{FF2B5EF4-FFF2-40B4-BE49-F238E27FC236}">
                <a16:creationId xmlns:a16="http://schemas.microsoft.com/office/drawing/2014/main" id="{A053ED3B-6367-E264-0D01-5DA28E2CB365}"/>
              </a:ext>
            </a:extLst>
          </p:cNvPr>
          <p:cNvSpPr txBox="1"/>
          <p:nvPr/>
        </p:nvSpPr>
        <p:spPr>
          <a:xfrm>
            <a:off x="6959600" y="38227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Stops sequenced, road`geometry fetched</a:t>
            </a:r>
            <a:endParaRPr lang="en-IN" sz="900">
              <a:solidFill>
                <a:srgbClr val="8B744B"/>
              </a:solidFill>
              <a:latin typeface="Segoe UI" panose="020B0502040204020203" pitchFamily="34" charset="0"/>
            </a:endParaRPr>
          </a:p>
        </p:txBody>
      </p:sp>
      <p:sp>
        <p:nvSpPr>
          <p:cNvPr id="44" name="Arrow: Right 43">
            <a:extLst>
              <a:ext uri="{FF2B5EF4-FFF2-40B4-BE49-F238E27FC236}">
                <a16:creationId xmlns:a16="http://schemas.microsoft.com/office/drawing/2014/main" id="{199995B6-8274-1976-2E10-2A90C599FA2E}"/>
              </a:ext>
            </a:extLst>
          </p:cNvPr>
          <p:cNvSpPr/>
          <p:nvPr/>
        </p:nvSpPr>
        <p:spPr>
          <a:xfrm>
            <a:off x="9271000" y="37338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Rounded Corners 44">
            <a:extLst>
              <a:ext uri="{FF2B5EF4-FFF2-40B4-BE49-F238E27FC236}">
                <a16:creationId xmlns:a16="http://schemas.microsoft.com/office/drawing/2014/main" id="{E3677442-395F-858F-DC35-9A5E3551E5A1}"/>
              </a:ext>
            </a:extLst>
          </p:cNvPr>
          <p:cNvSpPr/>
          <p:nvPr/>
        </p:nvSpPr>
        <p:spPr>
          <a:xfrm>
            <a:off x="6299200" y="4419600"/>
            <a:ext cx="508000" cy="508000"/>
          </a:xfrm>
          <a:prstGeom prst="roundRect">
            <a:avLst>
              <a:gd name="adj" fmla="val 50000"/>
            </a:avLst>
          </a:prstGeom>
          <a:solidFill>
            <a:srgbClr val="ED4B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6" name="TextBox 45">
            <a:extLst>
              <a:ext uri="{FF2B5EF4-FFF2-40B4-BE49-F238E27FC236}">
                <a16:creationId xmlns:a16="http://schemas.microsoft.com/office/drawing/2014/main" id="{C8FF5A16-89D5-9DF2-7725-6873FD3E0A15}"/>
              </a:ext>
            </a:extLst>
          </p:cNvPr>
          <p:cNvSpPr txBox="1"/>
          <p:nvPr/>
        </p:nvSpPr>
        <p:spPr>
          <a:xfrm>
            <a:off x="6299200" y="45593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9</a:t>
            </a:r>
          </a:p>
        </p:txBody>
      </p:sp>
      <p:sp>
        <p:nvSpPr>
          <p:cNvPr id="47" name="TextBox 46">
            <a:extLst>
              <a:ext uri="{FF2B5EF4-FFF2-40B4-BE49-F238E27FC236}">
                <a16:creationId xmlns:a16="http://schemas.microsoft.com/office/drawing/2014/main" id="{786E08CF-333F-1AFB-53D3-B7B5288A7A3F}"/>
              </a:ext>
            </a:extLst>
          </p:cNvPr>
          <p:cNvSpPr txBox="1"/>
          <p:nvPr/>
        </p:nvSpPr>
        <p:spPr>
          <a:xfrm>
            <a:off x="6959600" y="44323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Out for delivery</a:t>
            </a:r>
          </a:p>
        </p:txBody>
      </p:sp>
      <p:sp>
        <p:nvSpPr>
          <p:cNvPr id="48" name="TextBox 47">
            <a:extLst>
              <a:ext uri="{FF2B5EF4-FFF2-40B4-BE49-F238E27FC236}">
                <a16:creationId xmlns:a16="http://schemas.microsoft.com/office/drawing/2014/main" id="{141E03B0-85E6-A805-6202-4602C401D8F2}"/>
              </a:ext>
            </a:extLst>
          </p:cNvPr>
          <p:cNvSpPr txBox="1"/>
          <p:nvPr/>
        </p:nvSpPr>
        <p:spPr>
          <a:xfrm>
            <a:off x="6959600" y="46609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Driver contact released`to the customer</a:t>
            </a:r>
            <a:endParaRPr lang="en-IN" sz="900">
              <a:solidFill>
                <a:srgbClr val="8B744B"/>
              </a:solidFill>
              <a:latin typeface="Segoe UI" panose="020B0502040204020203" pitchFamily="34" charset="0"/>
            </a:endParaRPr>
          </a:p>
        </p:txBody>
      </p:sp>
      <p:sp>
        <p:nvSpPr>
          <p:cNvPr id="49" name="Arrow: Right 48">
            <a:extLst>
              <a:ext uri="{FF2B5EF4-FFF2-40B4-BE49-F238E27FC236}">
                <a16:creationId xmlns:a16="http://schemas.microsoft.com/office/drawing/2014/main" id="{9F0C86E7-FE49-E51B-A1B7-DE4704A39AA6}"/>
              </a:ext>
            </a:extLst>
          </p:cNvPr>
          <p:cNvSpPr/>
          <p:nvPr/>
        </p:nvSpPr>
        <p:spPr>
          <a:xfrm>
            <a:off x="9271000" y="4572000"/>
            <a:ext cx="330200" cy="177800"/>
          </a:xfrm>
          <a:prstGeom prst="rightArrow">
            <a:avLst/>
          </a:prstGeom>
          <a:solidFill>
            <a:srgbClr val="EAE1D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Rounded Corners 49">
            <a:extLst>
              <a:ext uri="{FF2B5EF4-FFF2-40B4-BE49-F238E27FC236}">
                <a16:creationId xmlns:a16="http://schemas.microsoft.com/office/drawing/2014/main" id="{FDD52917-331A-9B89-2159-669E20CD4AC9}"/>
              </a:ext>
            </a:extLst>
          </p:cNvPr>
          <p:cNvSpPr/>
          <p:nvPr/>
        </p:nvSpPr>
        <p:spPr>
          <a:xfrm>
            <a:off x="6299200" y="5257800"/>
            <a:ext cx="508000" cy="508000"/>
          </a:xfrm>
          <a:prstGeom prst="roundRect">
            <a:avLst>
              <a:gd name="adj" fmla="val 50000"/>
            </a:avLst>
          </a:prstGeom>
          <a:solidFill>
            <a:srgbClr val="52A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51" name="TextBox 50">
            <a:extLst>
              <a:ext uri="{FF2B5EF4-FFF2-40B4-BE49-F238E27FC236}">
                <a16:creationId xmlns:a16="http://schemas.microsoft.com/office/drawing/2014/main" id="{52009241-BC01-CDCC-ED4F-4EBEF042E0C1}"/>
              </a:ext>
            </a:extLst>
          </p:cNvPr>
          <p:cNvSpPr txBox="1"/>
          <p:nvPr/>
        </p:nvSpPr>
        <p:spPr>
          <a:xfrm>
            <a:off x="6299200" y="5397500"/>
            <a:ext cx="508000" cy="300082"/>
          </a:xfrm>
          <a:prstGeom prst="rect">
            <a:avLst/>
          </a:prstGeom>
          <a:noFill/>
        </p:spPr>
        <p:txBody>
          <a:bodyPr vert="horz" wrap="square" lIns="0" tIns="0" rIns="0" bIns="0" rtlCol="0">
            <a:noAutofit/>
          </a:bodyPr>
          <a:lstStyle/>
          <a:p>
            <a:pPr algn="ctr"/>
            <a:r>
              <a:rPr lang="en-IN" sz="1300" b="1">
                <a:solidFill>
                  <a:srgbClr val="FFFFFF"/>
                </a:solidFill>
                <a:latin typeface="Segoe UI" panose="020B0502040204020203" pitchFamily="34" charset="0"/>
              </a:rPr>
              <a:t>10</a:t>
            </a:r>
          </a:p>
        </p:txBody>
      </p:sp>
      <p:sp>
        <p:nvSpPr>
          <p:cNvPr id="52" name="TextBox 51">
            <a:extLst>
              <a:ext uri="{FF2B5EF4-FFF2-40B4-BE49-F238E27FC236}">
                <a16:creationId xmlns:a16="http://schemas.microsoft.com/office/drawing/2014/main" id="{0EA16DE7-F9F4-4958-1005-EDC75F285544}"/>
              </a:ext>
            </a:extLst>
          </p:cNvPr>
          <p:cNvSpPr txBox="1"/>
          <p:nvPr/>
        </p:nvSpPr>
        <p:spPr>
          <a:xfrm>
            <a:off x="6959600" y="5270500"/>
            <a:ext cx="2286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Delivered</a:t>
            </a:r>
          </a:p>
        </p:txBody>
      </p:sp>
      <p:sp>
        <p:nvSpPr>
          <p:cNvPr id="53" name="TextBox 52">
            <a:extLst>
              <a:ext uri="{FF2B5EF4-FFF2-40B4-BE49-F238E27FC236}">
                <a16:creationId xmlns:a16="http://schemas.microsoft.com/office/drawing/2014/main" id="{A155E666-439A-B81C-5A42-E7B730FBF4AF}"/>
              </a:ext>
            </a:extLst>
          </p:cNvPr>
          <p:cNvSpPr txBox="1"/>
          <p:nvPr/>
        </p:nvSpPr>
        <p:spPr>
          <a:xfrm>
            <a:off x="6959600" y="5499100"/>
            <a:ext cx="2413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On-time scored against`the promised window</a:t>
            </a:r>
            <a:endParaRPr lang="en-IN" sz="900">
              <a:solidFill>
                <a:srgbClr val="8B744B"/>
              </a:solidFill>
              <a:latin typeface="Segoe UI" panose="020B0502040204020203" pitchFamily="34" charset="0"/>
            </a:endParaRPr>
          </a:p>
        </p:txBody>
      </p:sp>
      <p:sp>
        <p:nvSpPr>
          <p:cNvPr id="54" name="Rectangle: Rounded Corners 53">
            <a:extLst>
              <a:ext uri="{FF2B5EF4-FFF2-40B4-BE49-F238E27FC236}">
                <a16:creationId xmlns:a16="http://schemas.microsoft.com/office/drawing/2014/main" id="{B8A72408-C178-2488-8E28-6C2CAA2DCF8F}"/>
              </a:ext>
            </a:extLst>
          </p:cNvPr>
          <p:cNvSpPr/>
          <p:nvPr/>
        </p:nvSpPr>
        <p:spPr>
          <a:xfrm>
            <a:off x="6299200" y="1905000"/>
            <a:ext cx="5232400" cy="5842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55" name="TextBox 54">
            <a:extLst>
              <a:ext uri="{FF2B5EF4-FFF2-40B4-BE49-F238E27FC236}">
                <a16:creationId xmlns:a16="http://schemas.microsoft.com/office/drawing/2014/main" id="{7454FE0A-ABC9-C1F4-051E-E2D67B6C0FE8}"/>
              </a:ext>
            </a:extLst>
          </p:cNvPr>
          <p:cNvSpPr txBox="1"/>
          <p:nvPr/>
        </p:nvSpPr>
        <p:spPr>
          <a:xfrm>
            <a:off x="6502400" y="2057400"/>
            <a:ext cx="4826000" cy="300082"/>
          </a:xfrm>
          <a:prstGeom prst="rect">
            <a:avLst/>
          </a:prstGeom>
          <a:noFill/>
        </p:spPr>
        <p:txBody>
          <a:bodyPr vert="horz" wrap="square" lIns="0" tIns="0" rIns="0" bIns="0" rtlCol="0">
            <a:noAutofit/>
          </a:bodyPr>
          <a:lstStyle/>
          <a:p>
            <a:r>
              <a:rPr lang="en-IN" sz="900" b="1">
                <a:solidFill>
                  <a:srgbClr val="0284C7"/>
                </a:solidFill>
                <a:latin typeface="Segoe UI" panose="020B0502040204020203" pitchFamily="34" charset="0"/>
              </a:rPr>
              <a:t>THE GATE THAT MATTERS</a:t>
            </a:r>
          </a:p>
        </p:txBody>
      </p:sp>
      <p:sp>
        <p:nvSpPr>
          <p:cNvPr id="56" name="TextBox 55">
            <a:extLst>
              <a:ext uri="{FF2B5EF4-FFF2-40B4-BE49-F238E27FC236}">
                <a16:creationId xmlns:a16="http://schemas.microsoft.com/office/drawing/2014/main" id="{171EB951-63A8-F0DE-03D2-44D7749524CF}"/>
              </a:ext>
            </a:extLst>
          </p:cNvPr>
          <p:cNvSpPr txBox="1"/>
          <p:nvPr/>
        </p:nvSpPr>
        <p:spPr>
          <a:xfrm>
            <a:off x="6502400" y="2260600"/>
            <a:ext cx="4826000" cy="300082"/>
          </a:xfrm>
          <a:prstGeom prst="rect">
            <a:avLst/>
          </a:prstGeom>
          <a:noFill/>
        </p:spPr>
        <p:txBody>
          <a:bodyPr vert="horz" wrap="square" lIns="0" tIns="0" rIns="0" bIns="0" rtlCol="0">
            <a:noAutofit/>
          </a:bodyPr>
          <a:lstStyle/>
          <a:p>
            <a:r>
              <a:rPr lang="en-US" sz="1100" b="1">
                <a:solidFill>
                  <a:srgbClr val="2F170A"/>
                </a:solidFill>
                <a:latin typeface="Segoe UI" panose="020B0502040204020203" pitchFamily="34" charset="0"/>
              </a:rPr>
              <a:t>Step 4. An unpaid parcel never reaches a driver.</a:t>
            </a:r>
            <a:endParaRPr lang="en-IN" sz="1100" b="1">
              <a:solidFill>
                <a:srgbClr val="2F170A"/>
              </a:solidFill>
              <a:latin typeface="Segoe UI" panose="020B0502040204020203" pitchFamily="34" charset="0"/>
            </a:endParaRPr>
          </a:p>
        </p:txBody>
      </p:sp>
      <p:sp>
        <p:nvSpPr>
          <p:cNvPr id="57" name="TextBox 56">
            <a:extLst>
              <a:ext uri="{FF2B5EF4-FFF2-40B4-BE49-F238E27FC236}">
                <a16:creationId xmlns:a16="http://schemas.microsoft.com/office/drawing/2014/main" id="{17D6A078-8ED5-BDB3-77EB-877B590F591B}"/>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58" name="TextBox 57">
            <a:extLst>
              <a:ext uri="{FF2B5EF4-FFF2-40B4-BE49-F238E27FC236}">
                <a16:creationId xmlns:a16="http://schemas.microsoft.com/office/drawing/2014/main" id="{43D6AFA4-8006-C67D-0C5D-E5DD224086B0}"/>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6</a:t>
            </a:r>
          </a:p>
        </p:txBody>
      </p:sp>
    </p:spTree>
    <p:extLst>
      <p:ext uri="{BB962C8B-B14F-4D97-AF65-F5344CB8AC3E}">
        <p14:creationId xmlns:p14="http://schemas.microsoft.com/office/powerpoint/2010/main" val="122534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7D566-DF75-E006-FA2A-9D52060562E2}"/>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22AB3FD6-8B00-230E-C28D-7B132C83A79B}"/>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FOUR ROLES</a:t>
            </a:r>
          </a:p>
        </p:txBody>
      </p:sp>
      <p:sp>
        <p:nvSpPr>
          <p:cNvPr id="4" name="TextBox 3">
            <a:extLst>
              <a:ext uri="{FF2B5EF4-FFF2-40B4-BE49-F238E27FC236}">
                <a16:creationId xmlns:a16="http://schemas.microsoft.com/office/drawing/2014/main" id="{08483811-8D0F-060B-A373-E1F577B572AE}"/>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One workflow, four very different jobs</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C8E87640-2BAC-E98E-0FF1-A6562192E193}"/>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Rectangle: Rounded Corners 5">
            <a:extLst>
              <a:ext uri="{FF2B5EF4-FFF2-40B4-BE49-F238E27FC236}">
                <a16:creationId xmlns:a16="http://schemas.microsoft.com/office/drawing/2014/main" id="{32C07594-575D-EE45-5A9B-0D6337BB6607}"/>
              </a:ext>
            </a:extLst>
          </p:cNvPr>
          <p:cNvSpPr/>
          <p:nvPr/>
        </p:nvSpPr>
        <p:spPr>
          <a:xfrm>
            <a:off x="711200" y="1930400"/>
            <a:ext cx="2489200" cy="340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 name="Rectangle 6">
            <a:extLst>
              <a:ext uri="{FF2B5EF4-FFF2-40B4-BE49-F238E27FC236}">
                <a16:creationId xmlns:a16="http://schemas.microsoft.com/office/drawing/2014/main" id="{C911949D-366A-1CFE-DBC3-9FB40F1DB9A4}"/>
              </a:ext>
            </a:extLst>
          </p:cNvPr>
          <p:cNvSpPr/>
          <p:nvPr/>
        </p:nvSpPr>
        <p:spPr>
          <a:xfrm>
            <a:off x="711200" y="1930400"/>
            <a:ext cx="24892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8" name="TextBox 7">
            <a:extLst>
              <a:ext uri="{FF2B5EF4-FFF2-40B4-BE49-F238E27FC236}">
                <a16:creationId xmlns:a16="http://schemas.microsoft.com/office/drawing/2014/main" id="{A6D2739C-23F1-C4B4-B0B3-20872AA00B20}"/>
              </a:ext>
            </a:extLst>
          </p:cNvPr>
          <p:cNvSpPr txBox="1"/>
          <p:nvPr/>
        </p:nvSpPr>
        <p:spPr>
          <a:xfrm>
            <a:off x="965200" y="2209800"/>
            <a:ext cx="2032000" cy="300082"/>
          </a:xfrm>
          <a:prstGeom prst="rect">
            <a:avLst/>
          </a:prstGeom>
          <a:noFill/>
        </p:spPr>
        <p:txBody>
          <a:bodyPr vert="horz" wrap="square" lIns="0" tIns="0" rIns="0" bIns="0" rtlCol="0">
            <a:noAutofit/>
          </a:bodyPr>
          <a:lstStyle/>
          <a:p>
            <a:r>
              <a:rPr lang="en-IN" sz="1400" b="1">
                <a:solidFill>
                  <a:srgbClr val="2F170A"/>
                </a:solidFill>
                <a:latin typeface="Segoe UI" panose="020B0502040204020203" pitchFamily="34" charset="0"/>
              </a:rPr>
              <a:t>Customer</a:t>
            </a:r>
          </a:p>
        </p:txBody>
      </p:sp>
      <p:sp>
        <p:nvSpPr>
          <p:cNvPr id="9" name="TextBox 8">
            <a:extLst>
              <a:ext uri="{FF2B5EF4-FFF2-40B4-BE49-F238E27FC236}">
                <a16:creationId xmlns:a16="http://schemas.microsoft.com/office/drawing/2014/main" id="{618E24F1-AA66-1496-62F5-6E91786E938F}"/>
              </a:ext>
            </a:extLst>
          </p:cNvPr>
          <p:cNvSpPr txBox="1"/>
          <p:nvPr/>
        </p:nvSpPr>
        <p:spPr>
          <a:xfrm>
            <a:off x="965200" y="2540000"/>
            <a:ext cx="2032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no login beyond account creation</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7B2E8833-5D72-3497-49D1-3A9EAE7E9713}"/>
              </a:ext>
            </a:extLst>
          </p:cNvPr>
          <p:cNvSpPr txBox="1"/>
          <p:nvPr/>
        </p:nvSpPr>
        <p:spPr>
          <a:xfrm>
            <a:off x="965200" y="2895600"/>
            <a:ext cx="20320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Books a delivery, pays, watches it arrive. Sees the driver's number only once the parcel is moving.</a:t>
            </a:r>
            <a:endParaRPr lang="en-IN" sz="10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62669829-AC54-8503-4767-97320829EB77}"/>
              </a:ext>
            </a:extLst>
          </p:cNvPr>
          <p:cNvSpPr txBox="1"/>
          <p:nvPr/>
        </p:nvSpPr>
        <p:spPr>
          <a:xfrm>
            <a:off x="965200" y="4826000"/>
            <a:ext cx="2032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69 accounts</a:t>
            </a:r>
          </a:p>
        </p:txBody>
      </p:sp>
      <p:sp>
        <p:nvSpPr>
          <p:cNvPr id="12" name="Rectangle: Rounded Corners 11">
            <a:extLst>
              <a:ext uri="{FF2B5EF4-FFF2-40B4-BE49-F238E27FC236}">
                <a16:creationId xmlns:a16="http://schemas.microsoft.com/office/drawing/2014/main" id="{2EAAF8D2-EEDD-700A-F082-DD892E0778B2}"/>
              </a:ext>
            </a:extLst>
          </p:cNvPr>
          <p:cNvSpPr/>
          <p:nvPr/>
        </p:nvSpPr>
        <p:spPr>
          <a:xfrm>
            <a:off x="3454400" y="1930400"/>
            <a:ext cx="2489200" cy="340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3" name="Rectangle 12">
            <a:extLst>
              <a:ext uri="{FF2B5EF4-FFF2-40B4-BE49-F238E27FC236}">
                <a16:creationId xmlns:a16="http://schemas.microsoft.com/office/drawing/2014/main" id="{CDBE5D9A-7DE8-7168-3978-2929E3E69097}"/>
              </a:ext>
            </a:extLst>
          </p:cNvPr>
          <p:cNvSpPr/>
          <p:nvPr/>
        </p:nvSpPr>
        <p:spPr>
          <a:xfrm>
            <a:off x="3454400" y="1930400"/>
            <a:ext cx="2489200" cy="635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4" name="TextBox 13">
            <a:extLst>
              <a:ext uri="{FF2B5EF4-FFF2-40B4-BE49-F238E27FC236}">
                <a16:creationId xmlns:a16="http://schemas.microsoft.com/office/drawing/2014/main" id="{8B3CB09C-C70A-9FA2-7EB0-E0C0BDE73DCD}"/>
              </a:ext>
            </a:extLst>
          </p:cNvPr>
          <p:cNvSpPr txBox="1"/>
          <p:nvPr/>
        </p:nvSpPr>
        <p:spPr>
          <a:xfrm>
            <a:off x="3708400" y="2209800"/>
            <a:ext cx="2032000" cy="300082"/>
          </a:xfrm>
          <a:prstGeom prst="rect">
            <a:avLst/>
          </a:prstGeom>
          <a:noFill/>
        </p:spPr>
        <p:txBody>
          <a:bodyPr vert="horz" wrap="square" lIns="0" tIns="0" rIns="0" bIns="0" rtlCol="0">
            <a:noAutofit/>
          </a:bodyPr>
          <a:lstStyle/>
          <a:p>
            <a:r>
              <a:rPr lang="en-IN" sz="1400" b="1">
                <a:solidFill>
                  <a:srgbClr val="2F170A"/>
                </a:solidFill>
                <a:latin typeface="Segoe UI" panose="020B0502040204020203" pitchFamily="34" charset="0"/>
              </a:rPr>
              <a:t>Fleet manager</a:t>
            </a:r>
          </a:p>
        </p:txBody>
      </p:sp>
      <p:sp>
        <p:nvSpPr>
          <p:cNvPr id="15" name="TextBox 14">
            <a:extLst>
              <a:ext uri="{FF2B5EF4-FFF2-40B4-BE49-F238E27FC236}">
                <a16:creationId xmlns:a16="http://schemas.microsoft.com/office/drawing/2014/main" id="{B47DB41D-8476-6763-B671-E08F5F86A858}"/>
              </a:ext>
            </a:extLst>
          </p:cNvPr>
          <p:cNvSpPr txBox="1"/>
          <p:nvPr/>
        </p:nvSpPr>
        <p:spPr>
          <a:xfrm>
            <a:off x="3708400" y="2540000"/>
            <a:ext cx="2032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scoped to one depot_id</a:t>
            </a:r>
            <a:endParaRPr lang="en-IN" sz="900">
              <a:solidFill>
                <a:srgbClr val="8B744B"/>
              </a:solidFill>
              <a:latin typeface="Segoe UI" panose="020B0502040204020203" pitchFamily="34" charset="0"/>
            </a:endParaRPr>
          </a:p>
        </p:txBody>
      </p:sp>
      <p:sp>
        <p:nvSpPr>
          <p:cNvPr id="16" name="TextBox 15">
            <a:extLst>
              <a:ext uri="{FF2B5EF4-FFF2-40B4-BE49-F238E27FC236}">
                <a16:creationId xmlns:a16="http://schemas.microsoft.com/office/drawing/2014/main" id="{9A550428-0D46-3987-693A-C9E34AF92D8E}"/>
              </a:ext>
            </a:extLst>
          </p:cNvPr>
          <p:cNvSpPr txBox="1"/>
          <p:nvPr/>
        </p:nvSpPr>
        <p:spPr>
          <a:xfrm>
            <a:off x="3708400" y="2895600"/>
            <a:ext cx="20320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Pinned to one depot. Turns nearby paid requests into runs, prices them, and broadcasts.</a:t>
            </a:r>
            <a:endParaRPr lang="en-IN" sz="1000">
              <a:solidFill>
                <a:srgbClr val="2F170A"/>
              </a:solidFill>
              <a:latin typeface="Segoe UI" panose="020B0502040204020203" pitchFamily="34" charset="0"/>
            </a:endParaRPr>
          </a:p>
        </p:txBody>
      </p:sp>
      <p:sp>
        <p:nvSpPr>
          <p:cNvPr id="17" name="TextBox 16">
            <a:extLst>
              <a:ext uri="{FF2B5EF4-FFF2-40B4-BE49-F238E27FC236}">
                <a16:creationId xmlns:a16="http://schemas.microsoft.com/office/drawing/2014/main" id="{FE8C1794-4FF5-C70F-9485-D5BDED4E9E0A}"/>
              </a:ext>
            </a:extLst>
          </p:cNvPr>
          <p:cNvSpPr txBox="1"/>
          <p:nvPr/>
        </p:nvSpPr>
        <p:spPr>
          <a:xfrm>
            <a:off x="3708400" y="4826000"/>
            <a:ext cx="2032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26 managers - 12 depots</a:t>
            </a:r>
          </a:p>
        </p:txBody>
      </p:sp>
      <p:sp>
        <p:nvSpPr>
          <p:cNvPr id="18" name="Rectangle: Rounded Corners 17">
            <a:extLst>
              <a:ext uri="{FF2B5EF4-FFF2-40B4-BE49-F238E27FC236}">
                <a16:creationId xmlns:a16="http://schemas.microsoft.com/office/drawing/2014/main" id="{08BBAC84-E838-6F3E-9A27-C1CBEBF8999C}"/>
              </a:ext>
            </a:extLst>
          </p:cNvPr>
          <p:cNvSpPr/>
          <p:nvPr/>
        </p:nvSpPr>
        <p:spPr>
          <a:xfrm>
            <a:off x="6197600" y="1930400"/>
            <a:ext cx="2489200" cy="340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9" name="Rectangle 18">
            <a:extLst>
              <a:ext uri="{FF2B5EF4-FFF2-40B4-BE49-F238E27FC236}">
                <a16:creationId xmlns:a16="http://schemas.microsoft.com/office/drawing/2014/main" id="{D3E8B3BD-1EA8-782D-EDA9-49903B9BD173}"/>
              </a:ext>
            </a:extLst>
          </p:cNvPr>
          <p:cNvSpPr/>
          <p:nvPr/>
        </p:nvSpPr>
        <p:spPr>
          <a:xfrm>
            <a:off x="6197600" y="1930400"/>
            <a:ext cx="2489200" cy="63500"/>
          </a:xfrm>
          <a:prstGeom prst="rect">
            <a:avLst/>
          </a:prstGeom>
          <a:solidFill>
            <a:srgbClr val="E59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0" name="TextBox 19">
            <a:extLst>
              <a:ext uri="{FF2B5EF4-FFF2-40B4-BE49-F238E27FC236}">
                <a16:creationId xmlns:a16="http://schemas.microsoft.com/office/drawing/2014/main" id="{335B193A-EF0E-EEFD-ABA1-289404A0F77A}"/>
              </a:ext>
            </a:extLst>
          </p:cNvPr>
          <p:cNvSpPr txBox="1"/>
          <p:nvPr/>
        </p:nvSpPr>
        <p:spPr>
          <a:xfrm>
            <a:off x="6451600" y="2209800"/>
            <a:ext cx="2032000" cy="300082"/>
          </a:xfrm>
          <a:prstGeom prst="rect">
            <a:avLst/>
          </a:prstGeom>
          <a:noFill/>
        </p:spPr>
        <p:txBody>
          <a:bodyPr vert="horz" wrap="square" lIns="0" tIns="0" rIns="0" bIns="0" rtlCol="0">
            <a:noAutofit/>
          </a:bodyPr>
          <a:lstStyle/>
          <a:p>
            <a:r>
              <a:rPr lang="en-IN" sz="1400" b="1">
                <a:solidFill>
                  <a:srgbClr val="2F170A"/>
                </a:solidFill>
                <a:latin typeface="Segoe UI" panose="020B0502040204020203" pitchFamily="34" charset="0"/>
              </a:rPr>
              <a:t>Driver</a:t>
            </a:r>
          </a:p>
        </p:txBody>
      </p:sp>
      <p:sp>
        <p:nvSpPr>
          <p:cNvPr id="21" name="TextBox 20">
            <a:extLst>
              <a:ext uri="{FF2B5EF4-FFF2-40B4-BE49-F238E27FC236}">
                <a16:creationId xmlns:a16="http://schemas.microsoft.com/office/drawing/2014/main" id="{752DE7C3-AADD-5F63-C90C-0C430C47F8BB}"/>
              </a:ext>
            </a:extLst>
          </p:cNvPr>
          <p:cNvSpPr txBox="1"/>
          <p:nvPr/>
        </p:nvSpPr>
        <p:spPr>
          <a:xfrm>
            <a:off x="6451600" y="2540000"/>
            <a:ext cx="2032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scoped to claimed runs</a:t>
            </a:r>
          </a:p>
        </p:txBody>
      </p:sp>
      <p:sp>
        <p:nvSpPr>
          <p:cNvPr id="22" name="TextBox 21">
            <a:extLst>
              <a:ext uri="{FF2B5EF4-FFF2-40B4-BE49-F238E27FC236}">
                <a16:creationId xmlns:a16="http://schemas.microsoft.com/office/drawing/2014/main" id="{12B6F4D5-DCEA-B7D7-D2F2-3DA6B3B09792}"/>
              </a:ext>
            </a:extLst>
          </p:cNvPr>
          <p:cNvSpPr txBox="1"/>
          <p:nvPr/>
        </p:nvSpPr>
        <p:spPr>
          <a:xfrm>
            <a:off x="6451600" y="2895600"/>
            <a:ext cx="20320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Claims a run, gets an optimised stop order, works each stop and closes it out.</a:t>
            </a:r>
            <a:endParaRPr lang="en-IN" sz="1000">
              <a:solidFill>
                <a:srgbClr val="2F170A"/>
              </a:solidFill>
              <a:latin typeface="Segoe UI" panose="020B0502040204020203" pitchFamily="34" charset="0"/>
            </a:endParaRPr>
          </a:p>
        </p:txBody>
      </p:sp>
      <p:sp>
        <p:nvSpPr>
          <p:cNvPr id="23" name="TextBox 22">
            <a:extLst>
              <a:ext uri="{FF2B5EF4-FFF2-40B4-BE49-F238E27FC236}">
                <a16:creationId xmlns:a16="http://schemas.microsoft.com/office/drawing/2014/main" id="{2C9FF427-2382-B3D5-7EB1-5DF6F7ED8E00}"/>
              </a:ext>
            </a:extLst>
          </p:cNvPr>
          <p:cNvSpPr txBox="1"/>
          <p:nvPr/>
        </p:nvSpPr>
        <p:spPr>
          <a:xfrm>
            <a:off x="6451600" y="4826000"/>
            <a:ext cx="2032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41 drivers - 22 available</a:t>
            </a:r>
          </a:p>
        </p:txBody>
      </p:sp>
      <p:sp>
        <p:nvSpPr>
          <p:cNvPr id="24" name="Rectangle: Rounded Corners 23">
            <a:extLst>
              <a:ext uri="{FF2B5EF4-FFF2-40B4-BE49-F238E27FC236}">
                <a16:creationId xmlns:a16="http://schemas.microsoft.com/office/drawing/2014/main" id="{FBF59A33-F0E2-1A8A-32A5-2308BF7D3E54}"/>
              </a:ext>
            </a:extLst>
          </p:cNvPr>
          <p:cNvSpPr/>
          <p:nvPr/>
        </p:nvSpPr>
        <p:spPr>
          <a:xfrm>
            <a:off x="8940800" y="1930400"/>
            <a:ext cx="2489200" cy="340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5" name="Rectangle 24">
            <a:extLst>
              <a:ext uri="{FF2B5EF4-FFF2-40B4-BE49-F238E27FC236}">
                <a16:creationId xmlns:a16="http://schemas.microsoft.com/office/drawing/2014/main" id="{C1004AA1-E059-2402-6D7A-F722CF717EE2}"/>
              </a:ext>
            </a:extLst>
          </p:cNvPr>
          <p:cNvSpPr/>
          <p:nvPr/>
        </p:nvSpPr>
        <p:spPr>
          <a:xfrm>
            <a:off x="8940800" y="1930400"/>
            <a:ext cx="2489200" cy="635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6" name="TextBox 25">
            <a:extLst>
              <a:ext uri="{FF2B5EF4-FFF2-40B4-BE49-F238E27FC236}">
                <a16:creationId xmlns:a16="http://schemas.microsoft.com/office/drawing/2014/main" id="{2BE8F8A4-1487-274A-F56C-5E7F98DCCB86}"/>
              </a:ext>
            </a:extLst>
          </p:cNvPr>
          <p:cNvSpPr txBox="1"/>
          <p:nvPr/>
        </p:nvSpPr>
        <p:spPr>
          <a:xfrm>
            <a:off x="9194800" y="2209800"/>
            <a:ext cx="2032000" cy="300082"/>
          </a:xfrm>
          <a:prstGeom prst="rect">
            <a:avLst/>
          </a:prstGeom>
          <a:noFill/>
        </p:spPr>
        <p:txBody>
          <a:bodyPr vert="horz" wrap="square" lIns="0" tIns="0" rIns="0" bIns="0" rtlCol="0">
            <a:noAutofit/>
          </a:bodyPr>
          <a:lstStyle/>
          <a:p>
            <a:r>
              <a:rPr lang="en-IN" sz="1400" b="1">
                <a:solidFill>
                  <a:srgbClr val="2F170A"/>
                </a:solidFill>
                <a:latin typeface="Segoe UI" panose="020B0502040204020203" pitchFamily="34" charset="0"/>
              </a:rPr>
              <a:t>Port admin</a:t>
            </a:r>
          </a:p>
        </p:txBody>
      </p:sp>
      <p:sp>
        <p:nvSpPr>
          <p:cNvPr id="27" name="TextBox 26">
            <a:extLst>
              <a:ext uri="{FF2B5EF4-FFF2-40B4-BE49-F238E27FC236}">
                <a16:creationId xmlns:a16="http://schemas.microsoft.com/office/drawing/2014/main" id="{4F642874-E4EB-F2C9-9D2C-69AB0F93F30D}"/>
              </a:ext>
            </a:extLst>
          </p:cNvPr>
          <p:cNvSpPr txBox="1"/>
          <p:nvPr/>
        </p:nvSpPr>
        <p:spPr>
          <a:xfrm>
            <a:off x="9194800" y="2540000"/>
            <a:ext cx="2032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platform-wide, read + audit</a:t>
            </a:r>
          </a:p>
        </p:txBody>
      </p:sp>
      <p:sp>
        <p:nvSpPr>
          <p:cNvPr id="28" name="TextBox 27">
            <a:extLst>
              <a:ext uri="{FF2B5EF4-FFF2-40B4-BE49-F238E27FC236}">
                <a16:creationId xmlns:a16="http://schemas.microsoft.com/office/drawing/2014/main" id="{6EE7F29F-696D-DE3E-9982-6C079A32DD76}"/>
              </a:ext>
            </a:extLst>
          </p:cNvPr>
          <p:cNvSpPr txBox="1"/>
          <p:nvPr/>
        </p:nvSpPr>
        <p:spPr>
          <a:xfrm>
            <a:off x="9194800" y="2895600"/>
            <a:ext cx="20320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Provisions fleet managers, audits the network, reads platform-wide analytics.</a:t>
            </a:r>
            <a:endParaRPr lang="en-IN" sz="1000">
              <a:solidFill>
                <a:srgbClr val="2F170A"/>
              </a:solidFill>
              <a:latin typeface="Segoe UI" panose="020B0502040204020203" pitchFamily="34" charset="0"/>
            </a:endParaRPr>
          </a:p>
        </p:txBody>
      </p:sp>
      <p:sp>
        <p:nvSpPr>
          <p:cNvPr id="29" name="TextBox 28">
            <a:extLst>
              <a:ext uri="{FF2B5EF4-FFF2-40B4-BE49-F238E27FC236}">
                <a16:creationId xmlns:a16="http://schemas.microsoft.com/office/drawing/2014/main" id="{C97D2CEE-816B-F22F-34F6-1E4B39183DAA}"/>
              </a:ext>
            </a:extLst>
          </p:cNvPr>
          <p:cNvSpPr txBox="1"/>
          <p:nvPr/>
        </p:nvSpPr>
        <p:spPr>
          <a:xfrm>
            <a:off x="9194800" y="4826000"/>
            <a:ext cx="20320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1 admin - full scope</a:t>
            </a:r>
          </a:p>
        </p:txBody>
      </p:sp>
      <p:sp>
        <p:nvSpPr>
          <p:cNvPr id="30" name="Rectangle: Rounded Corners 29">
            <a:extLst>
              <a:ext uri="{FF2B5EF4-FFF2-40B4-BE49-F238E27FC236}">
                <a16:creationId xmlns:a16="http://schemas.microsoft.com/office/drawing/2014/main" id="{DAEBFBE0-DAAA-3453-154A-E481BA22E666}"/>
              </a:ext>
            </a:extLst>
          </p:cNvPr>
          <p:cNvSpPr/>
          <p:nvPr/>
        </p:nvSpPr>
        <p:spPr>
          <a:xfrm>
            <a:off x="711200" y="5537200"/>
            <a:ext cx="10769600" cy="711200"/>
          </a:xfrm>
          <a:prstGeom prst="roundRect">
            <a:avLst>
              <a:gd name="adj" fmla="val -10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1" name="TextBox 30">
            <a:extLst>
              <a:ext uri="{FF2B5EF4-FFF2-40B4-BE49-F238E27FC236}">
                <a16:creationId xmlns:a16="http://schemas.microsoft.com/office/drawing/2014/main" id="{77E59C5A-7215-B1AD-5181-1E6B96F5C5B0}"/>
              </a:ext>
            </a:extLst>
          </p:cNvPr>
          <p:cNvSpPr txBox="1"/>
          <p:nvPr/>
        </p:nvSpPr>
        <p:spPr>
          <a:xfrm>
            <a:off x="965200" y="5740400"/>
            <a:ext cx="10261600" cy="300082"/>
          </a:xfrm>
          <a:prstGeom prst="rect">
            <a:avLst/>
          </a:prstGeom>
          <a:noFill/>
        </p:spPr>
        <p:txBody>
          <a:bodyPr vert="horz" wrap="square" lIns="0" tIns="0" rIns="0" bIns="0" rtlCol="0">
            <a:noAutofit/>
          </a:bodyPr>
          <a:lstStyle/>
          <a:p>
            <a:r>
              <a:rPr lang="en-US" sz="1100">
                <a:solidFill>
                  <a:srgbClr val="FFFFFF"/>
                </a:solidFill>
                <a:latin typeface="Segoe UI" panose="020B0502040204020203" pitchFamily="34" charset="0"/>
              </a:rPr>
              <a:t>Role scoping is enforced on the server, not the client. A fleet manager requesting another depot's analytics gets a 403
and never sees the row.</a:t>
            </a:r>
            <a:endParaRPr lang="en-IN" sz="1100">
              <a:solidFill>
                <a:srgbClr val="FFFFFF"/>
              </a:solidFill>
              <a:latin typeface="Segoe UI" panose="020B0502040204020203" pitchFamily="34" charset="0"/>
            </a:endParaRPr>
          </a:p>
        </p:txBody>
      </p:sp>
      <p:sp>
        <p:nvSpPr>
          <p:cNvPr id="32" name="TextBox 31">
            <a:extLst>
              <a:ext uri="{FF2B5EF4-FFF2-40B4-BE49-F238E27FC236}">
                <a16:creationId xmlns:a16="http://schemas.microsoft.com/office/drawing/2014/main" id="{CE7DB897-0F9B-5BE9-DD85-E364A7DBAC2D}"/>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33" name="TextBox 32">
            <a:extLst>
              <a:ext uri="{FF2B5EF4-FFF2-40B4-BE49-F238E27FC236}">
                <a16:creationId xmlns:a16="http://schemas.microsoft.com/office/drawing/2014/main" id="{7CC1E8BB-1044-7018-BA45-0CDAD4849632}"/>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7</a:t>
            </a:r>
          </a:p>
        </p:txBody>
      </p:sp>
    </p:spTree>
    <p:extLst>
      <p:ext uri="{BB962C8B-B14F-4D97-AF65-F5344CB8AC3E}">
        <p14:creationId xmlns:p14="http://schemas.microsoft.com/office/powerpoint/2010/main" val="2702596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C77377-62A1-15DA-EFF0-86A737D2A3EA}"/>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04EF7979-B79C-5A58-81A1-63A103AB7140}"/>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839FD469-031F-9B54-265D-5EF0621F04A1}"/>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Twelve depots, one network</a:t>
            </a:r>
          </a:p>
        </p:txBody>
      </p:sp>
      <p:sp>
        <p:nvSpPr>
          <p:cNvPr id="5" name="Rectangle 4">
            <a:extLst>
              <a:ext uri="{FF2B5EF4-FFF2-40B4-BE49-F238E27FC236}">
                <a16:creationId xmlns:a16="http://schemas.microsoft.com/office/drawing/2014/main" id="{27430696-186B-2A8E-EE37-0217ED5C6E59}"/>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6F56FC15-C2DE-C332-71A6-27CAD960F4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FEC9C478-44C3-D37A-6615-D35FC045DB9A}"/>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F60E31FF-48CA-B86E-919B-12CDBE2D3A16}"/>
              </a:ext>
            </a:extLst>
          </p:cNvPr>
          <p:cNvSpPr txBox="1"/>
          <p:nvPr/>
        </p:nvSpPr>
        <p:spPr>
          <a:xfrm>
            <a:off x="863600" y="61722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Landing page - full-bleed India map with all 12 depot markers</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8F54FF43-F371-86D6-0A99-CAE13561CD6D}"/>
              </a:ext>
            </a:extLst>
          </p:cNvPr>
          <p:cNvSpPr txBox="1"/>
          <p:nvPr/>
        </p:nvSpPr>
        <p:spPr>
          <a:xfrm>
            <a:off x="8585200" y="1905000"/>
            <a:ext cx="2895600" cy="1477328"/>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Full-bleed map of India behind the copy</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Twelve port depots as live markers</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Click a marker for its fact sheet</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One entry point for all four roles</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171247EA-87E9-EF96-D41F-315374AEFC1F}"/>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E7C9A953-F1BC-6761-125E-E05CF0E39E43}"/>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8</a:t>
            </a:r>
          </a:p>
        </p:txBody>
      </p:sp>
    </p:spTree>
    <p:extLst>
      <p:ext uri="{BB962C8B-B14F-4D97-AF65-F5344CB8AC3E}">
        <p14:creationId xmlns:p14="http://schemas.microsoft.com/office/powerpoint/2010/main" val="395314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DCF8E5-D47D-E095-F837-BE536843CB22}"/>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33DEA8DC-0735-3B7D-150C-B0DDE1AEF607}"/>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8AEE4D54-FD37-9E2C-20DB-B3FBD0768E24}"/>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Role-scoped access</a:t>
            </a:r>
          </a:p>
        </p:txBody>
      </p:sp>
      <p:sp>
        <p:nvSpPr>
          <p:cNvPr id="5" name="Rectangle 4">
            <a:extLst>
              <a:ext uri="{FF2B5EF4-FFF2-40B4-BE49-F238E27FC236}">
                <a16:creationId xmlns:a16="http://schemas.microsoft.com/office/drawing/2014/main" id="{58E8E312-E21A-A95B-91A9-367765D5C06B}"/>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7AC2E0D6-ED60-40C7-BEC8-6873F83984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9D61AB13-CA0C-2709-4DD1-ED3D8794B582}"/>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B112829B-F68C-5FCD-18B5-99EDD5F9DF50}"/>
              </a:ext>
            </a:extLst>
          </p:cNvPr>
          <p:cNvSpPr txBox="1"/>
          <p:nvPr/>
        </p:nvSpPr>
        <p:spPr>
          <a:xfrm>
            <a:off x="863600" y="61722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Port admin sign-in - operators cannot self-register</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BF011D35-C47A-F0BB-9ADA-F62285723A97}"/>
              </a:ext>
            </a:extLst>
          </p:cNvPr>
          <p:cNvSpPr txBox="1"/>
          <p:nvPr/>
        </p:nvSpPr>
        <p:spPr>
          <a:xfrm>
            <a:off x="8585200" y="1905000"/>
            <a:ext cx="2895600" cy="1477328"/>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Operator and public tabs are separate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Credentials issue a role-scoped JWT</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Server enforces every role boundary</a:t>
            </a:r>
          </a:p>
          <a:p>
            <a:endParaRPr lang="en-IN" sz="1200">
              <a:solidFill>
                <a:srgbClr val="2F170A"/>
              </a:solidFill>
              <a:latin typeface="Segoe UI" panose="020B0502040204020203" pitchFamily="34" charset="0"/>
            </a:endParaRPr>
          </a:p>
          <a:p>
            <a:r>
              <a:rPr lang="en-IN" sz="1200">
                <a:solidFill>
                  <a:srgbClr val="2F170A"/>
                </a:solidFill>
                <a:latin typeface="Segoe UI" panose="020B0502040204020203" pitchFamily="34" charset="0"/>
              </a:rPr>
              <a:t>•  Demo credentials on-screen</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E3FFBB0E-5EA3-4F0E-0955-780DD86D91F3}"/>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786ED916-EACC-59F7-95BF-A92F3977367D}"/>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9</a:t>
            </a:r>
          </a:p>
        </p:txBody>
      </p:sp>
    </p:spTree>
    <p:extLst>
      <p:ext uri="{BB962C8B-B14F-4D97-AF65-F5344CB8AC3E}">
        <p14:creationId xmlns:p14="http://schemas.microsoft.com/office/powerpoint/2010/main" val="3318832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13C3E6-D66A-9B3F-5D06-A66F351EE4EB}"/>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BB3050AA-26BC-A42B-BB57-326E468B0D5D}"/>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1CA19866-35C2-A0B9-4FFF-6F8EFC3E3FE5}"/>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Governance at a glance</a:t>
            </a:r>
          </a:p>
        </p:txBody>
      </p:sp>
      <p:sp>
        <p:nvSpPr>
          <p:cNvPr id="5" name="Rectangle 4">
            <a:extLst>
              <a:ext uri="{FF2B5EF4-FFF2-40B4-BE49-F238E27FC236}">
                <a16:creationId xmlns:a16="http://schemas.microsoft.com/office/drawing/2014/main" id="{641BD66F-EA0A-378F-A33D-E03EFEE3BBEB}"/>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EC918A1A-9636-0490-8425-33E766FBEF3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23B819EC-52C4-FA3D-DB3C-F3CBE3B19753}"/>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FA38B2DD-B9B3-637D-422C-1E432B0D67D5}"/>
              </a:ext>
            </a:extLst>
          </p:cNvPr>
          <p:cNvSpPr txBox="1"/>
          <p:nvPr/>
        </p:nvSpPr>
        <p:spPr>
          <a:xfrm>
            <a:off x="863600" y="6172200"/>
            <a:ext cx="71882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Port admin - User Management, Dashboard tab</a:t>
            </a:r>
          </a:p>
        </p:txBody>
      </p:sp>
      <p:sp>
        <p:nvSpPr>
          <p:cNvPr id="10" name="TextBox 9">
            <a:extLst>
              <a:ext uri="{FF2B5EF4-FFF2-40B4-BE49-F238E27FC236}">
                <a16:creationId xmlns:a16="http://schemas.microsoft.com/office/drawing/2014/main" id="{686697A7-196E-4FDB-DAB6-66FAF8DEF04B}"/>
              </a:ext>
            </a:extLst>
          </p:cNvPr>
          <p:cNvSpPr txBox="1"/>
          <p:nvPr/>
        </p:nvSpPr>
        <p:spPr>
          <a:xfrm>
            <a:off x="8585200" y="1905000"/>
            <a:ext cx="2895600" cy="1477328"/>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Live counts across every role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Driver pool: available, busy, offline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Depot coverage flags unstaffed ports</a:t>
            </a:r>
          </a:p>
          <a:p>
            <a:endParaRPr lang="en-IN" sz="1200">
              <a:solidFill>
                <a:srgbClr val="2F170A"/>
              </a:solidFill>
              <a:latin typeface="Segoe UI" panose="020B0502040204020203" pitchFamily="34" charset="0"/>
            </a:endParaRPr>
          </a:p>
          <a:p>
            <a:r>
              <a:rPr lang="en-IN" sz="1200">
                <a:solidFill>
                  <a:srgbClr val="2F170A"/>
                </a:solidFill>
                <a:latin typeface="Segoe UI" panose="020B0502040204020203" pitchFamily="34" charset="0"/>
              </a:rPr>
              <a:t>•  Recent account activity</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F30FCFD4-0A0B-889B-8EF5-D95B1E6E8FA4}"/>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71CB2F72-9D49-306A-2E6F-69F43FCB3F52}"/>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10</a:t>
            </a:r>
          </a:p>
        </p:txBody>
      </p:sp>
    </p:spTree>
    <p:extLst>
      <p:ext uri="{BB962C8B-B14F-4D97-AF65-F5344CB8AC3E}">
        <p14:creationId xmlns:p14="http://schemas.microsoft.com/office/powerpoint/2010/main" val="3988749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E41A3C-1E44-0EFE-57E7-6129753ED8EA}"/>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6FF5DD05-3407-090F-82EE-7454347540FE}"/>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E55A2F80-44B0-5BD2-BFB9-35457A8FB38A}"/>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Batching, priced</a:t>
            </a:r>
          </a:p>
        </p:txBody>
      </p:sp>
      <p:sp>
        <p:nvSpPr>
          <p:cNvPr id="5" name="Rectangle 4">
            <a:extLst>
              <a:ext uri="{FF2B5EF4-FFF2-40B4-BE49-F238E27FC236}">
                <a16:creationId xmlns:a16="http://schemas.microsoft.com/office/drawing/2014/main" id="{7A87DBF5-2B6E-7C3B-D239-99F58789107D}"/>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05CEA0E0-BC80-D71E-D198-34195D9D0F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332B7A09-5C32-C49F-F09C-3FDC388D48C3}"/>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0479DE42-457C-5F24-7A7D-F2D444721EA3}"/>
              </a:ext>
            </a:extLst>
          </p:cNvPr>
          <p:cNvSpPr txBox="1"/>
          <p:nvPr/>
        </p:nvSpPr>
        <p:spPr>
          <a:xfrm>
            <a:off x="863600" y="61722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Fleet manager console - steppers, live payout, urgent alerts</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FD0DED2E-FC9B-0F82-3520-AC7DAA2A909E}"/>
              </a:ext>
            </a:extLst>
          </p:cNvPr>
          <p:cNvSpPr txBox="1"/>
          <p:nvPr/>
        </p:nvSpPr>
        <p:spPr>
          <a:xfrm>
            <a:off x="8585200" y="1905000"/>
            <a:ext cx="2895600" cy="1477328"/>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Radius and cap as exact steppers</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Payout computed server-side, per stop</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Tier, fragile and weight shown per parcel</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Urgent parcels with no run, flagged</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E0FC967B-30DB-8423-B895-DEE9D73A0F40}"/>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A05EABD8-8506-B273-6CFA-F40EAA206516}"/>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11</a:t>
            </a:r>
          </a:p>
        </p:txBody>
      </p:sp>
    </p:spTree>
    <p:extLst>
      <p:ext uri="{BB962C8B-B14F-4D97-AF65-F5344CB8AC3E}">
        <p14:creationId xmlns:p14="http://schemas.microsoft.com/office/powerpoint/2010/main" val="599230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ACD214-0771-8554-934A-A3AF3517D023}"/>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CF3B0E17-5032-5F2A-D1DB-84B6CE466E3E}"/>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2CEE9544-719B-6F80-0938-A744506E9712}"/>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Open work, one tap</a:t>
            </a:r>
          </a:p>
        </p:txBody>
      </p:sp>
      <p:sp>
        <p:nvSpPr>
          <p:cNvPr id="5" name="Rectangle 4">
            <a:extLst>
              <a:ext uri="{FF2B5EF4-FFF2-40B4-BE49-F238E27FC236}">
                <a16:creationId xmlns:a16="http://schemas.microsoft.com/office/drawing/2014/main" id="{F3FE59AE-F3C5-C859-B06D-70CD33F2A3CF}"/>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F4E5AEA9-87FD-3585-622D-24699FE34A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7B472FBD-D3DB-8E23-F785-E036DC51DF92}"/>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E1384065-7A10-E2BC-D8F9-E3556C8D3763}"/>
              </a:ext>
            </a:extLst>
          </p:cNvPr>
          <p:cNvSpPr txBox="1"/>
          <p:nvPr/>
        </p:nvSpPr>
        <p:spPr>
          <a:xfrm>
            <a:off x="863600" y="6172200"/>
            <a:ext cx="71882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Driver - claimable job feed</a:t>
            </a:r>
          </a:p>
        </p:txBody>
      </p:sp>
      <p:sp>
        <p:nvSpPr>
          <p:cNvPr id="10" name="TextBox 9">
            <a:extLst>
              <a:ext uri="{FF2B5EF4-FFF2-40B4-BE49-F238E27FC236}">
                <a16:creationId xmlns:a16="http://schemas.microsoft.com/office/drawing/2014/main" id="{14690ED7-5688-B2E3-B989-03F976ABB144}"/>
              </a:ext>
            </a:extLst>
          </p:cNvPr>
          <p:cNvSpPr txBox="1"/>
          <p:nvPr/>
        </p:nvSpPr>
        <p:spPr>
          <a:xfrm>
            <a:off x="8585200" y="1905000"/>
            <a:ext cx="2895600" cy="1477328"/>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Broadcast runs any driver can take</a:t>
            </a:r>
          </a:p>
          <a:p>
            <a:endParaRPr lang="en-IN" sz="1200">
              <a:solidFill>
                <a:srgbClr val="2F170A"/>
              </a:solidFill>
              <a:latin typeface="Segoe UI" panose="020B0502040204020203" pitchFamily="34" charset="0"/>
            </a:endParaRPr>
          </a:p>
          <a:p>
            <a:r>
              <a:rPr lang="en-IN" sz="1200">
                <a:solidFill>
                  <a:srgbClr val="2F170A"/>
                </a:solidFill>
                <a:latin typeface="Segoe UI" panose="020B0502040204020203" pitchFamily="34" charset="0"/>
              </a:rPr>
              <a:t>•  Payout shown before claiming</a:t>
            </a:r>
          </a:p>
          <a:p>
            <a:endParaRPr lang="en-IN" sz="1200">
              <a:solidFill>
                <a:srgbClr val="2F170A"/>
              </a:solidFill>
              <a:latin typeface="Segoe UI" panose="020B0502040204020203" pitchFamily="34" charset="0"/>
            </a:endParaRPr>
          </a:p>
          <a:p>
            <a:r>
              <a:rPr lang="en-IN" sz="1200">
                <a:solidFill>
                  <a:srgbClr val="2F170A"/>
                </a:solidFill>
                <a:latin typeface="Segoe UI" panose="020B0502040204020203" pitchFamily="34" charset="0"/>
              </a:rPr>
              <a:t>•  Atomic claim - one winner</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Claimed run is pinned to that driver</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9D76A25F-FE87-D4C1-B1C4-C54537AE6DDC}"/>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3CA978A1-B497-6AA6-CD67-9ED6D64501F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12</a:t>
            </a:r>
          </a:p>
        </p:txBody>
      </p:sp>
    </p:spTree>
    <p:extLst>
      <p:ext uri="{BB962C8B-B14F-4D97-AF65-F5344CB8AC3E}">
        <p14:creationId xmlns:p14="http://schemas.microsoft.com/office/powerpoint/2010/main" val="3213551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85A7-FA30-8B16-6C7E-BF995908BCE4}"/>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014EBCC8-6501-A1E3-2B3D-2F08C2D83FE6}"/>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DFAD4E0A-CB6A-DDF8-E315-27850092F346}"/>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The customer books</a:t>
            </a:r>
          </a:p>
        </p:txBody>
      </p:sp>
      <p:sp>
        <p:nvSpPr>
          <p:cNvPr id="5" name="Rectangle 4">
            <a:extLst>
              <a:ext uri="{FF2B5EF4-FFF2-40B4-BE49-F238E27FC236}">
                <a16:creationId xmlns:a16="http://schemas.microsoft.com/office/drawing/2014/main" id="{6470A241-4CA8-73F7-E805-90EE4C65362A}"/>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F62C5EE7-6C33-23A2-8A27-224F2BFB90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44343955-B736-D7E4-CF14-99DE7238A9D3}"/>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C27A0750-DE7B-F136-593B-B6214D6F7C03}"/>
              </a:ext>
            </a:extLst>
          </p:cNvPr>
          <p:cNvSpPr txBox="1"/>
          <p:nvPr/>
        </p:nvSpPr>
        <p:spPr>
          <a:xfrm>
            <a:off x="863600" y="61722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Consumer booking - structured handling and weight</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A52251B9-B94D-4451-97B8-C0D415D0E753}"/>
              </a:ext>
            </a:extLst>
          </p:cNvPr>
          <p:cNvSpPr txBox="1"/>
          <p:nvPr/>
        </p:nvSpPr>
        <p:spPr>
          <a:xfrm>
            <a:off x="8585200" y="1905000"/>
            <a:ext cx="2895600" cy="1661993"/>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Handling as explicit chips, not prose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Weight and tier drive the quote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Window defaults to something achievable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Quote shown before any commitment</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91592C1E-9B12-6EEB-DA0A-A356B5643244}"/>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0FD15E98-C8C2-8F23-D4EA-0096D0CF3A30}"/>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13</a:t>
            </a:r>
          </a:p>
        </p:txBody>
      </p:sp>
    </p:spTree>
    <p:extLst>
      <p:ext uri="{BB962C8B-B14F-4D97-AF65-F5344CB8AC3E}">
        <p14:creationId xmlns:p14="http://schemas.microsoft.com/office/powerpoint/2010/main" val="1973442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19F776-5F14-F40A-1E73-43A6546229DD}"/>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FA1E4D31-96B5-4515-A46C-128FBD804FC4}"/>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PORTAL WALKTHROUGH</a:t>
            </a:r>
          </a:p>
        </p:txBody>
      </p:sp>
      <p:sp>
        <p:nvSpPr>
          <p:cNvPr id="4" name="TextBox 3">
            <a:extLst>
              <a:ext uri="{FF2B5EF4-FFF2-40B4-BE49-F238E27FC236}">
                <a16:creationId xmlns:a16="http://schemas.microsoft.com/office/drawing/2014/main" id="{94E07A77-E56A-45A2-E58C-0488EBDA98D4}"/>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Measured, not guessed</a:t>
            </a:r>
          </a:p>
        </p:txBody>
      </p:sp>
      <p:sp>
        <p:nvSpPr>
          <p:cNvPr id="5" name="Rectangle 4">
            <a:extLst>
              <a:ext uri="{FF2B5EF4-FFF2-40B4-BE49-F238E27FC236}">
                <a16:creationId xmlns:a16="http://schemas.microsoft.com/office/drawing/2014/main" id="{520A5A77-9FEF-C296-133C-0773E8F36C7C}"/>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E03C33AA-21C7-824D-966F-2BAF2F33B0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9667" y="1778000"/>
            <a:ext cx="7450667" cy="4191000"/>
          </a:xfrm>
          <a:prstGeom prst="rect">
            <a:avLst/>
          </a:prstGeom>
        </p:spPr>
      </p:pic>
      <p:sp>
        <p:nvSpPr>
          <p:cNvPr id="8" name="Rectangle: Rounded Corners 7">
            <a:extLst>
              <a:ext uri="{FF2B5EF4-FFF2-40B4-BE49-F238E27FC236}">
                <a16:creationId xmlns:a16="http://schemas.microsoft.com/office/drawing/2014/main" id="{30EE2DC4-9477-CC7E-BB32-2096C99A29C1}"/>
              </a:ext>
            </a:extLst>
          </p:cNvPr>
          <p:cNvSpPr/>
          <p:nvPr/>
        </p:nvSpPr>
        <p:spPr>
          <a:xfrm>
            <a:off x="711200" y="6070600"/>
            <a:ext cx="7467600" cy="3810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9A0F7F26-DCE1-AF41-B7A3-456C087C3A82}"/>
              </a:ext>
            </a:extLst>
          </p:cNvPr>
          <p:cNvSpPr txBox="1"/>
          <p:nvPr/>
        </p:nvSpPr>
        <p:spPr>
          <a:xfrm>
            <a:off x="863600" y="61722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Analytics - volume, batch efficiency, busiest areas</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6D047335-A2E6-E225-838D-D8E3F816AF4F}"/>
              </a:ext>
            </a:extLst>
          </p:cNvPr>
          <p:cNvSpPr txBox="1"/>
          <p:nvPr/>
        </p:nvSpPr>
        <p:spPr>
          <a:xfrm>
            <a:off x="8585200" y="1905000"/>
            <a:ext cx="2895600" cy="1477328"/>
          </a:xfrm>
          <a:prstGeom prst="rect">
            <a:avLst/>
          </a:prstGeom>
          <a:noFill/>
        </p:spPr>
        <p:txBody>
          <a:bodyPr vert="horz" wrap="square" lIns="0" tIns="0" rIns="0" bIns="0" rtlCol="0">
            <a:spAutoFit/>
          </a:bodyPr>
          <a:lstStyle/>
          <a:p>
            <a:r>
              <a:rPr lang="en-IN" sz="1200">
                <a:solidFill>
                  <a:srgbClr val="2F170A"/>
                </a:solidFill>
                <a:latin typeface="Segoe UI" panose="020B0502040204020203" pitchFamily="34" charset="0"/>
              </a:rPr>
              <a:t>•  Volume against deliveries, daily</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Batch fill distribution and claim times</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Busiest areas with real earnings</a:t>
            </a:r>
          </a:p>
          <a:p>
            <a:endParaRPr lang="en-IN" sz="1200">
              <a:solidFill>
                <a:srgbClr val="2F170A"/>
              </a:solidFill>
              <a:latin typeface="Segoe UI" panose="020B0502040204020203" pitchFamily="34" charset="0"/>
            </a:endParaRPr>
          </a:p>
          <a:p>
            <a:r>
              <a:rPr lang="en-IN" sz="1200">
                <a:solidFill>
                  <a:srgbClr val="2F170A"/>
                </a:solidFill>
                <a:latin typeface="Segoe UI" panose="020B0502040204020203" pitchFamily="34" charset="0"/>
              </a:rPr>
              <a:t>•  Exportable for audit</a:t>
            </a:r>
          </a:p>
          <a:p>
            <a:endParaRPr lang="en-IN" sz="12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661C3882-582A-5A50-C412-C08F03B589D2}"/>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A92239A3-490D-F77C-BB88-4D0A97B75DB9}"/>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14</a:t>
            </a:r>
          </a:p>
        </p:txBody>
      </p:sp>
    </p:spTree>
    <p:extLst>
      <p:ext uri="{BB962C8B-B14F-4D97-AF65-F5344CB8AC3E}">
        <p14:creationId xmlns:p14="http://schemas.microsoft.com/office/powerpoint/2010/main" val="1396029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C83EED-D6E3-EF9D-0DBE-4F3F4FFDB40C}"/>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6CB926CD-57B0-5107-A557-18AFB2816D49}"/>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FUNCTIONALITY &amp; VALIDATION</a:t>
            </a:r>
          </a:p>
        </p:txBody>
      </p:sp>
      <p:sp>
        <p:nvSpPr>
          <p:cNvPr id="4" name="TextBox 3">
            <a:extLst>
              <a:ext uri="{FF2B5EF4-FFF2-40B4-BE49-F238E27FC236}">
                <a16:creationId xmlns:a16="http://schemas.microsoft.com/office/drawing/2014/main" id="{14E9B05F-46A0-833F-1E50-87B714DED163}"/>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Every feature, and the evidence for it</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8FE1005F-3066-9747-3B6D-29B7BE96A38E}"/>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Rectangle: Rounded Corners 5">
            <a:extLst>
              <a:ext uri="{FF2B5EF4-FFF2-40B4-BE49-F238E27FC236}">
                <a16:creationId xmlns:a16="http://schemas.microsoft.com/office/drawing/2014/main" id="{0BF6872E-CD6E-3EDE-F05A-EDCF40DDDCFB}"/>
              </a:ext>
            </a:extLst>
          </p:cNvPr>
          <p:cNvSpPr/>
          <p:nvPr/>
        </p:nvSpPr>
        <p:spPr>
          <a:xfrm>
            <a:off x="711200" y="18542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 name="Rectangle 6">
            <a:extLst>
              <a:ext uri="{FF2B5EF4-FFF2-40B4-BE49-F238E27FC236}">
                <a16:creationId xmlns:a16="http://schemas.microsoft.com/office/drawing/2014/main" id="{2F9E23D6-7B82-DFF8-0499-CF7C8901C5A3}"/>
              </a:ext>
            </a:extLst>
          </p:cNvPr>
          <p:cNvSpPr/>
          <p:nvPr/>
        </p:nvSpPr>
        <p:spPr>
          <a:xfrm>
            <a:off x="711200" y="1854200"/>
            <a:ext cx="50800" cy="8636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8" name="TextBox 7">
            <a:extLst>
              <a:ext uri="{FF2B5EF4-FFF2-40B4-BE49-F238E27FC236}">
                <a16:creationId xmlns:a16="http://schemas.microsoft.com/office/drawing/2014/main" id="{C22269B9-4A25-80F5-1C50-8DA3B9DDBD5A}"/>
              </a:ext>
            </a:extLst>
          </p:cNvPr>
          <p:cNvSpPr txBox="1"/>
          <p:nvPr/>
        </p:nvSpPr>
        <p:spPr>
          <a:xfrm>
            <a:off x="939800" y="19812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Structured handling flags</a:t>
            </a:r>
          </a:p>
        </p:txBody>
      </p:sp>
      <p:sp>
        <p:nvSpPr>
          <p:cNvPr id="9" name="TextBox 8">
            <a:extLst>
              <a:ext uri="{FF2B5EF4-FFF2-40B4-BE49-F238E27FC236}">
                <a16:creationId xmlns:a16="http://schemas.microsoft.com/office/drawing/2014/main" id="{B5403868-0B8C-9479-5D83-EAA82185204F}"/>
              </a:ext>
            </a:extLst>
          </p:cNvPr>
          <p:cNvSpPr txBox="1"/>
          <p:nvPr/>
        </p:nvSpPr>
        <p:spPr>
          <a:xfrm>
            <a:off x="939800" y="22606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chips replace free text</a:t>
            </a:r>
          </a:p>
        </p:txBody>
      </p:sp>
      <p:sp>
        <p:nvSpPr>
          <p:cNvPr id="10" name="TextBox 9">
            <a:extLst>
              <a:ext uri="{FF2B5EF4-FFF2-40B4-BE49-F238E27FC236}">
                <a16:creationId xmlns:a16="http://schemas.microsoft.com/office/drawing/2014/main" id="{0ECA5B07-CD99-EE14-7D05-D3B682CD78A1}"/>
              </a:ext>
            </a:extLst>
          </p:cNvPr>
          <p:cNvSpPr txBox="1"/>
          <p:nvPr/>
        </p:nvSpPr>
        <p:spPr>
          <a:xfrm>
            <a:off x="4521200" y="21336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25 tests</a:t>
            </a:r>
          </a:p>
        </p:txBody>
      </p:sp>
      <p:sp>
        <p:nvSpPr>
          <p:cNvPr id="11" name="Rectangle: Rounded Corners 10">
            <a:extLst>
              <a:ext uri="{FF2B5EF4-FFF2-40B4-BE49-F238E27FC236}">
                <a16:creationId xmlns:a16="http://schemas.microsoft.com/office/drawing/2014/main" id="{16253450-9DBA-048C-E0D3-29F692EC66CD}"/>
              </a:ext>
            </a:extLst>
          </p:cNvPr>
          <p:cNvSpPr/>
          <p:nvPr/>
        </p:nvSpPr>
        <p:spPr>
          <a:xfrm>
            <a:off x="711200" y="28956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2" name="Rectangle 11">
            <a:extLst>
              <a:ext uri="{FF2B5EF4-FFF2-40B4-BE49-F238E27FC236}">
                <a16:creationId xmlns:a16="http://schemas.microsoft.com/office/drawing/2014/main" id="{0659B5B8-660E-597D-2113-7D1410ED3AD5}"/>
              </a:ext>
            </a:extLst>
          </p:cNvPr>
          <p:cNvSpPr/>
          <p:nvPr/>
        </p:nvSpPr>
        <p:spPr>
          <a:xfrm>
            <a:off x="711200" y="2895600"/>
            <a:ext cx="50800" cy="8636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3" name="TextBox 12">
            <a:extLst>
              <a:ext uri="{FF2B5EF4-FFF2-40B4-BE49-F238E27FC236}">
                <a16:creationId xmlns:a16="http://schemas.microsoft.com/office/drawing/2014/main" id="{DC5B437A-BBFC-7AC3-1909-E76974A605A1}"/>
              </a:ext>
            </a:extLst>
          </p:cNvPr>
          <p:cNvSpPr txBox="1"/>
          <p:nvPr/>
        </p:nvSpPr>
        <p:spPr>
          <a:xfrm>
            <a:off x="939800" y="30226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Weight-aware pricing</a:t>
            </a:r>
          </a:p>
        </p:txBody>
      </p:sp>
      <p:sp>
        <p:nvSpPr>
          <p:cNvPr id="14" name="TextBox 13">
            <a:extLst>
              <a:ext uri="{FF2B5EF4-FFF2-40B4-BE49-F238E27FC236}">
                <a16:creationId xmlns:a16="http://schemas.microsoft.com/office/drawing/2014/main" id="{6F7C039D-3F57-1272-2C1C-8C3429E26874}"/>
              </a:ext>
            </a:extLst>
          </p:cNvPr>
          <p:cNvSpPr txBox="1"/>
          <p:nvPr/>
        </p:nvSpPr>
        <p:spPr>
          <a:xfrm>
            <a:off x="939800" y="33020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server-quoted, minimum applied</a:t>
            </a:r>
          </a:p>
        </p:txBody>
      </p:sp>
      <p:sp>
        <p:nvSpPr>
          <p:cNvPr id="15" name="TextBox 14">
            <a:extLst>
              <a:ext uri="{FF2B5EF4-FFF2-40B4-BE49-F238E27FC236}">
                <a16:creationId xmlns:a16="http://schemas.microsoft.com/office/drawing/2014/main" id="{279E0F26-AC64-D74F-4EA4-0811DB711B48}"/>
              </a:ext>
            </a:extLst>
          </p:cNvPr>
          <p:cNvSpPr txBox="1"/>
          <p:nvPr/>
        </p:nvSpPr>
        <p:spPr>
          <a:xfrm>
            <a:off x="4521200" y="31750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25 tests</a:t>
            </a:r>
          </a:p>
        </p:txBody>
      </p:sp>
      <p:sp>
        <p:nvSpPr>
          <p:cNvPr id="16" name="Rectangle: Rounded Corners 15">
            <a:extLst>
              <a:ext uri="{FF2B5EF4-FFF2-40B4-BE49-F238E27FC236}">
                <a16:creationId xmlns:a16="http://schemas.microsoft.com/office/drawing/2014/main" id="{D06ADD7B-ECE6-5F54-A170-4DAA516C6E0C}"/>
              </a:ext>
            </a:extLst>
          </p:cNvPr>
          <p:cNvSpPr/>
          <p:nvPr/>
        </p:nvSpPr>
        <p:spPr>
          <a:xfrm>
            <a:off x="711200" y="39370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7" name="Rectangle 16">
            <a:extLst>
              <a:ext uri="{FF2B5EF4-FFF2-40B4-BE49-F238E27FC236}">
                <a16:creationId xmlns:a16="http://schemas.microsoft.com/office/drawing/2014/main" id="{0996B92E-10DA-0EDC-2AEB-7719DE8E48EC}"/>
              </a:ext>
            </a:extLst>
          </p:cNvPr>
          <p:cNvSpPr/>
          <p:nvPr/>
        </p:nvSpPr>
        <p:spPr>
          <a:xfrm>
            <a:off x="711200" y="3937000"/>
            <a:ext cx="50800" cy="8636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8" name="TextBox 17">
            <a:extLst>
              <a:ext uri="{FF2B5EF4-FFF2-40B4-BE49-F238E27FC236}">
                <a16:creationId xmlns:a16="http://schemas.microsoft.com/office/drawing/2014/main" id="{28C77123-D82E-AB32-B76E-A98BF93A2B64}"/>
              </a:ext>
            </a:extLst>
          </p:cNvPr>
          <p:cNvSpPr txBox="1"/>
          <p:nvPr/>
        </p:nvSpPr>
        <p:spPr>
          <a:xfrm>
            <a:off x="939800" y="40640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Payment-gated dispatch</a:t>
            </a:r>
          </a:p>
        </p:txBody>
      </p:sp>
      <p:sp>
        <p:nvSpPr>
          <p:cNvPr id="19" name="TextBox 18">
            <a:extLst>
              <a:ext uri="{FF2B5EF4-FFF2-40B4-BE49-F238E27FC236}">
                <a16:creationId xmlns:a16="http://schemas.microsoft.com/office/drawing/2014/main" id="{5ACC9ACD-E906-847A-F451-31CF2C005CCF}"/>
              </a:ext>
            </a:extLst>
          </p:cNvPr>
          <p:cNvSpPr txBox="1"/>
          <p:nvPr/>
        </p:nvSpPr>
        <p:spPr>
          <a:xfrm>
            <a:off x="939800" y="43434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unpaid never batched</a:t>
            </a:r>
          </a:p>
        </p:txBody>
      </p:sp>
      <p:sp>
        <p:nvSpPr>
          <p:cNvPr id="20" name="TextBox 19">
            <a:extLst>
              <a:ext uri="{FF2B5EF4-FFF2-40B4-BE49-F238E27FC236}">
                <a16:creationId xmlns:a16="http://schemas.microsoft.com/office/drawing/2014/main" id="{1EEE06AD-9D7F-C141-B21D-426FBE9DC547}"/>
              </a:ext>
            </a:extLst>
          </p:cNvPr>
          <p:cNvSpPr txBox="1"/>
          <p:nvPr/>
        </p:nvSpPr>
        <p:spPr>
          <a:xfrm>
            <a:off x="4521200" y="42164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16 tests</a:t>
            </a:r>
          </a:p>
        </p:txBody>
      </p:sp>
      <p:sp>
        <p:nvSpPr>
          <p:cNvPr id="21" name="Rectangle: Rounded Corners 20">
            <a:extLst>
              <a:ext uri="{FF2B5EF4-FFF2-40B4-BE49-F238E27FC236}">
                <a16:creationId xmlns:a16="http://schemas.microsoft.com/office/drawing/2014/main" id="{43E3A9CC-DA0D-8B43-F468-D173CB0DBA39}"/>
              </a:ext>
            </a:extLst>
          </p:cNvPr>
          <p:cNvSpPr/>
          <p:nvPr/>
        </p:nvSpPr>
        <p:spPr>
          <a:xfrm>
            <a:off x="711200" y="49784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2" name="Rectangle 21">
            <a:extLst>
              <a:ext uri="{FF2B5EF4-FFF2-40B4-BE49-F238E27FC236}">
                <a16:creationId xmlns:a16="http://schemas.microsoft.com/office/drawing/2014/main" id="{A540079D-B999-28D2-D0D0-7FD501AAE509}"/>
              </a:ext>
            </a:extLst>
          </p:cNvPr>
          <p:cNvSpPr/>
          <p:nvPr/>
        </p:nvSpPr>
        <p:spPr>
          <a:xfrm>
            <a:off x="711200" y="4978400"/>
            <a:ext cx="50800" cy="8636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3" name="TextBox 22">
            <a:extLst>
              <a:ext uri="{FF2B5EF4-FFF2-40B4-BE49-F238E27FC236}">
                <a16:creationId xmlns:a16="http://schemas.microsoft.com/office/drawing/2014/main" id="{DF2D926C-E440-741D-982C-9CF7E2A75742}"/>
              </a:ext>
            </a:extLst>
          </p:cNvPr>
          <p:cNvSpPr txBox="1"/>
          <p:nvPr/>
        </p:nvSpPr>
        <p:spPr>
          <a:xfrm>
            <a:off x="939800" y="51054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Atomic driver claim</a:t>
            </a:r>
          </a:p>
        </p:txBody>
      </p:sp>
      <p:sp>
        <p:nvSpPr>
          <p:cNvPr id="24" name="TextBox 23">
            <a:extLst>
              <a:ext uri="{FF2B5EF4-FFF2-40B4-BE49-F238E27FC236}">
                <a16:creationId xmlns:a16="http://schemas.microsoft.com/office/drawing/2014/main" id="{78BBC94D-48F2-78C6-513C-89D76FE0ED14}"/>
              </a:ext>
            </a:extLst>
          </p:cNvPr>
          <p:cNvSpPr txBox="1"/>
          <p:nvPr/>
        </p:nvSpPr>
        <p:spPr>
          <a:xfrm>
            <a:off x="939800" y="53848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exactly one winner</a:t>
            </a:r>
          </a:p>
        </p:txBody>
      </p:sp>
      <p:sp>
        <p:nvSpPr>
          <p:cNvPr id="25" name="TextBox 24">
            <a:extLst>
              <a:ext uri="{FF2B5EF4-FFF2-40B4-BE49-F238E27FC236}">
                <a16:creationId xmlns:a16="http://schemas.microsoft.com/office/drawing/2014/main" id="{1C6FEBC5-34E5-899A-D8EC-235F3745C10D}"/>
              </a:ext>
            </a:extLst>
          </p:cNvPr>
          <p:cNvSpPr txBox="1"/>
          <p:nvPr/>
        </p:nvSpPr>
        <p:spPr>
          <a:xfrm>
            <a:off x="4521200" y="52578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7 tests</a:t>
            </a:r>
          </a:p>
        </p:txBody>
      </p:sp>
      <p:sp>
        <p:nvSpPr>
          <p:cNvPr id="26" name="Rectangle: Rounded Corners 25">
            <a:extLst>
              <a:ext uri="{FF2B5EF4-FFF2-40B4-BE49-F238E27FC236}">
                <a16:creationId xmlns:a16="http://schemas.microsoft.com/office/drawing/2014/main" id="{C64EA726-2A92-C96D-855D-73041848BC5F}"/>
              </a:ext>
            </a:extLst>
          </p:cNvPr>
          <p:cNvSpPr/>
          <p:nvPr/>
        </p:nvSpPr>
        <p:spPr>
          <a:xfrm>
            <a:off x="6197600" y="18542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7" name="Rectangle 26">
            <a:extLst>
              <a:ext uri="{FF2B5EF4-FFF2-40B4-BE49-F238E27FC236}">
                <a16:creationId xmlns:a16="http://schemas.microsoft.com/office/drawing/2014/main" id="{DEE1054B-B462-D3A0-B3E2-4AF3FF25B4A6}"/>
              </a:ext>
            </a:extLst>
          </p:cNvPr>
          <p:cNvSpPr/>
          <p:nvPr/>
        </p:nvSpPr>
        <p:spPr>
          <a:xfrm>
            <a:off x="6197600" y="1854200"/>
            <a:ext cx="50800" cy="8636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8" name="TextBox 27">
            <a:extLst>
              <a:ext uri="{FF2B5EF4-FFF2-40B4-BE49-F238E27FC236}">
                <a16:creationId xmlns:a16="http://schemas.microsoft.com/office/drawing/2014/main" id="{B10B26DD-C777-10A3-344C-3939C256BDCD}"/>
              </a:ext>
            </a:extLst>
          </p:cNvPr>
          <p:cNvSpPr txBox="1"/>
          <p:nvPr/>
        </p:nvSpPr>
        <p:spPr>
          <a:xfrm>
            <a:off x="6426200" y="19812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Driver contact release</a:t>
            </a:r>
          </a:p>
        </p:txBody>
      </p:sp>
      <p:sp>
        <p:nvSpPr>
          <p:cNvPr id="29" name="TextBox 28">
            <a:extLst>
              <a:ext uri="{FF2B5EF4-FFF2-40B4-BE49-F238E27FC236}">
                <a16:creationId xmlns:a16="http://schemas.microsoft.com/office/drawing/2014/main" id="{C974583E-9FFE-4F55-0097-8B2C8C706388}"/>
              </a:ext>
            </a:extLst>
          </p:cNvPr>
          <p:cNvSpPr txBox="1"/>
          <p:nvPr/>
        </p:nvSpPr>
        <p:spPr>
          <a:xfrm>
            <a:off x="6426200" y="22606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gated on out-for-delivery</a:t>
            </a:r>
          </a:p>
        </p:txBody>
      </p:sp>
      <p:sp>
        <p:nvSpPr>
          <p:cNvPr id="30" name="TextBox 29">
            <a:extLst>
              <a:ext uri="{FF2B5EF4-FFF2-40B4-BE49-F238E27FC236}">
                <a16:creationId xmlns:a16="http://schemas.microsoft.com/office/drawing/2014/main" id="{5BFD77CB-D4BE-5165-FBFF-BF4E691C5A68}"/>
              </a:ext>
            </a:extLst>
          </p:cNvPr>
          <p:cNvSpPr txBox="1"/>
          <p:nvPr/>
        </p:nvSpPr>
        <p:spPr>
          <a:xfrm>
            <a:off x="10007600" y="21336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16 tests</a:t>
            </a:r>
          </a:p>
        </p:txBody>
      </p:sp>
      <p:sp>
        <p:nvSpPr>
          <p:cNvPr id="31" name="Rectangle: Rounded Corners 30">
            <a:extLst>
              <a:ext uri="{FF2B5EF4-FFF2-40B4-BE49-F238E27FC236}">
                <a16:creationId xmlns:a16="http://schemas.microsoft.com/office/drawing/2014/main" id="{B09113DC-A4AE-328B-B898-A4599274F70D}"/>
              </a:ext>
            </a:extLst>
          </p:cNvPr>
          <p:cNvSpPr/>
          <p:nvPr/>
        </p:nvSpPr>
        <p:spPr>
          <a:xfrm>
            <a:off x="6197600" y="28956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2" name="Rectangle 31">
            <a:extLst>
              <a:ext uri="{FF2B5EF4-FFF2-40B4-BE49-F238E27FC236}">
                <a16:creationId xmlns:a16="http://schemas.microsoft.com/office/drawing/2014/main" id="{A07B9EBA-75E2-66B7-BD47-014F5A92B374}"/>
              </a:ext>
            </a:extLst>
          </p:cNvPr>
          <p:cNvSpPr/>
          <p:nvPr/>
        </p:nvSpPr>
        <p:spPr>
          <a:xfrm>
            <a:off x="6197600" y="2895600"/>
            <a:ext cx="50800" cy="8636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3" name="TextBox 32">
            <a:extLst>
              <a:ext uri="{FF2B5EF4-FFF2-40B4-BE49-F238E27FC236}">
                <a16:creationId xmlns:a16="http://schemas.microsoft.com/office/drawing/2014/main" id="{5EEEEE46-8F7E-743F-0C73-3CDC6BC3082A}"/>
              </a:ext>
            </a:extLst>
          </p:cNvPr>
          <p:cNvSpPr txBox="1"/>
          <p:nvPr/>
        </p:nvSpPr>
        <p:spPr>
          <a:xfrm>
            <a:off x="6426200" y="30226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IST-correct on-time scoring</a:t>
            </a:r>
          </a:p>
        </p:txBody>
      </p:sp>
      <p:sp>
        <p:nvSpPr>
          <p:cNvPr id="34" name="TextBox 33">
            <a:extLst>
              <a:ext uri="{FF2B5EF4-FFF2-40B4-BE49-F238E27FC236}">
                <a16:creationId xmlns:a16="http://schemas.microsoft.com/office/drawing/2014/main" id="{B2836C60-0B0E-9A52-41FE-CDEBD8094535}"/>
              </a:ext>
            </a:extLst>
          </p:cNvPr>
          <p:cNvSpPr txBox="1"/>
          <p:nvPr/>
        </p:nvSpPr>
        <p:spPr>
          <a:xfrm>
            <a:off x="6426200" y="33020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timezone + delivery stamp</a:t>
            </a:r>
          </a:p>
        </p:txBody>
      </p:sp>
      <p:sp>
        <p:nvSpPr>
          <p:cNvPr id="35" name="TextBox 34">
            <a:extLst>
              <a:ext uri="{FF2B5EF4-FFF2-40B4-BE49-F238E27FC236}">
                <a16:creationId xmlns:a16="http://schemas.microsoft.com/office/drawing/2014/main" id="{F7C0D0A7-653D-EFC8-0532-7245BF287CDF}"/>
              </a:ext>
            </a:extLst>
          </p:cNvPr>
          <p:cNvSpPr txBox="1"/>
          <p:nvPr/>
        </p:nvSpPr>
        <p:spPr>
          <a:xfrm>
            <a:off x="10007600" y="31750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14 tests</a:t>
            </a:r>
          </a:p>
        </p:txBody>
      </p:sp>
      <p:sp>
        <p:nvSpPr>
          <p:cNvPr id="36" name="Rectangle: Rounded Corners 35">
            <a:extLst>
              <a:ext uri="{FF2B5EF4-FFF2-40B4-BE49-F238E27FC236}">
                <a16:creationId xmlns:a16="http://schemas.microsoft.com/office/drawing/2014/main" id="{A6E2DD7D-B9DB-7B09-904C-51FE5F1C784B}"/>
              </a:ext>
            </a:extLst>
          </p:cNvPr>
          <p:cNvSpPr/>
          <p:nvPr/>
        </p:nvSpPr>
        <p:spPr>
          <a:xfrm>
            <a:off x="6197600" y="39370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7" name="Rectangle 36">
            <a:extLst>
              <a:ext uri="{FF2B5EF4-FFF2-40B4-BE49-F238E27FC236}">
                <a16:creationId xmlns:a16="http://schemas.microsoft.com/office/drawing/2014/main" id="{7AAD800E-BBD0-8AA8-36D7-15736247E484}"/>
              </a:ext>
            </a:extLst>
          </p:cNvPr>
          <p:cNvSpPr/>
          <p:nvPr/>
        </p:nvSpPr>
        <p:spPr>
          <a:xfrm>
            <a:off x="6197600" y="3937000"/>
            <a:ext cx="50800" cy="8636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8" name="TextBox 37">
            <a:extLst>
              <a:ext uri="{FF2B5EF4-FFF2-40B4-BE49-F238E27FC236}">
                <a16:creationId xmlns:a16="http://schemas.microsoft.com/office/drawing/2014/main" id="{ECAD4FAC-6E16-4ADD-6089-D63EC606DF28}"/>
              </a:ext>
            </a:extLst>
          </p:cNvPr>
          <p:cNvSpPr txBox="1"/>
          <p:nvPr/>
        </p:nvSpPr>
        <p:spPr>
          <a:xfrm>
            <a:off x="6426200" y="40640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Radius auto-attach</a:t>
            </a:r>
          </a:p>
        </p:txBody>
      </p:sp>
      <p:sp>
        <p:nvSpPr>
          <p:cNvPr id="39" name="TextBox 38">
            <a:extLst>
              <a:ext uri="{FF2B5EF4-FFF2-40B4-BE49-F238E27FC236}">
                <a16:creationId xmlns:a16="http://schemas.microsoft.com/office/drawing/2014/main" id="{FDB2EFBE-EECB-DC7B-2E16-FB1A40B3EE94}"/>
              </a:ext>
            </a:extLst>
          </p:cNvPr>
          <p:cNvSpPr txBox="1"/>
          <p:nvPr/>
        </p:nvSpPr>
        <p:spPr>
          <a:xfrm>
            <a:off x="6426200" y="4343400"/>
            <a:ext cx="35560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claimed run absorbs new stops</a:t>
            </a:r>
            <a:endParaRPr lang="en-IN" sz="900">
              <a:solidFill>
                <a:srgbClr val="8B744B"/>
              </a:solidFill>
              <a:latin typeface="Segoe UI" panose="020B0502040204020203" pitchFamily="34" charset="0"/>
            </a:endParaRPr>
          </a:p>
        </p:txBody>
      </p:sp>
      <p:sp>
        <p:nvSpPr>
          <p:cNvPr id="40" name="TextBox 39">
            <a:extLst>
              <a:ext uri="{FF2B5EF4-FFF2-40B4-BE49-F238E27FC236}">
                <a16:creationId xmlns:a16="http://schemas.microsoft.com/office/drawing/2014/main" id="{2397D4CE-320F-18B0-F5A5-E0BA08A17B1E}"/>
              </a:ext>
            </a:extLst>
          </p:cNvPr>
          <p:cNvSpPr txBox="1"/>
          <p:nvPr/>
        </p:nvSpPr>
        <p:spPr>
          <a:xfrm>
            <a:off x="10007600" y="42164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15 tests</a:t>
            </a:r>
          </a:p>
        </p:txBody>
      </p:sp>
      <p:sp>
        <p:nvSpPr>
          <p:cNvPr id="41" name="Rectangle: Rounded Corners 40">
            <a:extLst>
              <a:ext uri="{FF2B5EF4-FFF2-40B4-BE49-F238E27FC236}">
                <a16:creationId xmlns:a16="http://schemas.microsoft.com/office/drawing/2014/main" id="{D85107B4-07EB-7609-726B-25C320C1E4C1}"/>
              </a:ext>
            </a:extLst>
          </p:cNvPr>
          <p:cNvSpPr/>
          <p:nvPr/>
        </p:nvSpPr>
        <p:spPr>
          <a:xfrm>
            <a:off x="6197600" y="4978400"/>
            <a:ext cx="5232400" cy="863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2" name="Rectangle 41">
            <a:extLst>
              <a:ext uri="{FF2B5EF4-FFF2-40B4-BE49-F238E27FC236}">
                <a16:creationId xmlns:a16="http://schemas.microsoft.com/office/drawing/2014/main" id="{685936B4-26C8-A176-D0A2-BEC566FE15BB}"/>
              </a:ext>
            </a:extLst>
          </p:cNvPr>
          <p:cNvSpPr/>
          <p:nvPr/>
        </p:nvSpPr>
        <p:spPr>
          <a:xfrm>
            <a:off x="6197600" y="4978400"/>
            <a:ext cx="50800" cy="8636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3" name="TextBox 42">
            <a:extLst>
              <a:ext uri="{FF2B5EF4-FFF2-40B4-BE49-F238E27FC236}">
                <a16:creationId xmlns:a16="http://schemas.microsoft.com/office/drawing/2014/main" id="{A3A32A7F-9419-18F5-FC48-49B163E2AB56}"/>
              </a:ext>
            </a:extLst>
          </p:cNvPr>
          <p:cNvSpPr txBox="1"/>
          <p:nvPr/>
        </p:nvSpPr>
        <p:spPr>
          <a:xfrm>
            <a:off x="6426200" y="5105400"/>
            <a:ext cx="3175000" cy="300082"/>
          </a:xfrm>
          <a:prstGeom prst="rect">
            <a:avLst/>
          </a:prstGeom>
          <a:noFill/>
        </p:spPr>
        <p:txBody>
          <a:bodyPr vert="horz" wrap="square" lIns="0" tIns="0" rIns="0" bIns="0" rtlCol="0">
            <a:noAutofit/>
          </a:bodyPr>
          <a:lstStyle/>
          <a:p>
            <a:r>
              <a:rPr lang="en-IN" sz="1200" b="1">
                <a:solidFill>
                  <a:srgbClr val="2F170A"/>
                </a:solidFill>
                <a:latin typeface="Segoe UI" panose="020B0502040204020203" pitchFamily="34" charset="0"/>
              </a:rPr>
              <a:t>Cross-customer isolation</a:t>
            </a:r>
          </a:p>
        </p:txBody>
      </p:sp>
      <p:sp>
        <p:nvSpPr>
          <p:cNvPr id="44" name="TextBox 43">
            <a:extLst>
              <a:ext uri="{FF2B5EF4-FFF2-40B4-BE49-F238E27FC236}">
                <a16:creationId xmlns:a16="http://schemas.microsoft.com/office/drawing/2014/main" id="{7E80808E-42B2-47C1-9590-A0F51529BF44}"/>
              </a:ext>
            </a:extLst>
          </p:cNvPr>
          <p:cNvSpPr txBox="1"/>
          <p:nvPr/>
        </p:nvSpPr>
        <p:spPr>
          <a:xfrm>
            <a:off x="6426200" y="5384800"/>
            <a:ext cx="3556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404, never 403</a:t>
            </a:r>
          </a:p>
        </p:txBody>
      </p:sp>
      <p:sp>
        <p:nvSpPr>
          <p:cNvPr id="45" name="TextBox 44">
            <a:extLst>
              <a:ext uri="{FF2B5EF4-FFF2-40B4-BE49-F238E27FC236}">
                <a16:creationId xmlns:a16="http://schemas.microsoft.com/office/drawing/2014/main" id="{611AA7B9-443D-CB4E-3CCD-022C9CA0045A}"/>
              </a:ext>
            </a:extLst>
          </p:cNvPr>
          <p:cNvSpPr txBox="1"/>
          <p:nvPr/>
        </p:nvSpPr>
        <p:spPr>
          <a:xfrm>
            <a:off x="10007600" y="5257800"/>
            <a:ext cx="1219200" cy="300082"/>
          </a:xfrm>
          <a:prstGeom prst="rect">
            <a:avLst/>
          </a:prstGeom>
          <a:noFill/>
        </p:spPr>
        <p:txBody>
          <a:bodyPr vert="horz" wrap="square" lIns="0" tIns="0" rIns="0" bIns="0" rtlCol="0">
            <a:noAutofit/>
          </a:bodyPr>
          <a:lstStyle/>
          <a:p>
            <a:pPr algn="r"/>
            <a:r>
              <a:rPr lang="en-IN" sz="1100" b="1">
                <a:solidFill>
                  <a:srgbClr val="0284C7"/>
                </a:solidFill>
                <a:latin typeface="Segoe UI" panose="020B0502040204020203" pitchFamily="34" charset="0"/>
              </a:rPr>
              <a:t>5 tests</a:t>
            </a:r>
          </a:p>
        </p:txBody>
      </p:sp>
      <p:sp>
        <p:nvSpPr>
          <p:cNvPr id="46" name="Rectangle: Rounded Corners 45">
            <a:extLst>
              <a:ext uri="{FF2B5EF4-FFF2-40B4-BE49-F238E27FC236}">
                <a16:creationId xmlns:a16="http://schemas.microsoft.com/office/drawing/2014/main" id="{738BB828-F2CB-7F99-EDB1-299E04220B8E}"/>
              </a:ext>
            </a:extLst>
          </p:cNvPr>
          <p:cNvSpPr/>
          <p:nvPr/>
        </p:nvSpPr>
        <p:spPr>
          <a:xfrm>
            <a:off x="711200" y="6096000"/>
            <a:ext cx="10769600" cy="406400"/>
          </a:xfrm>
          <a:prstGeom prst="roundRect">
            <a:avLst>
              <a:gd name="adj" fmla="val -10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7" name="TextBox 46">
            <a:extLst>
              <a:ext uri="{FF2B5EF4-FFF2-40B4-BE49-F238E27FC236}">
                <a16:creationId xmlns:a16="http://schemas.microsoft.com/office/drawing/2014/main" id="{9AEFACB2-3092-BE2D-4DF7-44BAD15488B6}"/>
              </a:ext>
            </a:extLst>
          </p:cNvPr>
          <p:cNvSpPr txBox="1"/>
          <p:nvPr/>
        </p:nvSpPr>
        <p:spPr>
          <a:xfrm>
            <a:off x="914400" y="6197600"/>
            <a:ext cx="10363200" cy="300082"/>
          </a:xfrm>
          <a:prstGeom prst="rect">
            <a:avLst/>
          </a:prstGeom>
          <a:noFill/>
        </p:spPr>
        <p:txBody>
          <a:bodyPr vert="horz" wrap="square" lIns="0" tIns="0" rIns="0" bIns="0" rtlCol="0">
            <a:noAutofit/>
          </a:bodyPr>
          <a:lstStyle/>
          <a:p>
            <a:r>
              <a:rPr lang="en-US" sz="1200" b="1">
                <a:solidFill>
                  <a:srgbClr val="FFFFFF"/>
                </a:solidFill>
                <a:latin typeface="Segoe UI" panose="020B0502040204020203" pitchFamily="34" charset="0"/>
              </a:rPr>
              <a:t>127 automated tests across 8 suites - all passing</a:t>
            </a:r>
            <a:endParaRPr lang="en-IN" sz="1200" b="1">
              <a:solidFill>
                <a:srgbClr val="FFFFFF"/>
              </a:solidFill>
              <a:latin typeface="Segoe UI" panose="020B0502040204020203" pitchFamily="34" charset="0"/>
            </a:endParaRPr>
          </a:p>
        </p:txBody>
      </p:sp>
      <p:sp>
        <p:nvSpPr>
          <p:cNvPr id="48" name="TextBox 47">
            <a:extLst>
              <a:ext uri="{FF2B5EF4-FFF2-40B4-BE49-F238E27FC236}">
                <a16:creationId xmlns:a16="http://schemas.microsoft.com/office/drawing/2014/main" id="{EC38A90E-60C0-7D2C-A8D7-A6243E9C2871}"/>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49" name="TextBox 48">
            <a:extLst>
              <a:ext uri="{FF2B5EF4-FFF2-40B4-BE49-F238E27FC236}">
                <a16:creationId xmlns:a16="http://schemas.microsoft.com/office/drawing/2014/main" id="{11729F59-24BE-AD08-8A88-616484C20270}"/>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15</a:t>
            </a:r>
          </a:p>
        </p:txBody>
      </p:sp>
    </p:spTree>
    <p:extLst>
      <p:ext uri="{BB962C8B-B14F-4D97-AF65-F5344CB8AC3E}">
        <p14:creationId xmlns:p14="http://schemas.microsoft.com/office/powerpoint/2010/main" val="557034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4979F4-A66A-2D23-1B61-128A298908D4}"/>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4CB0448D-20DD-73DF-D155-CFDB6396347C}"/>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FUNCTIONALITY &amp; VALIDATION</a:t>
            </a:r>
          </a:p>
        </p:txBody>
      </p:sp>
      <p:sp>
        <p:nvSpPr>
          <p:cNvPr id="4" name="TextBox 3">
            <a:extLst>
              <a:ext uri="{FF2B5EF4-FFF2-40B4-BE49-F238E27FC236}">
                <a16:creationId xmlns:a16="http://schemas.microsoft.com/office/drawing/2014/main" id="{BC9266EC-C1A1-6F3D-8CE9-8308814A08ED}"/>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Representative test cases and results</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F8884231-E289-5B36-A97B-629511440326}"/>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Rectangle 5">
            <a:extLst>
              <a:ext uri="{FF2B5EF4-FFF2-40B4-BE49-F238E27FC236}">
                <a16:creationId xmlns:a16="http://schemas.microsoft.com/office/drawing/2014/main" id="{D0802D08-CE92-DDB5-456F-C18E8A5ECDEE}"/>
              </a:ext>
            </a:extLst>
          </p:cNvPr>
          <p:cNvSpPr/>
          <p:nvPr/>
        </p:nvSpPr>
        <p:spPr>
          <a:xfrm>
            <a:off x="711200" y="1803400"/>
            <a:ext cx="10769600" cy="3429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 name="TextBox 6">
            <a:extLst>
              <a:ext uri="{FF2B5EF4-FFF2-40B4-BE49-F238E27FC236}">
                <a16:creationId xmlns:a16="http://schemas.microsoft.com/office/drawing/2014/main" id="{F20BEB59-C0CF-104B-DDEA-EF908F0AC492}"/>
              </a:ext>
            </a:extLst>
          </p:cNvPr>
          <p:cNvSpPr txBox="1"/>
          <p:nvPr/>
        </p:nvSpPr>
        <p:spPr>
          <a:xfrm>
            <a:off x="812800" y="1892300"/>
            <a:ext cx="2844800" cy="300082"/>
          </a:xfrm>
          <a:prstGeom prst="rect">
            <a:avLst/>
          </a:prstGeom>
          <a:noFill/>
        </p:spPr>
        <p:txBody>
          <a:bodyPr vert="horz" wrap="square" lIns="0" tIns="0" rIns="0" bIns="0" rtlCol="0">
            <a:noAutofit/>
          </a:bodyPr>
          <a:lstStyle/>
          <a:p>
            <a:r>
              <a:rPr lang="en-IN" sz="850" b="1">
                <a:solidFill>
                  <a:srgbClr val="FFFFFF"/>
                </a:solidFill>
                <a:latin typeface="Segoe UI" panose="020B0502040204020203" pitchFamily="34" charset="0"/>
              </a:rPr>
              <a:t>Test case</a:t>
            </a:r>
          </a:p>
        </p:txBody>
      </p:sp>
      <p:sp>
        <p:nvSpPr>
          <p:cNvPr id="8" name="TextBox 7">
            <a:extLst>
              <a:ext uri="{FF2B5EF4-FFF2-40B4-BE49-F238E27FC236}">
                <a16:creationId xmlns:a16="http://schemas.microsoft.com/office/drawing/2014/main" id="{07B14F57-0862-8B41-CBAB-12448EB71B92}"/>
              </a:ext>
            </a:extLst>
          </p:cNvPr>
          <p:cNvSpPr txBox="1"/>
          <p:nvPr/>
        </p:nvSpPr>
        <p:spPr>
          <a:xfrm>
            <a:off x="3708400" y="1892300"/>
            <a:ext cx="2590800" cy="300082"/>
          </a:xfrm>
          <a:prstGeom prst="rect">
            <a:avLst/>
          </a:prstGeom>
          <a:noFill/>
        </p:spPr>
        <p:txBody>
          <a:bodyPr vert="horz" wrap="square" lIns="0" tIns="0" rIns="0" bIns="0" rtlCol="0">
            <a:noAutofit/>
          </a:bodyPr>
          <a:lstStyle/>
          <a:p>
            <a:r>
              <a:rPr lang="en-IN" sz="850" b="1">
                <a:solidFill>
                  <a:srgbClr val="FFFFFF"/>
                </a:solidFill>
                <a:latin typeface="Segoe UI" panose="020B0502040204020203" pitchFamily="34" charset="0"/>
              </a:rPr>
              <a:t>Input / data</a:t>
            </a:r>
          </a:p>
        </p:txBody>
      </p:sp>
      <p:sp>
        <p:nvSpPr>
          <p:cNvPr id="9" name="TextBox 8">
            <a:extLst>
              <a:ext uri="{FF2B5EF4-FFF2-40B4-BE49-F238E27FC236}">
                <a16:creationId xmlns:a16="http://schemas.microsoft.com/office/drawing/2014/main" id="{C4A5B117-F441-44B0-D3B1-A12FE8442D97}"/>
              </a:ext>
            </a:extLst>
          </p:cNvPr>
          <p:cNvSpPr txBox="1"/>
          <p:nvPr/>
        </p:nvSpPr>
        <p:spPr>
          <a:xfrm>
            <a:off x="6350000" y="1892300"/>
            <a:ext cx="2032000" cy="300082"/>
          </a:xfrm>
          <a:prstGeom prst="rect">
            <a:avLst/>
          </a:prstGeom>
          <a:noFill/>
        </p:spPr>
        <p:txBody>
          <a:bodyPr vert="horz" wrap="square" lIns="0" tIns="0" rIns="0" bIns="0" rtlCol="0">
            <a:noAutofit/>
          </a:bodyPr>
          <a:lstStyle/>
          <a:p>
            <a:r>
              <a:rPr lang="en-IN" sz="850" b="1">
                <a:solidFill>
                  <a:srgbClr val="FFFFFF"/>
                </a:solidFill>
                <a:latin typeface="Segoe UI" panose="020B0502040204020203" pitchFamily="34" charset="0"/>
              </a:rPr>
              <a:t>Expected</a:t>
            </a:r>
          </a:p>
        </p:txBody>
      </p:sp>
      <p:sp>
        <p:nvSpPr>
          <p:cNvPr id="10" name="TextBox 9">
            <a:extLst>
              <a:ext uri="{FF2B5EF4-FFF2-40B4-BE49-F238E27FC236}">
                <a16:creationId xmlns:a16="http://schemas.microsoft.com/office/drawing/2014/main" id="{56D05B6A-2470-6325-14DB-D4B8E2AE310C}"/>
              </a:ext>
            </a:extLst>
          </p:cNvPr>
          <p:cNvSpPr txBox="1"/>
          <p:nvPr/>
        </p:nvSpPr>
        <p:spPr>
          <a:xfrm>
            <a:off x="8432800" y="1892300"/>
            <a:ext cx="2032000" cy="300082"/>
          </a:xfrm>
          <a:prstGeom prst="rect">
            <a:avLst/>
          </a:prstGeom>
          <a:noFill/>
        </p:spPr>
        <p:txBody>
          <a:bodyPr vert="horz" wrap="square" lIns="0" tIns="0" rIns="0" bIns="0" rtlCol="0">
            <a:noAutofit/>
          </a:bodyPr>
          <a:lstStyle/>
          <a:p>
            <a:r>
              <a:rPr lang="en-IN" sz="850" b="1">
                <a:solidFill>
                  <a:srgbClr val="FFFFFF"/>
                </a:solidFill>
                <a:latin typeface="Segoe UI" panose="020B0502040204020203" pitchFamily="34" charset="0"/>
              </a:rPr>
              <a:t>Actual</a:t>
            </a:r>
          </a:p>
        </p:txBody>
      </p:sp>
      <p:sp>
        <p:nvSpPr>
          <p:cNvPr id="11" name="TextBox 10">
            <a:extLst>
              <a:ext uri="{FF2B5EF4-FFF2-40B4-BE49-F238E27FC236}">
                <a16:creationId xmlns:a16="http://schemas.microsoft.com/office/drawing/2014/main" id="{382A4621-5ECD-064B-EC16-D747573283DF}"/>
              </a:ext>
            </a:extLst>
          </p:cNvPr>
          <p:cNvSpPr txBox="1"/>
          <p:nvPr/>
        </p:nvSpPr>
        <p:spPr>
          <a:xfrm>
            <a:off x="10515600" y="1892300"/>
            <a:ext cx="762000" cy="300082"/>
          </a:xfrm>
          <a:prstGeom prst="rect">
            <a:avLst/>
          </a:prstGeom>
          <a:noFill/>
        </p:spPr>
        <p:txBody>
          <a:bodyPr vert="horz" wrap="square" lIns="0" tIns="0" rIns="0" bIns="0" rtlCol="0">
            <a:noAutofit/>
          </a:bodyPr>
          <a:lstStyle/>
          <a:p>
            <a:endParaRPr lang="en-IN" sz="850" b="1">
              <a:solidFill>
                <a:srgbClr val="FFFFFF"/>
              </a:solidFill>
              <a:latin typeface="Segoe UI" panose="020B0502040204020203" pitchFamily="34" charset="0"/>
            </a:endParaRPr>
          </a:p>
        </p:txBody>
      </p:sp>
      <p:sp>
        <p:nvSpPr>
          <p:cNvPr id="12" name="Rectangle 11">
            <a:extLst>
              <a:ext uri="{FF2B5EF4-FFF2-40B4-BE49-F238E27FC236}">
                <a16:creationId xmlns:a16="http://schemas.microsoft.com/office/drawing/2014/main" id="{118CA5DA-185A-11D0-BAC2-36D8398C29B6}"/>
              </a:ext>
            </a:extLst>
          </p:cNvPr>
          <p:cNvSpPr/>
          <p:nvPr/>
        </p:nvSpPr>
        <p:spPr>
          <a:xfrm>
            <a:off x="711200" y="2146300"/>
            <a:ext cx="10769600" cy="3429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3" name="TextBox 12">
            <a:extLst>
              <a:ext uri="{FF2B5EF4-FFF2-40B4-BE49-F238E27FC236}">
                <a16:creationId xmlns:a16="http://schemas.microsoft.com/office/drawing/2014/main" id="{C70D5C69-94D1-9EFC-4913-CB49DD1D3016}"/>
              </a:ext>
            </a:extLst>
          </p:cNvPr>
          <p:cNvSpPr txBox="1"/>
          <p:nvPr/>
        </p:nvSpPr>
        <p:spPr>
          <a:xfrm>
            <a:off x="812800" y="22352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On-time rate, evening delivery</a:t>
            </a:r>
          </a:p>
        </p:txBody>
      </p:sp>
      <p:sp>
        <p:nvSpPr>
          <p:cNvPr id="14" name="TextBox 13">
            <a:extLst>
              <a:ext uri="{FF2B5EF4-FFF2-40B4-BE49-F238E27FC236}">
                <a16:creationId xmlns:a16="http://schemas.microsoft.com/office/drawing/2014/main" id="{CA5B06C6-2DB0-8FB2-2AB7-174854D3FE09}"/>
              </a:ext>
            </a:extLst>
          </p:cNvPr>
          <p:cNvSpPr txBox="1"/>
          <p:nvPr/>
        </p:nvSpPr>
        <p:spPr>
          <a:xfrm>
            <a:off x="3708400" y="2235200"/>
            <a:ext cx="2590800" cy="300082"/>
          </a:xfrm>
          <a:prstGeom prst="rect">
            <a:avLst/>
          </a:prstGeom>
          <a:noFill/>
        </p:spPr>
        <p:txBody>
          <a:bodyPr vert="horz" wrap="square" lIns="0" tIns="0" rIns="0" bIns="0" rtlCol="0">
            <a:noAutofit/>
          </a:bodyPr>
          <a:lstStyle/>
          <a:p>
            <a:r>
              <a:rPr lang="en-US" sz="850">
                <a:solidFill>
                  <a:srgbClr val="2F170A"/>
                </a:solidFill>
                <a:latin typeface="Segoe UI" panose="020B0502040204020203" pitchFamily="34" charset="0"/>
              </a:rPr>
              <a:t>Delivered 23:36 IST, window 10:00-18:00</a:t>
            </a:r>
            <a:endParaRPr lang="en-IN" sz="850">
              <a:solidFill>
                <a:srgbClr val="2F170A"/>
              </a:solidFill>
              <a:latin typeface="Segoe UI" panose="020B0502040204020203" pitchFamily="34" charset="0"/>
            </a:endParaRPr>
          </a:p>
        </p:txBody>
      </p:sp>
      <p:sp>
        <p:nvSpPr>
          <p:cNvPr id="15" name="TextBox 14">
            <a:extLst>
              <a:ext uri="{FF2B5EF4-FFF2-40B4-BE49-F238E27FC236}">
                <a16:creationId xmlns:a16="http://schemas.microsoft.com/office/drawing/2014/main" id="{4932AA17-FBD4-B135-2560-49592C2B41D6}"/>
              </a:ext>
            </a:extLst>
          </p:cNvPr>
          <p:cNvSpPr txBox="1"/>
          <p:nvPr/>
        </p:nvSpPr>
        <p:spPr>
          <a:xfrm>
            <a:off x="6350000" y="22352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Late</a:t>
            </a:r>
          </a:p>
        </p:txBody>
      </p:sp>
      <p:sp>
        <p:nvSpPr>
          <p:cNvPr id="16" name="TextBox 15">
            <a:extLst>
              <a:ext uri="{FF2B5EF4-FFF2-40B4-BE49-F238E27FC236}">
                <a16:creationId xmlns:a16="http://schemas.microsoft.com/office/drawing/2014/main" id="{5C02B242-7583-5449-246C-DD0030F1C41E}"/>
              </a:ext>
            </a:extLst>
          </p:cNvPr>
          <p:cNvSpPr txBox="1"/>
          <p:nvPr/>
        </p:nvSpPr>
        <p:spPr>
          <a:xfrm>
            <a:off x="8432800" y="22352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Late (92.6% network)</a:t>
            </a:r>
          </a:p>
        </p:txBody>
      </p:sp>
      <p:sp>
        <p:nvSpPr>
          <p:cNvPr id="17" name="TextBox 16">
            <a:extLst>
              <a:ext uri="{FF2B5EF4-FFF2-40B4-BE49-F238E27FC236}">
                <a16:creationId xmlns:a16="http://schemas.microsoft.com/office/drawing/2014/main" id="{F4423A6D-7A13-9B73-3CDF-2802D968A2A1}"/>
              </a:ext>
            </a:extLst>
          </p:cNvPr>
          <p:cNvSpPr txBox="1"/>
          <p:nvPr/>
        </p:nvSpPr>
        <p:spPr>
          <a:xfrm>
            <a:off x="10515600" y="22352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18" name="Rectangle 17">
            <a:extLst>
              <a:ext uri="{FF2B5EF4-FFF2-40B4-BE49-F238E27FC236}">
                <a16:creationId xmlns:a16="http://schemas.microsoft.com/office/drawing/2014/main" id="{54739076-ECCD-926E-6C43-C767084B9D29}"/>
              </a:ext>
            </a:extLst>
          </p:cNvPr>
          <p:cNvSpPr/>
          <p:nvPr/>
        </p:nvSpPr>
        <p:spPr>
          <a:xfrm>
            <a:off x="711200" y="2489200"/>
            <a:ext cx="10769600" cy="3429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9" name="TextBox 18">
            <a:extLst>
              <a:ext uri="{FF2B5EF4-FFF2-40B4-BE49-F238E27FC236}">
                <a16:creationId xmlns:a16="http://schemas.microsoft.com/office/drawing/2014/main" id="{4FE653A8-89AA-2034-D716-8FC3ABCA95E1}"/>
              </a:ext>
            </a:extLst>
          </p:cNvPr>
          <p:cNvSpPr txBox="1"/>
          <p:nvPr/>
        </p:nvSpPr>
        <p:spPr>
          <a:xfrm>
            <a:off x="812800" y="25781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On-time rate, in-window delivery</a:t>
            </a:r>
          </a:p>
        </p:txBody>
      </p:sp>
      <p:sp>
        <p:nvSpPr>
          <p:cNvPr id="20" name="TextBox 19">
            <a:extLst>
              <a:ext uri="{FF2B5EF4-FFF2-40B4-BE49-F238E27FC236}">
                <a16:creationId xmlns:a16="http://schemas.microsoft.com/office/drawing/2014/main" id="{4D536062-A3A9-6D40-72F5-28A4DD0EB22C}"/>
              </a:ext>
            </a:extLst>
          </p:cNvPr>
          <p:cNvSpPr txBox="1"/>
          <p:nvPr/>
        </p:nvSpPr>
        <p:spPr>
          <a:xfrm>
            <a:off x="3708400" y="2578100"/>
            <a:ext cx="2590800" cy="300082"/>
          </a:xfrm>
          <a:prstGeom prst="rect">
            <a:avLst/>
          </a:prstGeom>
          <a:noFill/>
        </p:spPr>
        <p:txBody>
          <a:bodyPr vert="horz" wrap="square" lIns="0" tIns="0" rIns="0" bIns="0" rtlCol="0">
            <a:noAutofit/>
          </a:bodyPr>
          <a:lstStyle/>
          <a:p>
            <a:r>
              <a:rPr lang="en-US" sz="850">
                <a:solidFill>
                  <a:srgbClr val="2F170A"/>
                </a:solidFill>
                <a:latin typeface="Segoe UI" panose="020B0502040204020203" pitchFamily="34" charset="0"/>
              </a:rPr>
              <a:t>Delivered 16:20 IST, window 10:00-18:00</a:t>
            </a:r>
            <a:endParaRPr lang="en-IN" sz="850">
              <a:solidFill>
                <a:srgbClr val="2F170A"/>
              </a:solidFill>
              <a:latin typeface="Segoe UI" panose="020B0502040204020203" pitchFamily="34" charset="0"/>
            </a:endParaRPr>
          </a:p>
        </p:txBody>
      </p:sp>
      <p:sp>
        <p:nvSpPr>
          <p:cNvPr id="21" name="TextBox 20">
            <a:extLst>
              <a:ext uri="{FF2B5EF4-FFF2-40B4-BE49-F238E27FC236}">
                <a16:creationId xmlns:a16="http://schemas.microsoft.com/office/drawing/2014/main" id="{7F1E8A4E-8551-324F-5A41-614EBC602A2E}"/>
              </a:ext>
            </a:extLst>
          </p:cNvPr>
          <p:cNvSpPr txBox="1"/>
          <p:nvPr/>
        </p:nvSpPr>
        <p:spPr>
          <a:xfrm>
            <a:off x="6350000" y="25781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On time</a:t>
            </a:r>
          </a:p>
        </p:txBody>
      </p:sp>
      <p:sp>
        <p:nvSpPr>
          <p:cNvPr id="22" name="TextBox 21">
            <a:extLst>
              <a:ext uri="{FF2B5EF4-FFF2-40B4-BE49-F238E27FC236}">
                <a16:creationId xmlns:a16="http://schemas.microsoft.com/office/drawing/2014/main" id="{660F3826-1781-595A-8022-6C55F661C9B1}"/>
              </a:ext>
            </a:extLst>
          </p:cNvPr>
          <p:cNvSpPr txBox="1"/>
          <p:nvPr/>
        </p:nvSpPr>
        <p:spPr>
          <a:xfrm>
            <a:off x="8432800" y="25781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On time</a:t>
            </a:r>
          </a:p>
        </p:txBody>
      </p:sp>
      <p:sp>
        <p:nvSpPr>
          <p:cNvPr id="23" name="TextBox 22">
            <a:extLst>
              <a:ext uri="{FF2B5EF4-FFF2-40B4-BE49-F238E27FC236}">
                <a16:creationId xmlns:a16="http://schemas.microsoft.com/office/drawing/2014/main" id="{72773449-5F65-BCF6-D541-3D5F681FCFFB}"/>
              </a:ext>
            </a:extLst>
          </p:cNvPr>
          <p:cNvSpPr txBox="1"/>
          <p:nvPr/>
        </p:nvSpPr>
        <p:spPr>
          <a:xfrm>
            <a:off x="10515600" y="25781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24" name="Rectangle 23">
            <a:extLst>
              <a:ext uri="{FF2B5EF4-FFF2-40B4-BE49-F238E27FC236}">
                <a16:creationId xmlns:a16="http://schemas.microsoft.com/office/drawing/2014/main" id="{093FDEDF-0C46-0BC7-2A0A-52318DDE4CCF}"/>
              </a:ext>
            </a:extLst>
          </p:cNvPr>
          <p:cNvSpPr/>
          <p:nvPr/>
        </p:nvSpPr>
        <p:spPr>
          <a:xfrm>
            <a:off x="711200" y="2832100"/>
            <a:ext cx="10769600" cy="3429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5" name="TextBox 24">
            <a:extLst>
              <a:ext uri="{FF2B5EF4-FFF2-40B4-BE49-F238E27FC236}">
                <a16:creationId xmlns:a16="http://schemas.microsoft.com/office/drawing/2014/main" id="{1F8B0080-6AF8-3094-C3D3-646E7B6B42C4}"/>
              </a:ext>
            </a:extLst>
          </p:cNvPr>
          <p:cNvSpPr txBox="1"/>
          <p:nvPr/>
        </p:nvSpPr>
        <p:spPr>
          <a:xfrm>
            <a:off x="812800" y="29210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Tier with no deliveries</a:t>
            </a:r>
          </a:p>
        </p:txBody>
      </p:sp>
      <p:sp>
        <p:nvSpPr>
          <p:cNvPr id="26" name="TextBox 25">
            <a:extLst>
              <a:ext uri="{FF2B5EF4-FFF2-40B4-BE49-F238E27FC236}">
                <a16:creationId xmlns:a16="http://schemas.microsoft.com/office/drawing/2014/main" id="{F7C55940-0AAA-D43E-CC6A-61DEE9F4A481}"/>
              </a:ext>
            </a:extLst>
          </p:cNvPr>
          <p:cNvSpPr txBox="1"/>
          <p:nvPr/>
        </p:nvSpPr>
        <p:spPr>
          <a:xfrm>
            <a:off x="3708400" y="2921000"/>
            <a:ext cx="25908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Express, 0 delivered</a:t>
            </a:r>
          </a:p>
        </p:txBody>
      </p:sp>
      <p:sp>
        <p:nvSpPr>
          <p:cNvPr id="27" name="TextBox 26">
            <a:extLst>
              <a:ext uri="{FF2B5EF4-FFF2-40B4-BE49-F238E27FC236}">
                <a16:creationId xmlns:a16="http://schemas.microsoft.com/office/drawing/2014/main" id="{23648B69-4177-AB39-47C5-6B0A3AD9D9FF}"/>
              </a:ext>
            </a:extLst>
          </p:cNvPr>
          <p:cNvSpPr txBox="1"/>
          <p:nvPr/>
        </p:nvSpPr>
        <p:spPr>
          <a:xfrm>
            <a:off x="6350000" y="29210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null, not 0</a:t>
            </a:r>
          </a:p>
        </p:txBody>
      </p:sp>
      <p:sp>
        <p:nvSpPr>
          <p:cNvPr id="28" name="TextBox 27">
            <a:extLst>
              <a:ext uri="{FF2B5EF4-FFF2-40B4-BE49-F238E27FC236}">
                <a16:creationId xmlns:a16="http://schemas.microsoft.com/office/drawing/2014/main" id="{EDA21BEE-67BB-2369-04F5-CA09B637EFAD}"/>
              </a:ext>
            </a:extLst>
          </p:cNvPr>
          <p:cNvSpPr txBox="1"/>
          <p:nvPr/>
        </p:nvSpPr>
        <p:spPr>
          <a:xfrm>
            <a:off x="8432800" y="29210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null - renders "-"</a:t>
            </a:r>
          </a:p>
        </p:txBody>
      </p:sp>
      <p:sp>
        <p:nvSpPr>
          <p:cNvPr id="29" name="TextBox 28">
            <a:extLst>
              <a:ext uri="{FF2B5EF4-FFF2-40B4-BE49-F238E27FC236}">
                <a16:creationId xmlns:a16="http://schemas.microsoft.com/office/drawing/2014/main" id="{0A2FD791-C253-478F-C078-7B84C7E95F4A}"/>
              </a:ext>
            </a:extLst>
          </p:cNvPr>
          <p:cNvSpPr txBox="1"/>
          <p:nvPr/>
        </p:nvSpPr>
        <p:spPr>
          <a:xfrm>
            <a:off x="10515600" y="29210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30" name="Rectangle 29">
            <a:extLst>
              <a:ext uri="{FF2B5EF4-FFF2-40B4-BE49-F238E27FC236}">
                <a16:creationId xmlns:a16="http://schemas.microsoft.com/office/drawing/2014/main" id="{F4173CF4-5383-D667-5E2F-DA131CE9F582}"/>
              </a:ext>
            </a:extLst>
          </p:cNvPr>
          <p:cNvSpPr/>
          <p:nvPr/>
        </p:nvSpPr>
        <p:spPr>
          <a:xfrm>
            <a:off x="711200" y="3175000"/>
            <a:ext cx="10769600" cy="3429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1" name="TextBox 30">
            <a:extLst>
              <a:ext uri="{FF2B5EF4-FFF2-40B4-BE49-F238E27FC236}">
                <a16:creationId xmlns:a16="http://schemas.microsoft.com/office/drawing/2014/main" id="{291204DA-10C9-D3D1-01B6-83AD887A0E85}"/>
              </a:ext>
            </a:extLst>
          </p:cNvPr>
          <p:cNvSpPr txBox="1"/>
          <p:nvPr/>
        </p:nvSpPr>
        <p:spPr>
          <a:xfrm>
            <a:off x="812800" y="32639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Unpaid cannot be batched</a:t>
            </a:r>
          </a:p>
        </p:txBody>
      </p:sp>
      <p:sp>
        <p:nvSpPr>
          <p:cNvPr id="32" name="TextBox 31">
            <a:extLst>
              <a:ext uri="{FF2B5EF4-FFF2-40B4-BE49-F238E27FC236}">
                <a16:creationId xmlns:a16="http://schemas.microsoft.com/office/drawing/2014/main" id="{2F30BC71-8CE7-C3A8-3B6C-DC09042DE104}"/>
              </a:ext>
            </a:extLst>
          </p:cNvPr>
          <p:cNvSpPr txBox="1"/>
          <p:nvPr/>
        </p:nvSpPr>
        <p:spPr>
          <a:xfrm>
            <a:off x="3708400" y="3263900"/>
            <a:ext cx="2590800" cy="300082"/>
          </a:xfrm>
          <a:prstGeom prst="rect">
            <a:avLst/>
          </a:prstGeom>
          <a:noFill/>
        </p:spPr>
        <p:txBody>
          <a:bodyPr vert="horz" wrap="square" lIns="0" tIns="0" rIns="0" bIns="0" rtlCol="0">
            <a:noAutofit/>
          </a:bodyPr>
          <a:lstStyle/>
          <a:p>
            <a:r>
              <a:rPr lang="en-US" sz="850">
                <a:solidFill>
                  <a:srgbClr val="2F170A"/>
                </a:solidFill>
                <a:latin typeface="Segoe UI" panose="020B0502040204020203" pitchFamily="34" charset="0"/>
              </a:rPr>
              <a:t>1 unpaid request, POST /schedules</a:t>
            </a:r>
            <a:endParaRPr lang="en-IN" sz="850">
              <a:solidFill>
                <a:srgbClr val="2F170A"/>
              </a:solidFill>
              <a:latin typeface="Segoe UI" panose="020B0502040204020203" pitchFamily="34" charset="0"/>
            </a:endParaRPr>
          </a:p>
        </p:txBody>
      </p:sp>
      <p:sp>
        <p:nvSpPr>
          <p:cNvPr id="33" name="TextBox 32">
            <a:extLst>
              <a:ext uri="{FF2B5EF4-FFF2-40B4-BE49-F238E27FC236}">
                <a16:creationId xmlns:a16="http://schemas.microsoft.com/office/drawing/2014/main" id="{BBC230AB-71B2-6EB4-B8A6-73F74EBB127D}"/>
              </a:ext>
            </a:extLst>
          </p:cNvPr>
          <p:cNvSpPr txBox="1"/>
          <p:nvPr/>
        </p:nvSpPr>
        <p:spPr>
          <a:xfrm>
            <a:off x="6350000" y="32639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402</a:t>
            </a:r>
          </a:p>
        </p:txBody>
      </p:sp>
      <p:sp>
        <p:nvSpPr>
          <p:cNvPr id="34" name="TextBox 33">
            <a:extLst>
              <a:ext uri="{FF2B5EF4-FFF2-40B4-BE49-F238E27FC236}">
                <a16:creationId xmlns:a16="http://schemas.microsoft.com/office/drawing/2014/main" id="{4C47D246-B981-ECCC-C67F-E634446500F4}"/>
              </a:ext>
            </a:extLst>
          </p:cNvPr>
          <p:cNvSpPr txBox="1"/>
          <p:nvPr/>
        </p:nvSpPr>
        <p:spPr>
          <a:xfrm>
            <a:off x="8432800" y="32639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402 Payment Required</a:t>
            </a:r>
          </a:p>
        </p:txBody>
      </p:sp>
      <p:sp>
        <p:nvSpPr>
          <p:cNvPr id="35" name="TextBox 34">
            <a:extLst>
              <a:ext uri="{FF2B5EF4-FFF2-40B4-BE49-F238E27FC236}">
                <a16:creationId xmlns:a16="http://schemas.microsoft.com/office/drawing/2014/main" id="{2979B4A6-7F9E-66F7-0D6F-B750CC53E884}"/>
              </a:ext>
            </a:extLst>
          </p:cNvPr>
          <p:cNvSpPr txBox="1"/>
          <p:nvPr/>
        </p:nvSpPr>
        <p:spPr>
          <a:xfrm>
            <a:off x="10515600" y="32639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36" name="Rectangle 35">
            <a:extLst>
              <a:ext uri="{FF2B5EF4-FFF2-40B4-BE49-F238E27FC236}">
                <a16:creationId xmlns:a16="http://schemas.microsoft.com/office/drawing/2014/main" id="{B655ED19-9007-0828-CD96-19CA8B665837}"/>
              </a:ext>
            </a:extLst>
          </p:cNvPr>
          <p:cNvSpPr/>
          <p:nvPr/>
        </p:nvSpPr>
        <p:spPr>
          <a:xfrm>
            <a:off x="711200" y="3517900"/>
            <a:ext cx="10769600" cy="3429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7" name="TextBox 36">
            <a:extLst>
              <a:ext uri="{FF2B5EF4-FFF2-40B4-BE49-F238E27FC236}">
                <a16:creationId xmlns:a16="http://schemas.microsoft.com/office/drawing/2014/main" id="{9214CFB1-996E-422D-37BC-F0743B8358DC}"/>
              </a:ext>
            </a:extLst>
          </p:cNvPr>
          <p:cNvSpPr txBox="1"/>
          <p:nvPr/>
        </p:nvSpPr>
        <p:spPr>
          <a:xfrm>
            <a:off x="812800" y="36068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Unpaid hidden from queue</a:t>
            </a:r>
          </a:p>
        </p:txBody>
      </p:sp>
      <p:sp>
        <p:nvSpPr>
          <p:cNvPr id="38" name="TextBox 37">
            <a:extLst>
              <a:ext uri="{FF2B5EF4-FFF2-40B4-BE49-F238E27FC236}">
                <a16:creationId xmlns:a16="http://schemas.microsoft.com/office/drawing/2014/main" id="{8FEF1ED8-A456-3454-CA18-2E76D6B549B9}"/>
              </a:ext>
            </a:extLst>
          </p:cNvPr>
          <p:cNvSpPr txBox="1"/>
          <p:nvPr/>
        </p:nvSpPr>
        <p:spPr>
          <a:xfrm>
            <a:off x="3708400" y="3606800"/>
            <a:ext cx="25908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GET /schedules/pending</a:t>
            </a:r>
          </a:p>
        </p:txBody>
      </p:sp>
      <p:sp>
        <p:nvSpPr>
          <p:cNvPr id="39" name="TextBox 38">
            <a:extLst>
              <a:ext uri="{FF2B5EF4-FFF2-40B4-BE49-F238E27FC236}">
                <a16:creationId xmlns:a16="http://schemas.microsoft.com/office/drawing/2014/main" id="{F15A0B8E-BA8E-2A89-3379-70E65A17EEDA}"/>
              </a:ext>
            </a:extLst>
          </p:cNvPr>
          <p:cNvSpPr txBox="1"/>
          <p:nvPr/>
        </p:nvSpPr>
        <p:spPr>
          <a:xfrm>
            <a:off x="6350000" y="36068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Absent</a:t>
            </a:r>
          </a:p>
        </p:txBody>
      </p:sp>
      <p:sp>
        <p:nvSpPr>
          <p:cNvPr id="40" name="TextBox 39">
            <a:extLst>
              <a:ext uri="{FF2B5EF4-FFF2-40B4-BE49-F238E27FC236}">
                <a16:creationId xmlns:a16="http://schemas.microsoft.com/office/drawing/2014/main" id="{D6F47058-B8B9-1106-6EB6-792E9F047F69}"/>
              </a:ext>
            </a:extLst>
          </p:cNvPr>
          <p:cNvSpPr txBox="1"/>
          <p:nvPr/>
        </p:nvSpPr>
        <p:spPr>
          <a:xfrm>
            <a:off x="8432800" y="36068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Absent</a:t>
            </a:r>
          </a:p>
        </p:txBody>
      </p:sp>
      <p:sp>
        <p:nvSpPr>
          <p:cNvPr id="41" name="TextBox 40">
            <a:extLst>
              <a:ext uri="{FF2B5EF4-FFF2-40B4-BE49-F238E27FC236}">
                <a16:creationId xmlns:a16="http://schemas.microsoft.com/office/drawing/2014/main" id="{0AC4DDDB-98F6-668A-FE08-C327617B50E6}"/>
              </a:ext>
            </a:extLst>
          </p:cNvPr>
          <p:cNvSpPr txBox="1"/>
          <p:nvPr/>
        </p:nvSpPr>
        <p:spPr>
          <a:xfrm>
            <a:off x="10515600" y="36068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42" name="Rectangle 41">
            <a:extLst>
              <a:ext uri="{FF2B5EF4-FFF2-40B4-BE49-F238E27FC236}">
                <a16:creationId xmlns:a16="http://schemas.microsoft.com/office/drawing/2014/main" id="{CE93BA52-E1C4-99DF-A695-75CB4CF9A43F}"/>
              </a:ext>
            </a:extLst>
          </p:cNvPr>
          <p:cNvSpPr/>
          <p:nvPr/>
        </p:nvSpPr>
        <p:spPr>
          <a:xfrm>
            <a:off x="711200" y="3860800"/>
            <a:ext cx="10769600" cy="3429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3" name="TextBox 42">
            <a:extLst>
              <a:ext uri="{FF2B5EF4-FFF2-40B4-BE49-F238E27FC236}">
                <a16:creationId xmlns:a16="http://schemas.microsoft.com/office/drawing/2014/main" id="{CEB9F6EA-B498-CBFE-5396-D52A8A26FC51}"/>
              </a:ext>
            </a:extLst>
          </p:cNvPr>
          <p:cNvSpPr txBox="1"/>
          <p:nvPr/>
        </p:nvSpPr>
        <p:spPr>
          <a:xfrm>
            <a:off x="812800" y="39497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Driver phone before departure</a:t>
            </a:r>
          </a:p>
        </p:txBody>
      </p:sp>
      <p:sp>
        <p:nvSpPr>
          <p:cNvPr id="44" name="TextBox 43">
            <a:extLst>
              <a:ext uri="{FF2B5EF4-FFF2-40B4-BE49-F238E27FC236}">
                <a16:creationId xmlns:a16="http://schemas.microsoft.com/office/drawing/2014/main" id="{E16AAB61-E21E-3D5E-C3EA-F0E287DFFAB1}"/>
              </a:ext>
            </a:extLst>
          </p:cNvPr>
          <p:cNvSpPr txBox="1"/>
          <p:nvPr/>
        </p:nvSpPr>
        <p:spPr>
          <a:xfrm>
            <a:off x="3708400" y="3949700"/>
            <a:ext cx="25908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Stop assigned, tracked</a:t>
            </a:r>
          </a:p>
        </p:txBody>
      </p:sp>
      <p:sp>
        <p:nvSpPr>
          <p:cNvPr id="45" name="TextBox 44">
            <a:extLst>
              <a:ext uri="{FF2B5EF4-FFF2-40B4-BE49-F238E27FC236}">
                <a16:creationId xmlns:a16="http://schemas.microsoft.com/office/drawing/2014/main" id="{0CF14F52-5B78-D821-0D02-61BF4400C086}"/>
              </a:ext>
            </a:extLst>
          </p:cNvPr>
          <p:cNvSpPr txBox="1"/>
          <p:nvPr/>
        </p:nvSpPr>
        <p:spPr>
          <a:xfrm>
            <a:off x="6350000" y="39497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No phone field</a:t>
            </a:r>
          </a:p>
        </p:txBody>
      </p:sp>
      <p:sp>
        <p:nvSpPr>
          <p:cNvPr id="46" name="TextBox 45">
            <a:extLst>
              <a:ext uri="{FF2B5EF4-FFF2-40B4-BE49-F238E27FC236}">
                <a16:creationId xmlns:a16="http://schemas.microsoft.com/office/drawing/2014/main" id="{2774032B-3C42-ADEA-4209-C1143A674190}"/>
              </a:ext>
            </a:extLst>
          </p:cNvPr>
          <p:cNvSpPr txBox="1"/>
          <p:nvPr/>
        </p:nvSpPr>
        <p:spPr>
          <a:xfrm>
            <a:off x="8432800" y="39497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No phone field</a:t>
            </a:r>
          </a:p>
        </p:txBody>
      </p:sp>
      <p:sp>
        <p:nvSpPr>
          <p:cNvPr id="47" name="TextBox 46">
            <a:extLst>
              <a:ext uri="{FF2B5EF4-FFF2-40B4-BE49-F238E27FC236}">
                <a16:creationId xmlns:a16="http://schemas.microsoft.com/office/drawing/2014/main" id="{00BAA1AD-2925-8641-903F-5CCCDDD2D434}"/>
              </a:ext>
            </a:extLst>
          </p:cNvPr>
          <p:cNvSpPr txBox="1"/>
          <p:nvPr/>
        </p:nvSpPr>
        <p:spPr>
          <a:xfrm>
            <a:off x="10515600" y="39497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48" name="Rectangle 47">
            <a:extLst>
              <a:ext uri="{FF2B5EF4-FFF2-40B4-BE49-F238E27FC236}">
                <a16:creationId xmlns:a16="http://schemas.microsoft.com/office/drawing/2014/main" id="{6F9C5B82-886F-D5F8-DBE2-3031C6DB154A}"/>
              </a:ext>
            </a:extLst>
          </p:cNvPr>
          <p:cNvSpPr/>
          <p:nvPr/>
        </p:nvSpPr>
        <p:spPr>
          <a:xfrm>
            <a:off x="711200" y="4203700"/>
            <a:ext cx="10769600" cy="3429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9" name="TextBox 48">
            <a:extLst>
              <a:ext uri="{FF2B5EF4-FFF2-40B4-BE49-F238E27FC236}">
                <a16:creationId xmlns:a16="http://schemas.microsoft.com/office/drawing/2014/main" id="{AED6BC23-7287-A2CC-CD9F-E6350CE17EC6}"/>
              </a:ext>
            </a:extLst>
          </p:cNvPr>
          <p:cNvSpPr txBox="1"/>
          <p:nvPr/>
        </p:nvSpPr>
        <p:spPr>
          <a:xfrm>
            <a:off x="812800" y="42926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Driver phone after departure</a:t>
            </a:r>
          </a:p>
        </p:txBody>
      </p:sp>
      <p:sp>
        <p:nvSpPr>
          <p:cNvPr id="50" name="TextBox 49">
            <a:extLst>
              <a:ext uri="{FF2B5EF4-FFF2-40B4-BE49-F238E27FC236}">
                <a16:creationId xmlns:a16="http://schemas.microsoft.com/office/drawing/2014/main" id="{716C1B9D-25CC-004F-522E-67D699FB9DCE}"/>
              </a:ext>
            </a:extLst>
          </p:cNvPr>
          <p:cNvSpPr txBox="1"/>
          <p:nvPr/>
        </p:nvSpPr>
        <p:spPr>
          <a:xfrm>
            <a:off x="3708400" y="4292600"/>
            <a:ext cx="25908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Stop en_route, tracked</a:t>
            </a:r>
          </a:p>
        </p:txBody>
      </p:sp>
      <p:sp>
        <p:nvSpPr>
          <p:cNvPr id="51" name="TextBox 50">
            <a:extLst>
              <a:ext uri="{FF2B5EF4-FFF2-40B4-BE49-F238E27FC236}">
                <a16:creationId xmlns:a16="http://schemas.microsoft.com/office/drawing/2014/main" id="{4A1DDA91-BED6-71A4-9A26-1EAA2D150B05}"/>
              </a:ext>
            </a:extLst>
          </p:cNvPr>
          <p:cNvSpPr txBox="1"/>
          <p:nvPr/>
        </p:nvSpPr>
        <p:spPr>
          <a:xfrm>
            <a:off x="6350000" y="42926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Phone present</a:t>
            </a:r>
          </a:p>
        </p:txBody>
      </p:sp>
      <p:sp>
        <p:nvSpPr>
          <p:cNvPr id="52" name="TextBox 51">
            <a:extLst>
              <a:ext uri="{FF2B5EF4-FFF2-40B4-BE49-F238E27FC236}">
                <a16:creationId xmlns:a16="http://schemas.microsoft.com/office/drawing/2014/main" id="{173D517C-E4F8-D749-0CFD-13A0A66B28F7}"/>
              </a:ext>
            </a:extLst>
          </p:cNvPr>
          <p:cNvSpPr txBox="1"/>
          <p:nvPr/>
        </p:nvSpPr>
        <p:spPr>
          <a:xfrm>
            <a:off x="8432800" y="42926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Phone present</a:t>
            </a:r>
          </a:p>
        </p:txBody>
      </p:sp>
      <p:sp>
        <p:nvSpPr>
          <p:cNvPr id="53" name="TextBox 52">
            <a:extLst>
              <a:ext uri="{FF2B5EF4-FFF2-40B4-BE49-F238E27FC236}">
                <a16:creationId xmlns:a16="http://schemas.microsoft.com/office/drawing/2014/main" id="{00C633AE-2F16-CDBA-F6D7-575740A6D85C}"/>
              </a:ext>
            </a:extLst>
          </p:cNvPr>
          <p:cNvSpPr txBox="1"/>
          <p:nvPr/>
        </p:nvSpPr>
        <p:spPr>
          <a:xfrm>
            <a:off x="10515600" y="42926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54" name="Rectangle 53">
            <a:extLst>
              <a:ext uri="{FF2B5EF4-FFF2-40B4-BE49-F238E27FC236}">
                <a16:creationId xmlns:a16="http://schemas.microsoft.com/office/drawing/2014/main" id="{C48C104D-2E2F-D22D-2DAC-6DB8E8DD1FFF}"/>
              </a:ext>
            </a:extLst>
          </p:cNvPr>
          <p:cNvSpPr/>
          <p:nvPr/>
        </p:nvSpPr>
        <p:spPr>
          <a:xfrm>
            <a:off x="711200" y="4546600"/>
            <a:ext cx="10769600" cy="3429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55" name="TextBox 54">
            <a:extLst>
              <a:ext uri="{FF2B5EF4-FFF2-40B4-BE49-F238E27FC236}">
                <a16:creationId xmlns:a16="http://schemas.microsoft.com/office/drawing/2014/main" id="{FE54CB2A-2825-5F32-9018-8A0F044A040C}"/>
              </a:ext>
            </a:extLst>
          </p:cNvPr>
          <p:cNvSpPr txBox="1"/>
          <p:nvPr/>
        </p:nvSpPr>
        <p:spPr>
          <a:xfrm>
            <a:off x="812800" y="46355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Cancel before departure</a:t>
            </a:r>
          </a:p>
        </p:txBody>
      </p:sp>
      <p:sp>
        <p:nvSpPr>
          <p:cNvPr id="56" name="TextBox 55">
            <a:extLst>
              <a:ext uri="{FF2B5EF4-FFF2-40B4-BE49-F238E27FC236}">
                <a16:creationId xmlns:a16="http://schemas.microsoft.com/office/drawing/2014/main" id="{A506AC2F-8BC2-CD3F-CCCC-8023E7765A19}"/>
              </a:ext>
            </a:extLst>
          </p:cNvPr>
          <p:cNvSpPr txBox="1"/>
          <p:nvPr/>
        </p:nvSpPr>
        <p:spPr>
          <a:xfrm>
            <a:off x="3708400" y="4635500"/>
            <a:ext cx="25908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Batched -&gt; cancelled</a:t>
            </a:r>
          </a:p>
        </p:txBody>
      </p:sp>
      <p:sp>
        <p:nvSpPr>
          <p:cNvPr id="57" name="TextBox 56">
            <a:extLst>
              <a:ext uri="{FF2B5EF4-FFF2-40B4-BE49-F238E27FC236}">
                <a16:creationId xmlns:a16="http://schemas.microsoft.com/office/drawing/2014/main" id="{D0AD1480-BED5-9572-6309-79E8C8E16459}"/>
              </a:ext>
            </a:extLst>
          </p:cNvPr>
          <p:cNvSpPr txBox="1"/>
          <p:nvPr/>
        </p:nvSpPr>
        <p:spPr>
          <a:xfrm>
            <a:off x="6350000" y="46355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No phone leaked</a:t>
            </a:r>
          </a:p>
        </p:txBody>
      </p:sp>
      <p:sp>
        <p:nvSpPr>
          <p:cNvPr id="58" name="TextBox 57">
            <a:extLst>
              <a:ext uri="{FF2B5EF4-FFF2-40B4-BE49-F238E27FC236}">
                <a16:creationId xmlns:a16="http://schemas.microsoft.com/office/drawing/2014/main" id="{119DE3C3-334A-B1D2-8723-7D5E9B3C15F7}"/>
              </a:ext>
            </a:extLst>
          </p:cNvPr>
          <p:cNvSpPr txBox="1"/>
          <p:nvPr/>
        </p:nvSpPr>
        <p:spPr>
          <a:xfrm>
            <a:off x="8432800" y="46355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No phone leaked</a:t>
            </a:r>
          </a:p>
        </p:txBody>
      </p:sp>
      <p:sp>
        <p:nvSpPr>
          <p:cNvPr id="59" name="TextBox 58">
            <a:extLst>
              <a:ext uri="{FF2B5EF4-FFF2-40B4-BE49-F238E27FC236}">
                <a16:creationId xmlns:a16="http://schemas.microsoft.com/office/drawing/2014/main" id="{57A3AC5B-8C02-62BB-16B4-EC7F20037D02}"/>
              </a:ext>
            </a:extLst>
          </p:cNvPr>
          <p:cNvSpPr txBox="1"/>
          <p:nvPr/>
        </p:nvSpPr>
        <p:spPr>
          <a:xfrm>
            <a:off x="10515600" y="46355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60" name="Rectangle 59">
            <a:extLst>
              <a:ext uri="{FF2B5EF4-FFF2-40B4-BE49-F238E27FC236}">
                <a16:creationId xmlns:a16="http://schemas.microsoft.com/office/drawing/2014/main" id="{E9BD3F41-AEF3-DAAB-3D87-2CAF9BC05C34}"/>
              </a:ext>
            </a:extLst>
          </p:cNvPr>
          <p:cNvSpPr/>
          <p:nvPr/>
        </p:nvSpPr>
        <p:spPr>
          <a:xfrm>
            <a:off x="711200" y="4889500"/>
            <a:ext cx="10769600" cy="3429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1" name="TextBox 60">
            <a:extLst>
              <a:ext uri="{FF2B5EF4-FFF2-40B4-BE49-F238E27FC236}">
                <a16:creationId xmlns:a16="http://schemas.microsoft.com/office/drawing/2014/main" id="{9D7A5D3B-048D-C8F7-E752-A81C7DEC7F30}"/>
              </a:ext>
            </a:extLst>
          </p:cNvPr>
          <p:cNvSpPr txBox="1"/>
          <p:nvPr/>
        </p:nvSpPr>
        <p:spPr>
          <a:xfrm>
            <a:off x="812800" y="49784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Concurrent claim, 5 drivers</a:t>
            </a:r>
          </a:p>
        </p:txBody>
      </p:sp>
      <p:sp>
        <p:nvSpPr>
          <p:cNvPr id="62" name="TextBox 61">
            <a:extLst>
              <a:ext uri="{FF2B5EF4-FFF2-40B4-BE49-F238E27FC236}">
                <a16:creationId xmlns:a16="http://schemas.microsoft.com/office/drawing/2014/main" id="{A751F310-8EBD-8256-5F65-98174DAB7E42}"/>
              </a:ext>
            </a:extLst>
          </p:cNvPr>
          <p:cNvSpPr txBox="1"/>
          <p:nvPr/>
        </p:nvSpPr>
        <p:spPr>
          <a:xfrm>
            <a:off x="3708400" y="4978400"/>
            <a:ext cx="25908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5 threads, same batch</a:t>
            </a:r>
          </a:p>
        </p:txBody>
      </p:sp>
      <p:sp>
        <p:nvSpPr>
          <p:cNvPr id="63" name="TextBox 62">
            <a:extLst>
              <a:ext uri="{FF2B5EF4-FFF2-40B4-BE49-F238E27FC236}">
                <a16:creationId xmlns:a16="http://schemas.microsoft.com/office/drawing/2014/main" id="{9F1DD093-0B76-6850-AEA2-DFE034D71616}"/>
              </a:ext>
            </a:extLst>
          </p:cNvPr>
          <p:cNvSpPr txBox="1"/>
          <p:nvPr/>
        </p:nvSpPr>
        <p:spPr>
          <a:xfrm>
            <a:off x="6350000" y="49784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1 winner, 4x 409</a:t>
            </a:r>
          </a:p>
        </p:txBody>
      </p:sp>
      <p:sp>
        <p:nvSpPr>
          <p:cNvPr id="64" name="TextBox 63">
            <a:extLst>
              <a:ext uri="{FF2B5EF4-FFF2-40B4-BE49-F238E27FC236}">
                <a16:creationId xmlns:a16="http://schemas.microsoft.com/office/drawing/2014/main" id="{5D33C731-39D5-CC29-84A4-7DE5C0022464}"/>
              </a:ext>
            </a:extLst>
          </p:cNvPr>
          <p:cNvSpPr txBox="1"/>
          <p:nvPr/>
        </p:nvSpPr>
        <p:spPr>
          <a:xfrm>
            <a:off x="8432800" y="49784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1 winner, 4x 409</a:t>
            </a:r>
          </a:p>
        </p:txBody>
      </p:sp>
      <p:sp>
        <p:nvSpPr>
          <p:cNvPr id="65" name="TextBox 64">
            <a:extLst>
              <a:ext uri="{FF2B5EF4-FFF2-40B4-BE49-F238E27FC236}">
                <a16:creationId xmlns:a16="http://schemas.microsoft.com/office/drawing/2014/main" id="{386ABA46-A2CE-E1B8-168F-D4794765C9F6}"/>
              </a:ext>
            </a:extLst>
          </p:cNvPr>
          <p:cNvSpPr txBox="1"/>
          <p:nvPr/>
        </p:nvSpPr>
        <p:spPr>
          <a:xfrm>
            <a:off x="10515600" y="49784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66" name="Rectangle 65">
            <a:extLst>
              <a:ext uri="{FF2B5EF4-FFF2-40B4-BE49-F238E27FC236}">
                <a16:creationId xmlns:a16="http://schemas.microsoft.com/office/drawing/2014/main" id="{AA87116D-43D4-DC3B-A148-41BC6F4C9F32}"/>
              </a:ext>
            </a:extLst>
          </p:cNvPr>
          <p:cNvSpPr/>
          <p:nvPr/>
        </p:nvSpPr>
        <p:spPr>
          <a:xfrm>
            <a:off x="711200" y="5232400"/>
            <a:ext cx="10769600" cy="3429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7" name="TextBox 66">
            <a:extLst>
              <a:ext uri="{FF2B5EF4-FFF2-40B4-BE49-F238E27FC236}">
                <a16:creationId xmlns:a16="http://schemas.microsoft.com/office/drawing/2014/main" id="{2B6F1A6C-5BFA-5DF4-41D0-D61A3E5DE7FA}"/>
              </a:ext>
            </a:extLst>
          </p:cNvPr>
          <p:cNvSpPr txBox="1"/>
          <p:nvPr/>
        </p:nvSpPr>
        <p:spPr>
          <a:xfrm>
            <a:off x="812800" y="53213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Cross-customer order read</a:t>
            </a:r>
          </a:p>
        </p:txBody>
      </p:sp>
      <p:sp>
        <p:nvSpPr>
          <p:cNvPr id="68" name="TextBox 67">
            <a:extLst>
              <a:ext uri="{FF2B5EF4-FFF2-40B4-BE49-F238E27FC236}">
                <a16:creationId xmlns:a16="http://schemas.microsoft.com/office/drawing/2014/main" id="{6E405513-6E32-DC20-6A60-027C988AF25A}"/>
              </a:ext>
            </a:extLst>
          </p:cNvPr>
          <p:cNvSpPr txBox="1"/>
          <p:nvPr/>
        </p:nvSpPr>
        <p:spPr>
          <a:xfrm>
            <a:off x="3708400" y="5321300"/>
            <a:ext cx="2590800" cy="300082"/>
          </a:xfrm>
          <a:prstGeom prst="rect">
            <a:avLst/>
          </a:prstGeom>
          <a:noFill/>
        </p:spPr>
        <p:txBody>
          <a:bodyPr vert="horz" wrap="square" lIns="0" tIns="0" rIns="0" bIns="0" rtlCol="0">
            <a:noAutofit/>
          </a:bodyPr>
          <a:lstStyle/>
          <a:p>
            <a:r>
              <a:rPr lang="en-US" sz="850">
                <a:solidFill>
                  <a:srgbClr val="2F170A"/>
                </a:solidFill>
                <a:latin typeface="Segoe UI" panose="020B0502040204020203" pitchFamily="34" charset="0"/>
              </a:rPr>
              <a:t>Customer B reads A's token</a:t>
            </a:r>
            <a:endParaRPr lang="en-IN" sz="850">
              <a:solidFill>
                <a:srgbClr val="2F170A"/>
              </a:solidFill>
              <a:latin typeface="Segoe UI" panose="020B0502040204020203" pitchFamily="34" charset="0"/>
            </a:endParaRPr>
          </a:p>
        </p:txBody>
      </p:sp>
      <p:sp>
        <p:nvSpPr>
          <p:cNvPr id="69" name="TextBox 68">
            <a:extLst>
              <a:ext uri="{FF2B5EF4-FFF2-40B4-BE49-F238E27FC236}">
                <a16:creationId xmlns:a16="http://schemas.microsoft.com/office/drawing/2014/main" id="{A7BEBCC9-B16E-DB7B-33F3-6C52203EC9C9}"/>
              </a:ext>
            </a:extLst>
          </p:cNvPr>
          <p:cNvSpPr txBox="1"/>
          <p:nvPr/>
        </p:nvSpPr>
        <p:spPr>
          <a:xfrm>
            <a:off x="6350000" y="53213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404, not 403</a:t>
            </a:r>
          </a:p>
        </p:txBody>
      </p:sp>
      <p:sp>
        <p:nvSpPr>
          <p:cNvPr id="70" name="TextBox 69">
            <a:extLst>
              <a:ext uri="{FF2B5EF4-FFF2-40B4-BE49-F238E27FC236}">
                <a16:creationId xmlns:a16="http://schemas.microsoft.com/office/drawing/2014/main" id="{D6C6BA2B-19B0-6924-47A0-3EC0171073CB}"/>
              </a:ext>
            </a:extLst>
          </p:cNvPr>
          <p:cNvSpPr txBox="1"/>
          <p:nvPr/>
        </p:nvSpPr>
        <p:spPr>
          <a:xfrm>
            <a:off x="8432800" y="53213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404</a:t>
            </a:r>
          </a:p>
        </p:txBody>
      </p:sp>
      <p:sp>
        <p:nvSpPr>
          <p:cNvPr id="71" name="TextBox 70">
            <a:extLst>
              <a:ext uri="{FF2B5EF4-FFF2-40B4-BE49-F238E27FC236}">
                <a16:creationId xmlns:a16="http://schemas.microsoft.com/office/drawing/2014/main" id="{359762BA-DBEA-A608-2FA5-0CF3DFF0EA0B}"/>
              </a:ext>
            </a:extLst>
          </p:cNvPr>
          <p:cNvSpPr txBox="1"/>
          <p:nvPr/>
        </p:nvSpPr>
        <p:spPr>
          <a:xfrm>
            <a:off x="10515600" y="53213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72" name="Rectangle 71">
            <a:extLst>
              <a:ext uri="{FF2B5EF4-FFF2-40B4-BE49-F238E27FC236}">
                <a16:creationId xmlns:a16="http://schemas.microsoft.com/office/drawing/2014/main" id="{4ABD9887-27D8-AF24-BA3A-5769AB8B928D}"/>
              </a:ext>
            </a:extLst>
          </p:cNvPr>
          <p:cNvSpPr/>
          <p:nvPr/>
        </p:nvSpPr>
        <p:spPr>
          <a:xfrm>
            <a:off x="711200" y="5575300"/>
            <a:ext cx="10769600" cy="3429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3" name="TextBox 72">
            <a:extLst>
              <a:ext uri="{FF2B5EF4-FFF2-40B4-BE49-F238E27FC236}">
                <a16:creationId xmlns:a16="http://schemas.microsoft.com/office/drawing/2014/main" id="{FFB69239-EC7A-81CA-043D-7FBBB7D41D1C}"/>
              </a:ext>
            </a:extLst>
          </p:cNvPr>
          <p:cNvSpPr txBox="1"/>
          <p:nvPr/>
        </p:nvSpPr>
        <p:spPr>
          <a:xfrm>
            <a:off x="812800" y="5664200"/>
            <a:ext cx="2844800" cy="300082"/>
          </a:xfrm>
          <a:prstGeom prst="rect">
            <a:avLst/>
          </a:prstGeom>
          <a:noFill/>
        </p:spPr>
        <p:txBody>
          <a:bodyPr vert="horz" wrap="square" lIns="0" tIns="0" rIns="0" bIns="0" rtlCol="0">
            <a:noAutofit/>
          </a:bodyPr>
          <a:lstStyle/>
          <a:p>
            <a:r>
              <a:rPr lang="en-IN" sz="850" b="1">
                <a:solidFill>
                  <a:srgbClr val="2F170A"/>
                </a:solidFill>
                <a:latin typeface="Segoe UI" panose="020B0502040204020203" pitchFamily="34" charset="0"/>
              </a:rPr>
              <a:t>Earnings quote reconciles</a:t>
            </a:r>
          </a:p>
        </p:txBody>
      </p:sp>
      <p:sp>
        <p:nvSpPr>
          <p:cNvPr id="74" name="TextBox 73">
            <a:extLst>
              <a:ext uri="{FF2B5EF4-FFF2-40B4-BE49-F238E27FC236}">
                <a16:creationId xmlns:a16="http://schemas.microsoft.com/office/drawing/2014/main" id="{0AA5EC50-1579-6D63-2125-3178D4A86B20}"/>
              </a:ext>
            </a:extLst>
          </p:cNvPr>
          <p:cNvSpPr txBox="1"/>
          <p:nvPr/>
        </p:nvSpPr>
        <p:spPr>
          <a:xfrm>
            <a:off x="3708400" y="5664200"/>
            <a:ext cx="2590800" cy="300082"/>
          </a:xfrm>
          <a:prstGeom prst="rect">
            <a:avLst/>
          </a:prstGeom>
          <a:noFill/>
        </p:spPr>
        <p:txBody>
          <a:bodyPr vert="horz" wrap="square" lIns="0" tIns="0" rIns="0" bIns="0" rtlCol="0">
            <a:noAutofit/>
          </a:bodyPr>
          <a:lstStyle/>
          <a:p>
            <a:r>
              <a:rPr lang="en-US" sz="850">
                <a:solidFill>
                  <a:srgbClr val="2F170A"/>
                </a:solidFill>
                <a:latin typeface="Segoe UI" panose="020B0502040204020203" pitchFamily="34" charset="0"/>
              </a:rPr>
              <a:t>2 stops, breakdown vs total</a:t>
            </a:r>
            <a:endParaRPr lang="en-IN" sz="850">
              <a:solidFill>
                <a:srgbClr val="2F170A"/>
              </a:solidFill>
              <a:latin typeface="Segoe UI" panose="020B0502040204020203" pitchFamily="34" charset="0"/>
            </a:endParaRPr>
          </a:p>
        </p:txBody>
      </p:sp>
      <p:sp>
        <p:nvSpPr>
          <p:cNvPr id="75" name="TextBox 74">
            <a:extLst>
              <a:ext uri="{FF2B5EF4-FFF2-40B4-BE49-F238E27FC236}">
                <a16:creationId xmlns:a16="http://schemas.microsoft.com/office/drawing/2014/main" id="{3C8192D5-48CD-03B3-19DE-04471C4D602E}"/>
              </a:ext>
            </a:extLst>
          </p:cNvPr>
          <p:cNvSpPr txBox="1"/>
          <p:nvPr/>
        </p:nvSpPr>
        <p:spPr>
          <a:xfrm>
            <a:off x="6350000" y="56642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Items sum to total</a:t>
            </a:r>
          </a:p>
        </p:txBody>
      </p:sp>
      <p:sp>
        <p:nvSpPr>
          <p:cNvPr id="76" name="TextBox 75">
            <a:extLst>
              <a:ext uri="{FF2B5EF4-FFF2-40B4-BE49-F238E27FC236}">
                <a16:creationId xmlns:a16="http://schemas.microsoft.com/office/drawing/2014/main" id="{9B3D9064-378C-88FB-650D-1EC6F29312A4}"/>
              </a:ext>
            </a:extLst>
          </p:cNvPr>
          <p:cNvSpPr txBox="1"/>
          <p:nvPr/>
        </p:nvSpPr>
        <p:spPr>
          <a:xfrm>
            <a:off x="8432800" y="5664200"/>
            <a:ext cx="2032000" cy="300082"/>
          </a:xfrm>
          <a:prstGeom prst="rect">
            <a:avLst/>
          </a:prstGeom>
          <a:noFill/>
        </p:spPr>
        <p:txBody>
          <a:bodyPr vert="horz" wrap="square" lIns="0" tIns="0" rIns="0" bIns="0" rtlCol="0">
            <a:noAutofit/>
          </a:bodyPr>
          <a:lstStyle/>
          <a:p>
            <a:r>
              <a:rPr lang="en-IN" sz="850">
                <a:solidFill>
                  <a:srgbClr val="2F170A"/>
                </a:solidFill>
                <a:latin typeface="Segoe UI" panose="020B0502040204020203" pitchFamily="34" charset="0"/>
              </a:rPr>
              <a:t>Equal</a:t>
            </a:r>
          </a:p>
        </p:txBody>
      </p:sp>
      <p:sp>
        <p:nvSpPr>
          <p:cNvPr id="77" name="TextBox 76">
            <a:extLst>
              <a:ext uri="{FF2B5EF4-FFF2-40B4-BE49-F238E27FC236}">
                <a16:creationId xmlns:a16="http://schemas.microsoft.com/office/drawing/2014/main" id="{32DD8411-97AA-D183-D8C0-A642F26AE252}"/>
              </a:ext>
            </a:extLst>
          </p:cNvPr>
          <p:cNvSpPr txBox="1"/>
          <p:nvPr/>
        </p:nvSpPr>
        <p:spPr>
          <a:xfrm>
            <a:off x="10515600" y="5664200"/>
            <a:ext cx="762000" cy="300082"/>
          </a:xfrm>
          <a:prstGeom prst="rect">
            <a:avLst/>
          </a:prstGeom>
          <a:noFill/>
        </p:spPr>
        <p:txBody>
          <a:bodyPr vert="horz" wrap="square" lIns="0" tIns="0" rIns="0" bIns="0" rtlCol="0">
            <a:noAutofit/>
          </a:bodyPr>
          <a:lstStyle/>
          <a:p>
            <a:r>
              <a:rPr lang="en-IN" sz="850">
                <a:solidFill>
                  <a:srgbClr val="3C8B1E"/>
                </a:solidFill>
                <a:latin typeface="Segoe UI" panose="020B0502040204020203" pitchFamily="34" charset="0"/>
              </a:rPr>
              <a:t>PASS</a:t>
            </a:r>
          </a:p>
        </p:txBody>
      </p:sp>
      <p:sp>
        <p:nvSpPr>
          <p:cNvPr id="78" name="TextBox 77">
            <a:extLst>
              <a:ext uri="{FF2B5EF4-FFF2-40B4-BE49-F238E27FC236}">
                <a16:creationId xmlns:a16="http://schemas.microsoft.com/office/drawing/2014/main" id="{57680B22-0151-638E-6DFC-C613C0CE79B4}"/>
              </a:ext>
            </a:extLst>
          </p:cNvPr>
          <p:cNvSpPr txBox="1"/>
          <p:nvPr/>
        </p:nvSpPr>
        <p:spPr>
          <a:xfrm>
            <a:off x="711200" y="6096000"/>
            <a:ext cx="107696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Command: python -m pytest tests   -   127 passed, 0 failed, 44.8 s</a:t>
            </a:r>
            <a:endParaRPr lang="en-IN" sz="900">
              <a:solidFill>
                <a:srgbClr val="8B744B"/>
              </a:solidFill>
              <a:latin typeface="Segoe UI" panose="020B0502040204020203" pitchFamily="34" charset="0"/>
            </a:endParaRPr>
          </a:p>
        </p:txBody>
      </p:sp>
      <p:sp>
        <p:nvSpPr>
          <p:cNvPr id="79" name="TextBox 78">
            <a:extLst>
              <a:ext uri="{FF2B5EF4-FFF2-40B4-BE49-F238E27FC236}">
                <a16:creationId xmlns:a16="http://schemas.microsoft.com/office/drawing/2014/main" id="{31118D4B-0728-C7C8-26D5-6D63179FCADC}"/>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80" name="TextBox 79">
            <a:extLst>
              <a:ext uri="{FF2B5EF4-FFF2-40B4-BE49-F238E27FC236}">
                <a16:creationId xmlns:a16="http://schemas.microsoft.com/office/drawing/2014/main" id="{6D1D9A72-3643-E7ED-9152-1BD75EF0BAA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16</a:t>
            </a:r>
          </a:p>
        </p:txBody>
      </p:sp>
    </p:spTree>
    <p:extLst>
      <p:ext uri="{BB962C8B-B14F-4D97-AF65-F5344CB8AC3E}">
        <p14:creationId xmlns:p14="http://schemas.microsoft.com/office/powerpoint/2010/main" val="953343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C7E23-0CE8-F19E-A934-6F7A8AEA6AA7}"/>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F15DAD16-EB5E-149A-93E4-8810212343DB}"/>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FUNCTIONALITY &amp; VALIDATION</a:t>
            </a:r>
          </a:p>
        </p:txBody>
      </p:sp>
      <p:sp>
        <p:nvSpPr>
          <p:cNvPr id="4" name="TextBox 3">
            <a:extLst>
              <a:ext uri="{FF2B5EF4-FFF2-40B4-BE49-F238E27FC236}">
                <a16:creationId xmlns:a16="http://schemas.microsoft.com/office/drawing/2014/main" id="{BD51603A-3C41-B1C7-B4AF-EA623BB81341}"/>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Limitations, stated honestly</a:t>
            </a:r>
          </a:p>
        </p:txBody>
      </p:sp>
      <p:sp>
        <p:nvSpPr>
          <p:cNvPr id="5" name="Rectangle 4">
            <a:extLst>
              <a:ext uri="{FF2B5EF4-FFF2-40B4-BE49-F238E27FC236}">
                <a16:creationId xmlns:a16="http://schemas.microsoft.com/office/drawing/2014/main" id="{4AC6511A-B44C-D4CF-AFE0-F0A4EC4E194E}"/>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1A4A9986-E8F6-190E-8EFF-7BCE062F5E40}"/>
              </a:ext>
            </a:extLst>
          </p:cNvPr>
          <p:cNvSpPr txBox="1"/>
          <p:nvPr/>
        </p:nvSpPr>
        <p:spPr>
          <a:xfrm>
            <a:off x="711200" y="1803400"/>
            <a:ext cx="5130800" cy="300082"/>
          </a:xfrm>
          <a:prstGeom prst="rect">
            <a:avLst/>
          </a:prstGeom>
          <a:noFill/>
        </p:spPr>
        <p:txBody>
          <a:bodyPr vert="horz" wrap="square" lIns="0" tIns="0" rIns="0" bIns="0" rtlCol="0">
            <a:noAutofit/>
          </a:bodyPr>
          <a:lstStyle/>
          <a:p>
            <a:r>
              <a:rPr lang="en-IN" sz="1000" b="1">
                <a:solidFill>
                  <a:srgbClr val="ED4B4E"/>
                </a:solidFill>
                <a:latin typeface="Segoe UI" panose="020B0502040204020203" pitchFamily="34" charset="0"/>
              </a:rPr>
              <a:t>KNOWN LIMITATIONS</a:t>
            </a:r>
          </a:p>
        </p:txBody>
      </p:sp>
      <p:sp>
        <p:nvSpPr>
          <p:cNvPr id="7" name="TextBox 6">
            <a:extLst>
              <a:ext uri="{FF2B5EF4-FFF2-40B4-BE49-F238E27FC236}">
                <a16:creationId xmlns:a16="http://schemas.microsoft.com/office/drawing/2014/main" id="{9C1116D3-07B3-1FF7-9402-16FBF2105B5B}"/>
              </a:ext>
            </a:extLst>
          </p:cNvPr>
          <p:cNvSpPr txBox="1"/>
          <p:nvPr/>
        </p:nvSpPr>
        <p:spPr>
          <a:xfrm>
            <a:off x="711200" y="2159000"/>
            <a:ext cx="5130800" cy="1692771"/>
          </a:xfrm>
          <a:prstGeom prst="rect">
            <a:avLst/>
          </a:prstGeom>
          <a:noFill/>
        </p:spPr>
        <p:txBody>
          <a:bodyPr vert="horz" wrap="square" lIns="0" tIns="0" rIns="0" bIns="0" rtlCol="0">
            <a:spAutoFit/>
          </a:bodyPr>
          <a:lstStyle/>
          <a:p>
            <a:r>
              <a:rPr lang="en-US" sz="1100">
                <a:solidFill>
                  <a:srgbClr val="2F170A"/>
                </a:solidFill>
                <a:latin typeface="Segoe UI" panose="020B0502040204020203" pitchFamily="34" charset="0"/>
              </a:rPr>
              <a:t>•  Demo data is seeded, not measured in production</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Online payment dark until Razorpay keys are set; webhook needs a public URL</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Tier margin gap: express/urgent charge exceeds base driver pay</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Route geometry falls back to straight lines when Geoapify is unreachable</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No frontend unit-test framework - coverage is integration-level</a:t>
            </a:r>
          </a:p>
          <a:p>
            <a:endParaRPr lang="en-IN" sz="1100">
              <a:solidFill>
                <a:srgbClr val="2F170A"/>
              </a:solidFill>
              <a:latin typeface="Segoe UI" panose="020B0502040204020203" pitchFamily="34" charset="0"/>
            </a:endParaRPr>
          </a:p>
        </p:txBody>
      </p:sp>
      <p:sp>
        <p:nvSpPr>
          <p:cNvPr id="8" name="TextBox 7">
            <a:extLst>
              <a:ext uri="{FF2B5EF4-FFF2-40B4-BE49-F238E27FC236}">
                <a16:creationId xmlns:a16="http://schemas.microsoft.com/office/drawing/2014/main" id="{1975FAAA-168B-1C49-80E6-A877B095B43C}"/>
              </a:ext>
            </a:extLst>
          </p:cNvPr>
          <p:cNvSpPr txBox="1"/>
          <p:nvPr/>
        </p:nvSpPr>
        <p:spPr>
          <a:xfrm>
            <a:off x="6350000" y="1803400"/>
            <a:ext cx="5130800" cy="300082"/>
          </a:xfrm>
          <a:prstGeom prst="rect">
            <a:avLst/>
          </a:prstGeom>
          <a:noFill/>
        </p:spPr>
        <p:txBody>
          <a:bodyPr vert="horz" wrap="square" lIns="0" tIns="0" rIns="0" bIns="0" rtlCol="0">
            <a:noAutofit/>
          </a:bodyPr>
          <a:lstStyle/>
          <a:p>
            <a:r>
              <a:rPr lang="en-IN" sz="1000" b="1">
                <a:solidFill>
                  <a:srgbClr val="2F170A"/>
                </a:solidFill>
                <a:latin typeface="Segoe UI" panose="020B0502040204020203" pitchFamily="34" charset="0"/>
              </a:rPr>
              <a:t>NEXT STEPS</a:t>
            </a:r>
          </a:p>
        </p:txBody>
      </p:sp>
      <p:sp>
        <p:nvSpPr>
          <p:cNvPr id="9" name="TextBox 8">
            <a:extLst>
              <a:ext uri="{FF2B5EF4-FFF2-40B4-BE49-F238E27FC236}">
                <a16:creationId xmlns:a16="http://schemas.microsoft.com/office/drawing/2014/main" id="{E18C3DAF-FDCC-BDAD-C2CB-EA1989B00B6C}"/>
              </a:ext>
            </a:extLst>
          </p:cNvPr>
          <p:cNvSpPr txBox="1"/>
          <p:nvPr/>
        </p:nvSpPr>
        <p:spPr>
          <a:xfrm>
            <a:off x="6350000" y="2159000"/>
            <a:ext cx="5130800" cy="1692771"/>
          </a:xfrm>
          <a:prstGeom prst="rect">
            <a:avLst/>
          </a:prstGeom>
          <a:noFill/>
        </p:spPr>
        <p:txBody>
          <a:bodyPr vert="horz" wrap="square" lIns="0" tIns="0" rIns="0" bIns="0" rtlCol="0">
            <a:spAutoFit/>
          </a:bodyPr>
          <a:lstStyle/>
          <a:p>
            <a:r>
              <a:rPr lang="en-US" sz="1100">
                <a:solidFill>
                  <a:srgbClr val="2F170A"/>
                </a:solidFill>
                <a:latin typeface="Segoe UI" panose="020B0502040204020203" pitchFamily="34" charset="0"/>
              </a:rPr>
              <a:t>•  Rebalance tier fees against driver base pay</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Postgres in production with the 127-test suite green</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Frontend unit tests and CI on every push</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Multi-depot driver runs and cross-port batch splitting</a:t>
            </a:r>
          </a:p>
          <a:p>
            <a:endParaRPr lang="en-IN" sz="1100">
              <a:solidFill>
                <a:srgbClr val="2F170A"/>
              </a:solidFill>
              <a:latin typeface="Segoe UI" panose="020B0502040204020203" pitchFamily="34" charset="0"/>
            </a:endParaRPr>
          </a:p>
          <a:p>
            <a:r>
              <a:rPr lang="en-US" sz="1100">
                <a:solidFill>
                  <a:srgbClr val="2F170A"/>
                </a:solidFill>
                <a:latin typeface="Segoe UI" panose="020B0502040204020203" pitchFamily="34" charset="0"/>
              </a:rPr>
              <a:t>•  Customer notifications over SMS on status change</a:t>
            </a:r>
          </a:p>
          <a:p>
            <a:endParaRPr lang="en-IN" sz="1100">
              <a:solidFill>
                <a:srgbClr val="2F170A"/>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6D480A6C-EB27-CCF1-D427-1E95A9370D91}"/>
              </a:ext>
            </a:extLst>
          </p:cNvPr>
          <p:cNvSpPr/>
          <p:nvPr/>
        </p:nvSpPr>
        <p:spPr>
          <a:xfrm>
            <a:off x="711200" y="5588000"/>
            <a:ext cx="10769600" cy="6858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1" name="TextBox 10">
            <a:extLst>
              <a:ext uri="{FF2B5EF4-FFF2-40B4-BE49-F238E27FC236}">
                <a16:creationId xmlns:a16="http://schemas.microsoft.com/office/drawing/2014/main" id="{194ED774-F44B-5864-0133-C7A388E9F564}"/>
              </a:ext>
            </a:extLst>
          </p:cNvPr>
          <p:cNvSpPr txBox="1"/>
          <p:nvPr/>
        </p:nvSpPr>
        <p:spPr>
          <a:xfrm>
            <a:off x="965200" y="5765800"/>
            <a:ext cx="10261600" cy="300082"/>
          </a:xfrm>
          <a:prstGeom prst="rect">
            <a:avLst/>
          </a:prstGeom>
          <a:noFill/>
        </p:spPr>
        <p:txBody>
          <a:bodyPr vert="horz" wrap="square" lIns="0" tIns="0" rIns="0" bIns="0" rtlCol="0">
            <a:noAutofit/>
          </a:bodyPr>
          <a:lstStyle/>
          <a:p>
            <a:r>
              <a:rPr lang="en-US" sz="1000">
                <a:solidFill>
                  <a:srgbClr val="8B744B"/>
                </a:solidFill>
                <a:latin typeface="Segoe UI" panose="020B0502040204020203" pitchFamily="34" charset="0"/>
              </a:rPr>
              <a:t>The tier margin gap is deliberate to surface, not to hide: customers are charged more for express and urgent than a
driver's base pay covers. It is pinned by a test so it stays visible.</a:t>
            </a:r>
            <a:endParaRPr lang="en-IN" sz="1000">
              <a:solidFill>
                <a:srgbClr val="8B744B"/>
              </a:solidFill>
              <a:latin typeface="Segoe UI" panose="020B0502040204020203" pitchFamily="34" charset="0"/>
            </a:endParaRPr>
          </a:p>
        </p:txBody>
      </p:sp>
      <p:sp>
        <p:nvSpPr>
          <p:cNvPr id="12" name="TextBox 11">
            <a:extLst>
              <a:ext uri="{FF2B5EF4-FFF2-40B4-BE49-F238E27FC236}">
                <a16:creationId xmlns:a16="http://schemas.microsoft.com/office/drawing/2014/main" id="{61654295-9F9E-DC72-8D4B-4BCF0A902FDA}"/>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3" name="TextBox 12">
            <a:extLst>
              <a:ext uri="{FF2B5EF4-FFF2-40B4-BE49-F238E27FC236}">
                <a16:creationId xmlns:a16="http://schemas.microsoft.com/office/drawing/2014/main" id="{3EE2CC4E-8F7D-EAF6-CEC4-27050250BDDB}"/>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17</a:t>
            </a:r>
          </a:p>
        </p:txBody>
      </p:sp>
    </p:spTree>
    <p:extLst>
      <p:ext uri="{BB962C8B-B14F-4D97-AF65-F5344CB8AC3E}">
        <p14:creationId xmlns:p14="http://schemas.microsoft.com/office/powerpoint/2010/main" val="2461623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090B0-C4CD-0D0B-B5F5-5BAF991B8967}"/>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7CD1BC11-CE8B-A6E4-114A-EF6BEF73805C}"/>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ANALYTICS 1 OF 2</a:t>
            </a:r>
          </a:p>
        </p:txBody>
      </p:sp>
      <p:sp>
        <p:nvSpPr>
          <p:cNvPr id="4" name="TextBox 3">
            <a:extLst>
              <a:ext uri="{FF2B5EF4-FFF2-40B4-BE49-F238E27FC236}">
                <a16:creationId xmlns:a16="http://schemas.microsoft.com/office/drawing/2014/main" id="{B434E318-329E-8AB4-39AF-E624858A5320}"/>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Ninety days of delivery volume</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29665537-F308-FBDD-A9EB-DBA539181695}"/>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3F710B79-2FD9-3B66-979F-5689F08DC8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 y="1793875"/>
            <a:ext cx="7467600" cy="4133850"/>
          </a:xfrm>
          <a:prstGeom prst="rect">
            <a:avLst/>
          </a:prstGeom>
        </p:spPr>
      </p:pic>
      <p:sp>
        <p:nvSpPr>
          <p:cNvPr id="8" name="Rectangle: Rounded Corners 7">
            <a:extLst>
              <a:ext uri="{FF2B5EF4-FFF2-40B4-BE49-F238E27FC236}">
                <a16:creationId xmlns:a16="http://schemas.microsoft.com/office/drawing/2014/main" id="{B3DEB66E-54FF-E430-E263-1F48CA54EAD4}"/>
              </a:ext>
            </a:extLst>
          </p:cNvPr>
          <p:cNvSpPr/>
          <p:nvPr/>
        </p:nvSpPr>
        <p:spPr>
          <a:xfrm>
            <a:off x="711200" y="6096000"/>
            <a:ext cx="7467600" cy="355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C8A7EF32-E18C-ECFA-C347-96392270BDB4}"/>
              </a:ext>
            </a:extLst>
          </p:cNvPr>
          <p:cNvSpPr txBox="1"/>
          <p:nvPr/>
        </p:nvSpPr>
        <p:spPr>
          <a:xfrm>
            <a:off x="863600" y="61849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Daily intake against completed deliveries, 90 days</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821CDA30-3FAD-2A4C-8CFE-9E566F501D6E}"/>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1" name="TextBox 10">
            <a:extLst>
              <a:ext uri="{FF2B5EF4-FFF2-40B4-BE49-F238E27FC236}">
                <a16:creationId xmlns:a16="http://schemas.microsoft.com/office/drawing/2014/main" id="{6DD5B8A4-E40F-B324-0AA6-2F5042AC534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18</a:t>
            </a:r>
          </a:p>
        </p:txBody>
      </p:sp>
    </p:spTree>
    <p:extLst>
      <p:ext uri="{BB962C8B-B14F-4D97-AF65-F5344CB8AC3E}">
        <p14:creationId xmlns:p14="http://schemas.microsoft.com/office/powerpoint/2010/main" val="1560976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427809-DC86-7351-317D-001945BE55F0}"/>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4B9F7DC3-5956-C29C-515D-B9CB35E934D2}"/>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ANALYTICS 2 OF 2</a:t>
            </a:r>
          </a:p>
        </p:txBody>
      </p:sp>
      <p:sp>
        <p:nvSpPr>
          <p:cNvPr id="4" name="TextBox 3">
            <a:extLst>
              <a:ext uri="{FF2B5EF4-FFF2-40B4-BE49-F238E27FC236}">
                <a16:creationId xmlns:a16="http://schemas.microsoft.com/office/drawing/2014/main" id="{38E6ACAB-1394-5EDC-0A60-C867CF65E596}"/>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On-time rate, by priority tier</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0E13B978-F2AA-C06E-32B6-F0EA167BBBE1}"/>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16E07CE1-45A6-02F3-F174-F21D59AF2C5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 y="1793875"/>
            <a:ext cx="7467600" cy="4133850"/>
          </a:xfrm>
          <a:prstGeom prst="rect">
            <a:avLst/>
          </a:prstGeom>
        </p:spPr>
      </p:pic>
      <p:sp>
        <p:nvSpPr>
          <p:cNvPr id="8" name="Rectangle: Rounded Corners 7">
            <a:extLst>
              <a:ext uri="{FF2B5EF4-FFF2-40B4-BE49-F238E27FC236}">
                <a16:creationId xmlns:a16="http://schemas.microsoft.com/office/drawing/2014/main" id="{EE6AEFD6-CF03-464F-553A-65901254DA48}"/>
              </a:ext>
            </a:extLst>
          </p:cNvPr>
          <p:cNvSpPr/>
          <p:nvPr/>
        </p:nvSpPr>
        <p:spPr>
          <a:xfrm>
            <a:off x="711200" y="6096000"/>
            <a:ext cx="7467600" cy="3556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F9948623-1F71-8469-DF55-A7101D75B246}"/>
              </a:ext>
            </a:extLst>
          </p:cNvPr>
          <p:cNvSpPr txBox="1"/>
          <p:nvPr/>
        </p:nvSpPr>
        <p:spPr>
          <a:xfrm>
            <a:off x="863600" y="6184900"/>
            <a:ext cx="7188200" cy="300082"/>
          </a:xfrm>
          <a:prstGeom prst="rect">
            <a:avLst/>
          </a:prstGeom>
          <a:noFill/>
        </p:spPr>
        <p:txBody>
          <a:bodyPr vert="horz" wrap="square" lIns="0" tIns="0" rIns="0" bIns="0" rtlCol="0">
            <a:noAutofit/>
          </a:bodyPr>
          <a:lstStyle/>
          <a:p>
            <a:r>
              <a:rPr lang="en-US" sz="900">
                <a:solidFill>
                  <a:srgbClr val="8B744B"/>
                </a:solidFill>
                <a:latin typeface="Segoe UI" panose="020B0502040204020203" pitchFamily="34" charset="0"/>
              </a:rPr>
              <a:t>This chart read 0% for every tier until the timezone bug was fixed</a:t>
            </a:r>
            <a:endParaRPr lang="en-IN" sz="900">
              <a:solidFill>
                <a:srgbClr val="8B744B"/>
              </a:solidFill>
              <a:latin typeface="Segoe UI" panose="020B0502040204020203" pitchFamily="34" charset="0"/>
            </a:endParaRPr>
          </a:p>
        </p:txBody>
      </p:sp>
      <p:sp>
        <p:nvSpPr>
          <p:cNvPr id="10" name="TextBox 9">
            <a:extLst>
              <a:ext uri="{FF2B5EF4-FFF2-40B4-BE49-F238E27FC236}">
                <a16:creationId xmlns:a16="http://schemas.microsoft.com/office/drawing/2014/main" id="{202372DB-7F6B-A0FE-6CBA-189C6973E833}"/>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1" name="TextBox 10">
            <a:extLst>
              <a:ext uri="{FF2B5EF4-FFF2-40B4-BE49-F238E27FC236}">
                <a16:creationId xmlns:a16="http://schemas.microsoft.com/office/drawing/2014/main" id="{AD07AA03-F2EB-FD80-6388-27051EEB6D9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19</a:t>
            </a:r>
          </a:p>
        </p:txBody>
      </p:sp>
    </p:spTree>
    <p:extLst>
      <p:ext uri="{BB962C8B-B14F-4D97-AF65-F5344CB8AC3E}">
        <p14:creationId xmlns:p14="http://schemas.microsoft.com/office/powerpoint/2010/main" val="2876662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C9B4BE-93CB-BB96-9ACA-E65DF5A9CD15}"/>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BBCFEA39-1DB4-E19F-D8CB-3AC77C0FEED1}"/>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ANALYTICS</a:t>
            </a:r>
          </a:p>
        </p:txBody>
      </p:sp>
      <p:sp>
        <p:nvSpPr>
          <p:cNvPr id="4" name="TextBox 3">
            <a:extLst>
              <a:ext uri="{FF2B5EF4-FFF2-40B4-BE49-F238E27FC236}">
                <a16:creationId xmlns:a16="http://schemas.microsoft.com/office/drawing/2014/main" id="{E0F57057-0985-65B4-D086-851245F1A4F3}"/>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Outcome and headroom</a:t>
            </a:r>
          </a:p>
        </p:txBody>
      </p:sp>
      <p:sp>
        <p:nvSpPr>
          <p:cNvPr id="5" name="Rectangle 4">
            <a:extLst>
              <a:ext uri="{FF2B5EF4-FFF2-40B4-BE49-F238E27FC236}">
                <a16:creationId xmlns:a16="http://schemas.microsoft.com/office/drawing/2014/main" id="{9F83E393-54DA-2576-E43C-B326792E297D}"/>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C543F9A5-D4E2-4D60-EFF4-E5E3F423C3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 y="2205264"/>
            <a:ext cx="5384800" cy="2980871"/>
          </a:xfrm>
          <a:prstGeom prst="rect">
            <a:avLst/>
          </a:prstGeom>
        </p:spPr>
      </p:pic>
      <p:pic>
        <p:nvPicPr>
          <p:cNvPr id="9" name="Picture 8">
            <a:extLst>
              <a:ext uri="{FF2B5EF4-FFF2-40B4-BE49-F238E27FC236}">
                <a16:creationId xmlns:a16="http://schemas.microsoft.com/office/drawing/2014/main" id="{1FC1E123-2A46-E9E6-CA5E-DEB652C950D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99200" y="2978604"/>
            <a:ext cx="5181600" cy="1434193"/>
          </a:xfrm>
          <a:prstGeom prst="rect">
            <a:avLst/>
          </a:prstGeom>
        </p:spPr>
      </p:pic>
      <p:sp>
        <p:nvSpPr>
          <p:cNvPr id="10" name="Rectangle: Rounded Corners 9">
            <a:extLst>
              <a:ext uri="{FF2B5EF4-FFF2-40B4-BE49-F238E27FC236}">
                <a16:creationId xmlns:a16="http://schemas.microsoft.com/office/drawing/2014/main" id="{0352E001-F355-4101-79A0-8BD883FBB6D4}"/>
              </a:ext>
            </a:extLst>
          </p:cNvPr>
          <p:cNvSpPr/>
          <p:nvPr/>
        </p:nvSpPr>
        <p:spPr>
          <a:xfrm>
            <a:off x="711200" y="5791200"/>
            <a:ext cx="10769600" cy="533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1" name="TextBox 10">
            <a:extLst>
              <a:ext uri="{FF2B5EF4-FFF2-40B4-BE49-F238E27FC236}">
                <a16:creationId xmlns:a16="http://schemas.microsoft.com/office/drawing/2014/main" id="{51DA3454-7E41-6567-F073-16BBA4970F10}"/>
              </a:ext>
            </a:extLst>
          </p:cNvPr>
          <p:cNvSpPr txBox="1"/>
          <p:nvPr/>
        </p:nvSpPr>
        <p:spPr>
          <a:xfrm>
            <a:off x="914400" y="5930900"/>
            <a:ext cx="10363200" cy="300082"/>
          </a:xfrm>
          <a:prstGeom prst="rect">
            <a:avLst/>
          </a:prstGeom>
          <a:noFill/>
        </p:spPr>
        <p:txBody>
          <a:bodyPr vert="horz" wrap="square" lIns="0" tIns="0" rIns="0" bIns="0" rtlCol="0">
            <a:noAutofit/>
          </a:bodyPr>
          <a:lstStyle/>
          <a:p>
            <a:r>
              <a:rPr lang="en-US" sz="1000">
                <a:solidFill>
                  <a:srgbClr val="2F170A"/>
                </a:solidFill>
                <a:latin typeface="Segoe UI" panose="020B0502040204020203" pitchFamily="34" charset="0"/>
              </a:rPr>
              <a:t>76.7% delivered   |   average batch fill 43.0%   |   110 batches carry a single stop - the clearest headroom in the system</a:t>
            </a:r>
            <a:endParaRPr lang="en-IN" sz="1000">
              <a:solidFill>
                <a:srgbClr val="2F170A"/>
              </a:solidFill>
              <a:latin typeface="Segoe UI" panose="020B0502040204020203" pitchFamily="34" charset="0"/>
            </a:endParaRPr>
          </a:p>
        </p:txBody>
      </p:sp>
      <p:sp>
        <p:nvSpPr>
          <p:cNvPr id="12" name="TextBox 11">
            <a:extLst>
              <a:ext uri="{FF2B5EF4-FFF2-40B4-BE49-F238E27FC236}">
                <a16:creationId xmlns:a16="http://schemas.microsoft.com/office/drawing/2014/main" id="{A0996B1C-CEAC-25B8-88CA-E8FF0C9B9FB8}"/>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3" name="TextBox 12">
            <a:extLst>
              <a:ext uri="{FF2B5EF4-FFF2-40B4-BE49-F238E27FC236}">
                <a16:creationId xmlns:a16="http://schemas.microsoft.com/office/drawing/2014/main" id="{28CC49C3-2824-8239-E8F9-B910E95BEE3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20</a:t>
            </a:r>
          </a:p>
        </p:txBody>
      </p:sp>
    </p:spTree>
    <p:extLst>
      <p:ext uri="{BB962C8B-B14F-4D97-AF65-F5344CB8AC3E}">
        <p14:creationId xmlns:p14="http://schemas.microsoft.com/office/powerpoint/2010/main" val="350596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049329-E9CB-0B53-3DE2-E22ECBFC11E1}"/>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95F1C151-0A6A-2E78-016A-96A1ACAD8494}"/>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ANALYTICS</a:t>
            </a:r>
          </a:p>
        </p:txBody>
      </p:sp>
      <p:sp>
        <p:nvSpPr>
          <p:cNvPr id="4" name="TextBox 3">
            <a:extLst>
              <a:ext uri="{FF2B5EF4-FFF2-40B4-BE49-F238E27FC236}">
                <a16:creationId xmlns:a16="http://schemas.microsoft.com/office/drawing/2014/main" id="{5C7323F9-3FDE-1C34-8BB4-6A588B603D61}"/>
              </a:ext>
            </a:extLst>
          </p:cNvPr>
          <p:cNvSpPr txBox="1"/>
          <p:nvPr/>
        </p:nvSpPr>
        <p:spPr>
          <a:xfrm>
            <a:off x="711200" y="787400"/>
            <a:ext cx="10414000" cy="300082"/>
          </a:xfrm>
          <a:prstGeom prst="rect">
            <a:avLst/>
          </a:prstGeom>
          <a:noFill/>
        </p:spPr>
        <p:txBody>
          <a:bodyPr vert="horz" wrap="square" lIns="0" tIns="0" rIns="0" bIns="0" rtlCol="0">
            <a:noAutofit/>
          </a:bodyPr>
          <a:lstStyle/>
          <a:p>
            <a:r>
              <a:rPr lang="en-IN" sz="3000" b="1">
                <a:solidFill>
                  <a:srgbClr val="2F170A"/>
                </a:solidFill>
                <a:latin typeface="Segoe UI" panose="020B0502040204020203" pitchFamily="34" charset="0"/>
              </a:rPr>
              <a:t>Where the volume is</a:t>
            </a:r>
          </a:p>
        </p:txBody>
      </p:sp>
      <p:sp>
        <p:nvSpPr>
          <p:cNvPr id="5" name="Rectangle 4">
            <a:extLst>
              <a:ext uri="{FF2B5EF4-FFF2-40B4-BE49-F238E27FC236}">
                <a16:creationId xmlns:a16="http://schemas.microsoft.com/office/drawing/2014/main" id="{29C733FC-D91F-31D1-15A0-B51F85601638}"/>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pic>
        <p:nvPicPr>
          <p:cNvPr id="7" name="Picture 6">
            <a:extLst>
              <a:ext uri="{FF2B5EF4-FFF2-40B4-BE49-F238E27FC236}">
                <a16:creationId xmlns:a16="http://schemas.microsoft.com/office/drawing/2014/main" id="{B0A43BDA-4A6C-CD8B-E196-21F0178B5A6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 y="3843111"/>
            <a:ext cx="7924800" cy="35379"/>
          </a:xfrm>
          <a:prstGeom prst="rect">
            <a:avLst/>
          </a:prstGeom>
        </p:spPr>
      </p:pic>
      <p:sp>
        <p:nvSpPr>
          <p:cNvPr id="8" name="Rectangle: Rounded Corners 7">
            <a:extLst>
              <a:ext uri="{FF2B5EF4-FFF2-40B4-BE49-F238E27FC236}">
                <a16:creationId xmlns:a16="http://schemas.microsoft.com/office/drawing/2014/main" id="{F58284B9-3FC7-E51D-3960-3EA64FFA5FC3}"/>
              </a:ext>
            </a:extLst>
          </p:cNvPr>
          <p:cNvSpPr/>
          <p:nvPr/>
        </p:nvSpPr>
        <p:spPr>
          <a:xfrm>
            <a:off x="8890000" y="1752600"/>
            <a:ext cx="2590800" cy="4216400"/>
          </a:xfrm>
          <a:prstGeom prst="roundRect">
            <a:avLst>
              <a:gd name="adj" fmla="val -100000"/>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9" name="TextBox 8">
            <a:extLst>
              <a:ext uri="{FF2B5EF4-FFF2-40B4-BE49-F238E27FC236}">
                <a16:creationId xmlns:a16="http://schemas.microsoft.com/office/drawing/2014/main" id="{005B2A19-4C1C-079A-7F0D-655309CFD5B8}"/>
              </a:ext>
            </a:extLst>
          </p:cNvPr>
          <p:cNvSpPr txBox="1"/>
          <p:nvPr/>
        </p:nvSpPr>
        <p:spPr>
          <a:xfrm>
            <a:off x="9093200" y="1981200"/>
            <a:ext cx="2184400" cy="300082"/>
          </a:xfrm>
          <a:prstGeom prst="rect">
            <a:avLst/>
          </a:prstGeom>
          <a:noFill/>
        </p:spPr>
        <p:txBody>
          <a:bodyPr vert="horz" wrap="square" lIns="0" tIns="0" rIns="0" bIns="0" rtlCol="0">
            <a:noAutofit/>
          </a:bodyPr>
          <a:lstStyle/>
          <a:p>
            <a:r>
              <a:rPr lang="en-IN" sz="900" b="1">
                <a:solidFill>
                  <a:srgbClr val="0284C7"/>
                </a:solidFill>
                <a:latin typeface="Segoe UI" panose="020B0502040204020203" pitchFamily="34" charset="0"/>
              </a:rPr>
              <a:t>TAKEAWAY</a:t>
            </a:r>
          </a:p>
        </p:txBody>
      </p:sp>
      <p:sp>
        <p:nvSpPr>
          <p:cNvPr id="10" name="TextBox 9">
            <a:extLst>
              <a:ext uri="{FF2B5EF4-FFF2-40B4-BE49-F238E27FC236}">
                <a16:creationId xmlns:a16="http://schemas.microsoft.com/office/drawing/2014/main" id="{DBDA78CE-CDA5-5F0B-BB32-DAF6B21CBD1E}"/>
              </a:ext>
            </a:extLst>
          </p:cNvPr>
          <p:cNvSpPr txBox="1"/>
          <p:nvPr/>
        </p:nvSpPr>
        <p:spPr>
          <a:xfrm>
            <a:off x="9093200" y="2311400"/>
            <a:ext cx="2184400" cy="1846659"/>
          </a:xfrm>
          <a:prstGeom prst="rect">
            <a:avLst/>
          </a:prstGeom>
          <a:noFill/>
        </p:spPr>
        <p:txBody>
          <a:bodyPr vert="horz" wrap="square" lIns="0" tIns="0" rIns="0" bIns="0" rtlCol="0">
            <a:spAutoFit/>
          </a:bodyPr>
          <a:lstStyle/>
          <a:p>
            <a:r>
              <a:rPr lang="en-US" sz="1000">
                <a:solidFill>
                  <a:srgbClr val="2F170A"/>
                </a:solidFill>
                <a:latin typeface="Segoe UI" panose="020B0502040204020203" pitchFamily="34" charset="0"/>
              </a:rPr>
              <a:t>•  Volume is spread evenly</a:t>
            </a:r>
            <a:br>
              <a:rPr lang="en-US" sz="1000">
                <a:solidFill>
                  <a:srgbClr val="2F170A"/>
                </a:solidFill>
                <a:latin typeface="Segoe UI" panose="020B0502040204020203" pitchFamily="34" charset="0"/>
              </a:rPr>
            </a:br>
            <a:r>
              <a:rPr lang="en-US" sz="1000">
                <a:solidFill>
                  <a:srgbClr val="2F170A"/>
                </a:solidFill>
                <a:latin typeface="Segoe UI" panose="020B0502040204020203" pitchFamily="34" charset="0"/>
              </a:rPr>
              <a:t>across 12 depots</a:t>
            </a:r>
          </a:p>
          <a:p>
            <a:endParaRPr lang="en-IN" sz="1000">
              <a:solidFill>
                <a:srgbClr val="2F170A"/>
              </a:solidFill>
              <a:latin typeface="Segoe UI" panose="020B0502040204020203" pitchFamily="34" charset="0"/>
            </a:endParaRPr>
          </a:p>
          <a:p>
            <a:r>
              <a:rPr lang="en-US" sz="1000">
                <a:solidFill>
                  <a:srgbClr val="2F170A"/>
                </a:solidFill>
                <a:latin typeface="Segoe UI" panose="020B0502040204020203" pitchFamily="34" charset="0"/>
              </a:rPr>
              <a:t>•  Visakhapatnam leads on</a:t>
            </a:r>
            <a:br>
              <a:rPr lang="en-US" sz="1000">
                <a:solidFill>
                  <a:srgbClr val="2F170A"/>
                </a:solidFill>
                <a:latin typeface="Segoe UI" panose="020B0502040204020203" pitchFamily="34" charset="0"/>
              </a:rPr>
            </a:br>
            <a:r>
              <a:rPr lang="en-US" sz="1000">
                <a:solidFill>
                  <a:srgbClr val="2F170A"/>
                </a:solidFill>
                <a:latin typeface="Segoe UI" panose="020B0502040204020203" pitchFamily="34" charset="0"/>
              </a:rPr>
              <a:t>request count</a:t>
            </a:r>
          </a:p>
          <a:p>
            <a:endParaRPr lang="en-IN" sz="1000">
              <a:solidFill>
                <a:srgbClr val="2F170A"/>
              </a:solidFill>
              <a:latin typeface="Segoe UI" panose="020B0502040204020203" pitchFamily="34" charset="0"/>
            </a:endParaRPr>
          </a:p>
          <a:p>
            <a:r>
              <a:rPr lang="en-US" sz="1000">
                <a:solidFill>
                  <a:srgbClr val="2F170A"/>
                </a:solidFill>
                <a:latin typeface="Segoe UI" panose="020B0502040204020203" pitchFamily="34" charset="0"/>
              </a:rPr>
              <a:t>•  V.O. Chidambaranar has</a:t>
            </a:r>
            <a:br>
              <a:rPr lang="en-US" sz="1000">
                <a:solidFill>
                  <a:srgbClr val="2F170A"/>
                </a:solidFill>
                <a:latin typeface="Segoe UI" panose="020B0502040204020203" pitchFamily="34" charset="0"/>
              </a:rPr>
            </a:br>
            <a:r>
              <a:rPr lang="en-US" sz="1000">
                <a:solidFill>
                  <a:srgbClr val="2F170A"/>
                </a:solidFill>
                <a:latin typeface="Segoe UI" panose="020B0502040204020203" pitchFamily="34" charset="0"/>
              </a:rPr>
              <a:t>the most active drivers</a:t>
            </a:r>
          </a:p>
          <a:p>
            <a:endParaRPr lang="en-IN" sz="1000">
              <a:solidFill>
                <a:srgbClr val="2F170A"/>
              </a:solidFill>
              <a:latin typeface="Segoe UI" panose="020B0502040204020203" pitchFamily="34" charset="0"/>
            </a:endParaRPr>
          </a:p>
          <a:p>
            <a:r>
              <a:rPr lang="en-US" sz="1000">
                <a:solidFill>
                  <a:srgbClr val="2F170A"/>
                </a:solidFill>
                <a:latin typeface="Segoe UI" panose="020B0502040204020203" pitchFamily="34" charset="0"/>
              </a:rPr>
              <a:t>•  Per-depot on-time varies</a:t>
            </a:r>
            <a:br>
              <a:rPr lang="en-US" sz="1000">
                <a:solidFill>
                  <a:srgbClr val="2F170A"/>
                </a:solidFill>
                <a:latin typeface="Segoe UI" panose="020B0502040204020203" pitchFamily="34" charset="0"/>
              </a:rPr>
            </a:br>
            <a:r>
              <a:rPr lang="en-US" sz="1000">
                <a:solidFill>
                  <a:srgbClr val="2F170A"/>
                </a:solidFill>
                <a:latin typeface="Segoe UI" panose="020B0502040204020203" pitchFamily="34" charset="0"/>
              </a:rPr>
              <a:t>from 64% to 88%</a:t>
            </a:r>
          </a:p>
          <a:p>
            <a:endParaRPr lang="en-IN" sz="1000">
              <a:solidFill>
                <a:srgbClr val="2F170A"/>
              </a:solidFill>
              <a:latin typeface="Segoe UI" panose="020B0502040204020203" pitchFamily="34" charset="0"/>
            </a:endParaRPr>
          </a:p>
        </p:txBody>
      </p:sp>
      <p:sp>
        <p:nvSpPr>
          <p:cNvPr id="11" name="TextBox 10">
            <a:extLst>
              <a:ext uri="{FF2B5EF4-FFF2-40B4-BE49-F238E27FC236}">
                <a16:creationId xmlns:a16="http://schemas.microsoft.com/office/drawing/2014/main" id="{AB4A7AEB-822B-0832-B3D2-7E2A6CAC6E91}"/>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63EC6251-1096-042B-740F-2E902D98222F}"/>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21</a:t>
            </a:r>
          </a:p>
        </p:txBody>
      </p:sp>
    </p:spTree>
    <p:extLst>
      <p:ext uri="{BB962C8B-B14F-4D97-AF65-F5344CB8AC3E}">
        <p14:creationId xmlns:p14="http://schemas.microsoft.com/office/powerpoint/2010/main" val="2960288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8FE8D7-2E3C-B9ED-437E-FBDD9585EC5C}"/>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3C33FB9A-E258-61A6-7395-987680CB4639}"/>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WHY LOGISYNC IS SMARTER</a:t>
            </a:r>
          </a:p>
        </p:txBody>
      </p:sp>
      <p:sp>
        <p:nvSpPr>
          <p:cNvPr id="4" name="TextBox 3">
            <a:extLst>
              <a:ext uri="{FF2B5EF4-FFF2-40B4-BE49-F238E27FC236}">
                <a16:creationId xmlns:a16="http://schemas.microsoft.com/office/drawing/2014/main" id="{C1468448-0050-621D-1E6B-E034A07C8632}"/>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Against what teams actually use today</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0EA3DD71-260E-80EE-4B1B-D4A7A3CB0D28}"/>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Rectangle 5">
            <a:extLst>
              <a:ext uri="{FF2B5EF4-FFF2-40B4-BE49-F238E27FC236}">
                <a16:creationId xmlns:a16="http://schemas.microsoft.com/office/drawing/2014/main" id="{7724C880-B963-8E22-DC40-43F02892C90E}"/>
              </a:ext>
            </a:extLst>
          </p:cNvPr>
          <p:cNvSpPr/>
          <p:nvPr/>
        </p:nvSpPr>
        <p:spPr>
          <a:xfrm>
            <a:off x="711200" y="1803400"/>
            <a:ext cx="10769600" cy="3810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7" name="TextBox 6">
            <a:extLst>
              <a:ext uri="{FF2B5EF4-FFF2-40B4-BE49-F238E27FC236}">
                <a16:creationId xmlns:a16="http://schemas.microsoft.com/office/drawing/2014/main" id="{F17C2421-5C10-88F2-49A4-D2362A0E64D8}"/>
              </a:ext>
            </a:extLst>
          </p:cNvPr>
          <p:cNvSpPr txBox="1"/>
          <p:nvPr/>
        </p:nvSpPr>
        <p:spPr>
          <a:xfrm>
            <a:off x="863600" y="1816100"/>
            <a:ext cx="4572000" cy="300082"/>
          </a:xfrm>
          <a:prstGeom prst="rect">
            <a:avLst/>
          </a:prstGeom>
          <a:noFill/>
        </p:spPr>
        <p:txBody>
          <a:bodyPr vert="horz" wrap="square" lIns="0" tIns="0" rIns="0" bIns="0" rtlCol="0">
            <a:noAutofit/>
          </a:bodyPr>
          <a:lstStyle/>
          <a:p>
            <a:r>
              <a:rPr lang="en-IN" sz="950" b="1">
                <a:solidFill>
                  <a:srgbClr val="FFFFFF"/>
                </a:solidFill>
                <a:latin typeface="Segoe UI" panose="020B0502040204020203" pitchFamily="34" charset="0"/>
              </a:rPr>
              <a:t>Capability</a:t>
            </a:r>
          </a:p>
        </p:txBody>
      </p:sp>
      <p:sp>
        <p:nvSpPr>
          <p:cNvPr id="8" name="TextBox 7">
            <a:extLst>
              <a:ext uri="{FF2B5EF4-FFF2-40B4-BE49-F238E27FC236}">
                <a16:creationId xmlns:a16="http://schemas.microsoft.com/office/drawing/2014/main" id="{0E49C838-43F9-D4D0-2178-906F40372994}"/>
              </a:ext>
            </a:extLst>
          </p:cNvPr>
          <p:cNvSpPr txBox="1"/>
          <p:nvPr/>
        </p:nvSpPr>
        <p:spPr>
          <a:xfrm>
            <a:off x="5689600" y="1803400"/>
            <a:ext cx="1219200" cy="300082"/>
          </a:xfrm>
          <a:prstGeom prst="rect">
            <a:avLst/>
          </a:prstGeom>
          <a:noFill/>
        </p:spPr>
        <p:txBody>
          <a:bodyPr vert="horz" wrap="square" lIns="0" tIns="0" rIns="0" bIns="0" rtlCol="0">
            <a:noAutofit/>
          </a:bodyPr>
          <a:lstStyle/>
          <a:p>
            <a:pPr algn="ctr"/>
            <a:r>
              <a:rPr lang="en-IN" sz="950" b="1">
                <a:solidFill>
                  <a:srgbClr val="FFFFFF"/>
                </a:solidFill>
                <a:latin typeface="Segoe UI" panose="020B0502040204020203" pitchFamily="34" charset="0"/>
              </a:rPr>
              <a:t>Spreadsheets
+ phone</a:t>
            </a:r>
          </a:p>
        </p:txBody>
      </p:sp>
      <p:sp>
        <p:nvSpPr>
          <p:cNvPr id="9" name="TextBox 8">
            <a:extLst>
              <a:ext uri="{FF2B5EF4-FFF2-40B4-BE49-F238E27FC236}">
                <a16:creationId xmlns:a16="http://schemas.microsoft.com/office/drawing/2014/main" id="{8F7B25A2-E21D-8411-B704-820B17BDE5BA}"/>
              </a:ext>
            </a:extLst>
          </p:cNvPr>
          <p:cNvSpPr txBox="1"/>
          <p:nvPr/>
        </p:nvSpPr>
        <p:spPr>
          <a:xfrm>
            <a:off x="7112000" y="1803400"/>
            <a:ext cx="1117600" cy="300082"/>
          </a:xfrm>
          <a:prstGeom prst="rect">
            <a:avLst/>
          </a:prstGeom>
          <a:noFill/>
        </p:spPr>
        <p:txBody>
          <a:bodyPr vert="horz" wrap="square" lIns="0" tIns="0" rIns="0" bIns="0" rtlCol="0">
            <a:noAutofit/>
          </a:bodyPr>
          <a:lstStyle/>
          <a:p>
            <a:pPr algn="ctr"/>
            <a:r>
              <a:rPr lang="en-IN" sz="950" b="1">
                <a:solidFill>
                  <a:srgbClr val="FFFFFF"/>
                </a:solidFill>
                <a:latin typeface="Segoe UI" panose="020B0502040204020203" pitchFamily="34" charset="0"/>
              </a:rPr>
              <a:t>Courier
aggregator</a:t>
            </a:r>
          </a:p>
        </p:txBody>
      </p:sp>
      <p:sp>
        <p:nvSpPr>
          <p:cNvPr id="10" name="TextBox 9">
            <a:extLst>
              <a:ext uri="{FF2B5EF4-FFF2-40B4-BE49-F238E27FC236}">
                <a16:creationId xmlns:a16="http://schemas.microsoft.com/office/drawing/2014/main" id="{BC6779A6-72B6-DE42-71BF-3B5E7EC6913E}"/>
              </a:ext>
            </a:extLst>
          </p:cNvPr>
          <p:cNvSpPr txBox="1"/>
          <p:nvPr/>
        </p:nvSpPr>
        <p:spPr>
          <a:xfrm>
            <a:off x="8432800" y="1803400"/>
            <a:ext cx="1219200" cy="300082"/>
          </a:xfrm>
          <a:prstGeom prst="rect">
            <a:avLst/>
          </a:prstGeom>
          <a:noFill/>
        </p:spPr>
        <p:txBody>
          <a:bodyPr vert="horz" wrap="square" lIns="0" tIns="0" rIns="0" bIns="0" rtlCol="0">
            <a:noAutofit/>
          </a:bodyPr>
          <a:lstStyle/>
          <a:p>
            <a:pPr algn="ctr"/>
            <a:r>
              <a:rPr lang="en-IN" sz="950" b="1">
                <a:solidFill>
                  <a:srgbClr val="FFFFFF"/>
                </a:solidFill>
                <a:latin typeface="Segoe UI" panose="020B0502040204020203" pitchFamily="34" charset="0"/>
              </a:rPr>
              <a:t>Fleet TMS
suite</a:t>
            </a:r>
          </a:p>
        </p:txBody>
      </p:sp>
      <p:sp>
        <p:nvSpPr>
          <p:cNvPr id="11" name="TextBox 10">
            <a:extLst>
              <a:ext uri="{FF2B5EF4-FFF2-40B4-BE49-F238E27FC236}">
                <a16:creationId xmlns:a16="http://schemas.microsoft.com/office/drawing/2014/main" id="{27D7755D-2090-960E-1977-7707A45DF861}"/>
              </a:ext>
            </a:extLst>
          </p:cNvPr>
          <p:cNvSpPr txBox="1"/>
          <p:nvPr/>
        </p:nvSpPr>
        <p:spPr>
          <a:xfrm>
            <a:off x="9855200" y="1803400"/>
            <a:ext cx="1473200" cy="300082"/>
          </a:xfrm>
          <a:prstGeom prst="rect">
            <a:avLst/>
          </a:prstGeom>
          <a:noFill/>
        </p:spPr>
        <p:txBody>
          <a:bodyPr vert="horz" wrap="square" lIns="0" tIns="0" rIns="0" bIns="0" rtlCol="0">
            <a:noAutofit/>
          </a:bodyPr>
          <a:lstStyle/>
          <a:p>
            <a:pPr algn="ctr"/>
            <a:r>
              <a:rPr lang="en-IN" sz="950" b="1">
                <a:solidFill>
                  <a:srgbClr val="FFFFFF"/>
                </a:solidFill>
                <a:latin typeface="Segoe UI" panose="020B0502040204020203" pitchFamily="34" charset="0"/>
              </a:rPr>
              <a:t>LogiSync</a:t>
            </a:r>
          </a:p>
        </p:txBody>
      </p:sp>
      <p:sp>
        <p:nvSpPr>
          <p:cNvPr id="12" name="Rectangle 11">
            <a:extLst>
              <a:ext uri="{FF2B5EF4-FFF2-40B4-BE49-F238E27FC236}">
                <a16:creationId xmlns:a16="http://schemas.microsoft.com/office/drawing/2014/main" id="{C201043A-5DAA-717F-4EC3-5CB2867FFA00}"/>
              </a:ext>
            </a:extLst>
          </p:cNvPr>
          <p:cNvSpPr/>
          <p:nvPr/>
        </p:nvSpPr>
        <p:spPr>
          <a:xfrm>
            <a:off x="711200" y="2184400"/>
            <a:ext cx="10769600" cy="3810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3" name="TextBox 12">
            <a:extLst>
              <a:ext uri="{FF2B5EF4-FFF2-40B4-BE49-F238E27FC236}">
                <a16:creationId xmlns:a16="http://schemas.microsoft.com/office/drawing/2014/main" id="{60A752DA-7B0C-E419-B8D2-E463FBDF9A75}"/>
              </a:ext>
            </a:extLst>
          </p:cNvPr>
          <p:cNvSpPr txBox="1"/>
          <p:nvPr/>
        </p:nvSpPr>
        <p:spPr>
          <a:xfrm>
            <a:off x="863600" y="2184400"/>
            <a:ext cx="4572000" cy="300082"/>
          </a:xfrm>
          <a:prstGeom prst="rect">
            <a:avLst/>
          </a:prstGeom>
          <a:noFill/>
        </p:spPr>
        <p:txBody>
          <a:bodyPr vert="horz" wrap="square" lIns="0" tIns="0" rIns="0" bIns="0" rtlCol="0">
            <a:noAutofit/>
          </a:bodyPr>
          <a:lstStyle/>
          <a:p>
            <a:r>
              <a:rPr lang="en-IN" sz="1000" b="1">
                <a:solidFill>
                  <a:srgbClr val="C2B4A8"/>
                </a:solidFill>
                <a:latin typeface="Segoe UI" panose="020B0502040204020203" pitchFamily="34" charset="0"/>
              </a:rPr>
              <a:t>Live per-parcel tracking</a:t>
            </a:r>
          </a:p>
        </p:txBody>
      </p:sp>
      <p:sp>
        <p:nvSpPr>
          <p:cNvPr id="14" name="TextBox 13">
            <a:extLst>
              <a:ext uri="{FF2B5EF4-FFF2-40B4-BE49-F238E27FC236}">
                <a16:creationId xmlns:a16="http://schemas.microsoft.com/office/drawing/2014/main" id="{CCA1EE97-F0D7-01F7-65F0-E63FB45B73F1}"/>
              </a:ext>
            </a:extLst>
          </p:cNvPr>
          <p:cNvSpPr txBox="1"/>
          <p:nvPr/>
        </p:nvSpPr>
        <p:spPr>
          <a:xfrm>
            <a:off x="5689600" y="2197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15" name="TextBox 14">
            <a:extLst>
              <a:ext uri="{FF2B5EF4-FFF2-40B4-BE49-F238E27FC236}">
                <a16:creationId xmlns:a16="http://schemas.microsoft.com/office/drawing/2014/main" id="{295EFFD6-2666-755D-7DC0-CA40E5ED6680}"/>
              </a:ext>
            </a:extLst>
          </p:cNvPr>
          <p:cNvSpPr txBox="1"/>
          <p:nvPr/>
        </p:nvSpPr>
        <p:spPr>
          <a:xfrm>
            <a:off x="7112000" y="2197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16" name="TextBox 15">
            <a:extLst>
              <a:ext uri="{FF2B5EF4-FFF2-40B4-BE49-F238E27FC236}">
                <a16:creationId xmlns:a16="http://schemas.microsoft.com/office/drawing/2014/main" id="{A3EE0D03-5564-422E-4D1D-760FF8DC1D17}"/>
              </a:ext>
            </a:extLst>
          </p:cNvPr>
          <p:cNvSpPr txBox="1"/>
          <p:nvPr/>
        </p:nvSpPr>
        <p:spPr>
          <a:xfrm>
            <a:off x="8432800" y="2197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17" name="TextBox 16">
            <a:extLst>
              <a:ext uri="{FF2B5EF4-FFF2-40B4-BE49-F238E27FC236}">
                <a16:creationId xmlns:a16="http://schemas.microsoft.com/office/drawing/2014/main" id="{7570AC32-C959-9CE8-12A3-80911D46F854}"/>
              </a:ext>
            </a:extLst>
          </p:cNvPr>
          <p:cNvSpPr txBox="1"/>
          <p:nvPr/>
        </p:nvSpPr>
        <p:spPr>
          <a:xfrm>
            <a:off x="9855200" y="2197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18" name="Rectangle 17">
            <a:extLst>
              <a:ext uri="{FF2B5EF4-FFF2-40B4-BE49-F238E27FC236}">
                <a16:creationId xmlns:a16="http://schemas.microsoft.com/office/drawing/2014/main" id="{1D5008CA-43EF-9EFC-37FC-46C2CDA48727}"/>
              </a:ext>
            </a:extLst>
          </p:cNvPr>
          <p:cNvSpPr/>
          <p:nvPr/>
        </p:nvSpPr>
        <p:spPr>
          <a:xfrm>
            <a:off x="711200" y="2565400"/>
            <a:ext cx="10769600" cy="3810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9" name="TextBox 18">
            <a:extLst>
              <a:ext uri="{FF2B5EF4-FFF2-40B4-BE49-F238E27FC236}">
                <a16:creationId xmlns:a16="http://schemas.microsoft.com/office/drawing/2014/main" id="{7A9106CC-690D-7490-512E-B941E089FFA4}"/>
              </a:ext>
            </a:extLst>
          </p:cNvPr>
          <p:cNvSpPr txBox="1"/>
          <p:nvPr/>
        </p:nvSpPr>
        <p:spPr>
          <a:xfrm>
            <a:off x="863600" y="2565400"/>
            <a:ext cx="4572000" cy="300082"/>
          </a:xfrm>
          <a:prstGeom prst="rect">
            <a:avLst/>
          </a:prstGeom>
          <a:noFill/>
        </p:spPr>
        <p:txBody>
          <a:bodyPr vert="horz" wrap="square" lIns="0" tIns="0" rIns="0" bIns="0" rtlCol="0">
            <a:noAutofit/>
          </a:bodyPr>
          <a:lstStyle/>
          <a:p>
            <a:r>
              <a:rPr lang="en-IN" sz="1000" b="1">
                <a:solidFill>
                  <a:srgbClr val="C2B4A8"/>
                </a:solidFill>
                <a:latin typeface="Segoe UI" panose="020B0502040204020203" pitchFamily="34" charset="0"/>
              </a:rPr>
              <a:t>Automatic proximity batching</a:t>
            </a:r>
          </a:p>
        </p:txBody>
      </p:sp>
      <p:sp>
        <p:nvSpPr>
          <p:cNvPr id="20" name="TextBox 19">
            <a:extLst>
              <a:ext uri="{FF2B5EF4-FFF2-40B4-BE49-F238E27FC236}">
                <a16:creationId xmlns:a16="http://schemas.microsoft.com/office/drawing/2014/main" id="{62FE6FA1-8AC1-475B-8C8B-7E18258ADC2A}"/>
              </a:ext>
            </a:extLst>
          </p:cNvPr>
          <p:cNvSpPr txBox="1"/>
          <p:nvPr/>
        </p:nvSpPr>
        <p:spPr>
          <a:xfrm>
            <a:off x="5689600" y="2578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21" name="TextBox 20">
            <a:extLst>
              <a:ext uri="{FF2B5EF4-FFF2-40B4-BE49-F238E27FC236}">
                <a16:creationId xmlns:a16="http://schemas.microsoft.com/office/drawing/2014/main" id="{89BA4B3F-DE41-D49B-6216-F73D81C51837}"/>
              </a:ext>
            </a:extLst>
          </p:cNvPr>
          <p:cNvSpPr txBox="1"/>
          <p:nvPr/>
        </p:nvSpPr>
        <p:spPr>
          <a:xfrm>
            <a:off x="7112000" y="2578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22" name="TextBox 21">
            <a:extLst>
              <a:ext uri="{FF2B5EF4-FFF2-40B4-BE49-F238E27FC236}">
                <a16:creationId xmlns:a16="http://schemas.microsoft.com/office/drawing/2014/main" id="{B07CD149-AB19-4142-60C4-7139268041C1}"/>
              </a:ext>
            </a:extLst>
          </p:cNvPr>
          <p:cNvSpPr txBox="1"/>
          <p:nvPr/>
        </p:nvSpPr>
        <p:spPr>
          <a:xfrm>
            <a:off x="8432800" y="2578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23" name="TextBox 22">
            <a:extLst>
              <a:ext uri="{FF2B5EF4-FFF2-40B4-BE49-F238E27FC236}">
                <a16:creationId xmlns:a16="http://schemas.microsoft.com/office/drawing/2014/main" id="{A12210A3-4B3C-817F-6B50-FBF6AA127D9F}"/>
              </a:ext>
            </a:extLst>
          </p:cNvPr>
          <p:cNvSpPr txBox="1"/>
          <p:nvPr/>
        </p:nvSpPr>
        <p:spPr>
          <a:xfrm>
            <a:off x="9855200" y="2578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24" name="Rectangle 23">
            <a:extLst>
              <a:ext uri="{FF2B5EF4-FFF2-40B4-BE49-F238E27FC236}">
                <a16:creationId xmlns:a16="http://schemas.microsoft.com/office/drawing/2014/main" id="{88D80C0A-3BB8-E9E0-37C5-14FE0DDC1ACA}"/>
              </a:ext>
            </a:extLst>
          </p:cNvPr>
          <p:cNvSpPr/>
          <p:nvPr/>
        </p:nvSpPr>
        <p:spPr>
          <a:xfrm>
            <a:off x="711200" y="2946400"/>
            <a:ext cx="10769600" cy="3810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25" name="TextBox 24">
            <a:extLst>
              <a:ext uri="{FF2B5EF4-FFF2-40B4-BE49-F238E27FC236}">
                <a16:creationId xmlns:a16="http://schemas.microsoft.com/office/drawing/2014/main" id="{E52CFAA9-055F-9A1D-373E-4C6940D13C7A}"/>
              </a:ext>
            </a:extLst>
          </p:cNvPr>
          <p:cNvSpPr txBox="1"/>
          <p:nvPr/>
        </p:nvSpPr>
        <p:spPr>
          <a:xfrm>
            <a:off x="863600" y="2946400"/>
            <a:ext cx="4572000" cy="300082"/>
          </a:xfrm>
          <a:prstGeom prst="rect">
            <a:avLst/>
          </a:prstGeom>
          <a:noFill/>
        </p:spPr>
        <p:txBody>
          <a:bodyPr vert="horz" wrap="square" lIns="0" tIns="0" rIns="0" bIns="0" rtlCol="0">
            <a:noAutofit/>
          </a:bodyPr>
          <a:lstStyle/>
          <a:p>
            <a:r>
              <a:rPr lang="en-US" sz="1000" b="1">
                <a:solidFill>
                  <a:srgbClr val="C2B4A8"/>
                </a:solidFill>
                <a:latin typeface="Segoe UI" panose="020B0502040204020203" pitchFamily="34" charset="0"/>
              </a:rPr>
              <a:t>Atomic driver claim (no double-book)</a:t>
            </a:r>
            <a:endParaRPr lang="en-IN" sz="1000" b="1">
              <a:solidFill>
                <a:srgbClr val="C2B4A8"/>
              </a:solidFill>
              <a:latin typeface="Segoe UI" panose="020B0502040204020203" pitchFamily="34" charset="0"/>
            </a:endParaRPr>
          </a:p>
        </p:txBody>
      </p:sp>
      <p:sp>
        <p:nvSpPr>
          <p:cNvPr id="26" name="TextBox 25">
            <a:extLst>
              <a:ext uri="{FF2B5EF4-FFF2-40B4-BE49-F238E27FC236}">
                <a16:creationId xmlns:a16="http://schemas.microsoft.com/office/drawing/2014/main" id="{BDAD7F6F-6C69-54D0-063A-229ABEE31901}"/>
              </a:ext>
            </a:extLst>
          </p:cNvPr>
          <p:cNvSpPr txBox="1"/>
          <p:nvPr/>
        </p:nvSpPr>
        <p:spPr>
          <a:xfrm>
            <a:off x="5689600" y="2959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27" name="TextBox 26">
            <a:extLst>
              <a:ext uri="{FF2B5EF4-FFF2-40B4-BE49-F238E27FC236}">
                <a16:creationId xmlns:a16="http://schemas.microsoft.com/office/drawing/2014/main" id="{A340F92C-0F5D-56AD-66C7-FDFCBF00554B}"/>
              </a:ext>
            </a:extLst>
          </p:cNvPr>
          <p:cNvSpPr txBox="1"/>
          <p:nvPr/>
        </p:nvSpPr>
        <p:spPr>
          <a:xfrm>
            <a:off x="7112000" y="2959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28" name="TextBox 27">
            <a:extLst>
              <a:ext uri="{FF2B5EF4-FFF2-40B4-BE49-F238E27FC236}">
                <a16:creationId xmlns:a16="http://schemas.microsoft.com/office/drawing/2014/main" id="{D594A4D5-02D1-FB74-00F2-226038EC94A6}"/>
              </a:ext>
            </a:extLst>
          </p:cNvPr>
          <p:cNvSpPr txBox="1"/>
          <p:nvPr/>
        </p:nvSpPr>
        <p:spPr>
          <a:xfrm>
            <a:off x="8432800" y="2959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29" name="TextBox 28">
            <a:extLst>
              <a:ext uri="{FF2B5EF4-FFF2-40B4-BE49-F238E27FC236}">
                <a16:creationId xmlns:a16="http://schemas.microsoft.com/office/drawing/2014/main" id="{CFD9760E-8864-0563-63AF-06E38942BFA0}"/>
              </a:ext>
            </a:extLst>
          </p:cNvPr>
          <p:cNvSpPr txBox="1"/>
          <p:nvPr/>
        </p:nvSpPr>
        <p:spPr>
          <a:xfrm>
            <a:off x="9855200" y="2959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30" name="Rectangle 29">
            <a:extLst>
              <a:ext uri="{FF2B5EF4-FFF2-40B4-BE49-F238E27FC236}">
                <a16:creationId xmlns:a16="http://schemas.microsoft.com/office/drawing/2014/main" id="{98863F74-84C4-B653-93F3-46D3AEF38E44}"/>
              </a:ext>
            </a:extLst>
          </p:cNvPr>
          <p:cNvSpPr/>
          <p:nvPr/>
        </p:nvSpPr>
        <p:spPr>
          <a:xfrm>
            <a:off x="711200" y="3327400"/>
            <a:ext cx="10769600" cy="3810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1" name="TextBox 30">
            <a:extLst>
              <a:ext uri="{FF2B5EF4-FFF2-40B4-BE49-F238E27FC236}">
                <a16:creationId xmlns:a16="http://schemas.microsoft.com/office/drawing/2014/main" id="{1A7A379B-C42E-873F-EA46-7039C3958A39}"/>
              </a:ext>
            </a:extLst>
          </p:cNvPr>
          <p:cNvSpPr txBox="1"/>
          <p:nvPr/>
        </p:nvSpPr>
        <p:spPr>
          <a:xfrm>
            <a:off x="863600" y="3327400"/>
            <a:ext cx="4572000" cy="300082"/>
          </a:xfrm>
          <a:prstGeom prst="rect">
            <a:avLst/>
          </a:prstGeom>
          <a:noFill/>
        </p:spPr>
        <p:txBody>
          <a:bodyPr vert="horz" wrap="square" lIns="0" tIns="0" rIns="0" bIns="0" rtlCol="0">
            <a:noAutofit/>
          </a:bodyPr>
          <a:lstStyle/>
          <a:p>
            <a:r>
              <a:rPr lang="en-IN" sz="1000" b="1">
                <a:solidFill>
                  <a:srgbClr val="C2B4A8"/>
                </a:solidFill>
                <a:latin typeface="Segoe UI" panose="020B0502040204020203" pitchFamily="34" charset="0"/>
              </a:rPr>
              <a:t>Weight &amp; handling-aware pricing</a:t>
            </a:r>
          </a:p>
        </p:txBody>
      </p:sp>
      <p:sp>
        <p:nvSpPr>
          <p:cNvPr id="32" name="TextBox 31">
            <a:extLst>
              <a:ext uri="{FF2B5EF4-FFF2-40B4-BE49-F238E27FC236}">
                <a16:creationId xmlns:a16="http://schemas.microsoft.com/office/drawing/2014/main" id="{CFBF5275-6BB4-3D3C-8983-6A4226E28407}"/>
              </a:ext>
            </a:extLst>
          </p:cNvPr>
          <p:cNvSpPr txBox="1"/>
          <p:nvPr/>
        </p:nvSpPr>
        <p:spPr>
          <a:xfrm>
            <a:off x="5689600" y="3340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33" name="TextBox 32">
            <a:extLst>
              <a:ext uri="{FF2B5EF4-FFF2-40B4-BE49-F238E27FC236}">
                <a16:creationId xmlns:a16="http://schemas.microsoft.com/office/drawing/2014/main" id="{4FC0609F-6892-A58A-F60F-3AA0489C051F}"/>
              </a:ext>
            </a:extLst>
          </p:cNvPr>
          <p:cNvSpPr txBox="1"/>
          <p:nvPr/>
        </p:nvSpPr>
        <p:spPr>
          <a:xfrm>
            <a:off x="7112000" y="3340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34" name="TextBox 33">
            <a:extLst>
              <a:ext uri="{FF2B5EF4-FFF2-40B4-BE49-F238E27FC236}">
                <a16:creationId xmlns:a16="http://schemas.microsoft.com/office/drawing/2014/main" id="{8AFAB5CA-CFB2-7226-F8AB-A91268198197}"/>
              </a:ext>
            </a:extLst>
          </p:cNvPr>
          <p:cNvSpPr txBox="1"/>
          <p:nvPr/>
        </p:nvSpPr>
        <p:spPr>
          <a:xfrm>
            <a:off x="8432800" y="3340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35" name="TextBox 34">
            <a:extLst>
              <a:ext uri="{FF2B5EF4-FFF2-40B4-BE49-F238E27FC236}">
                <a16:creationId xmlns:a16="http://schemas.microsoft.com/office/drawing/2014/main" id="{B85CD029-DC0F-FA76-AF7A-5F754F85A58C}"/>
              </a:ext>
            </a:extLst>
          </p:cNvPr>
          <p:cNvSpPr txBox="1"/>
          <p:nvPr/>
        </p:nvSpPr>
        <p:spPr>
          <a:xfrm>
            <a:off x="9855200" y="3340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36" name="Rectangle 35">
            <a:extLst>
              <a:ext uri="{FF2B5EF4-FFF2-40B4-BE49-F238E27FC236}">
                <a16:creationId xmlns:a16="http://schemas.microsoft.com/office/drawing/2014/main" id="{39406C6D-3EC1-D758-F1F7-0157F325CBD6}"/>
              </a:ext>
            </a:extLst>
          </p:cNvPr>
          <p:cNvSpPr/>
          <p:nvPr/>
        </p:nvSpPr>
        <p:spPr>
          <a:xfrm>
            <a:off x="711200" y="3708400"/>
            <a:ext cx="10769600" cy="3810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7" name="TextBox 36">
            <a:extLst>
              <a:ext uri="{FF2B5EF4-FFF2-40B4-BE49-F238E27FC236}">
                <a16:creationId xmlns:a16="http://schemas.microsoft.com/office/drawing/2014/main" id="{5C3D245F-D01B-3F0C-3F54-6A36B7489991}"/>
              </a:ext>
            </a:extLst>
          </p:cNvPr>
          <p:cNvSpPr txBox="1"/>
          <p:nvPr/>
        </p:nvSpPr>
        <p:spPr>
          <a:xfrm>
            <a:off x="863600" y="3708400"/>
            <a:ext cx="4572000" cy="300082"/>
          </a:xfrm>
          <a:prstGeom prst="rect">
            <a:avLst/>
          </a:prstGeom>
          <a:noFill/>
        </p:spPr>
        <p:txBody>
          <a:bodyPr vert="horz" wrap="square" lIns="0" tIns="0" rIns="0" bIns="0" rtlCol="0">
            <a:noAutofit/>
          </a:bodyPr>
          <a:lstStyle/>
          <a:p>
            <a:r>
              <a:rPr lang="en-US" sz="1000" b="1">
                <a:solidFill>
                  <a:srgbClr val="C2B4A8"/>
                </a:solidFill>
                <a:latin typeface="Segoe UI" panose="020B0502040204020203" pitchFamily="34" charset="0"/>
              </a:rPr>
              <a:t>Customer books without a sales call</a:t>
            </a:r>
            <a:endParaRPr lang="en-IN" sz="1000" b="1">
              <a:solidFill>
                <a:srgbClr val="C2B4A8"/>
              </a:solidFill>
              <a:latin typeface="Segoe UI" panose="020B0502040204020203" pitchFamily="34" charset="0"/>
            </a:endParaRPr>
          </a:p>
        </p:txBody>
      </p:sp>
      <p:sp>
        <p:nvSpPr>
          <p:cNvPr id="38" name="TextBox 37">
            <a:extLst>
              <a:ext uri="{FF2B5EF4-FFF2-40B4-BE49-F238E27FC236}">
                <a16:creationId xmlns:a16="http://schemas.microsoft.com/office/drawing/2014/main" id="{3091E8FC-D53C-131D-8F7F-1E5B682C0700}"/>
              </a:ext>
            </a:extLst>
          </p:cNvPr>
          <p:cNvSpPr txBox="1"/>
          <p:nvPr/>
        </p:nvSpPr>
        <p:spPr>
          <a:xfrm>
            <a:off x="5689600" y="3721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39" name="TextBox 38">
            <a:extLst>
              <a:ext uri="{FF2B5EF4-FFF2-40B4-BE49-F238E27FC236}">
                <a16:creationId xmlns:a16="http://schemas.microsoft.com/office/drawing/2014/main" id="{791D9709-52F9-CBA7-736E-95C817570416}"/>
              </a:ext>
            </a:extLst>
          </p:cNvPr>
          <p:cNvSpPr txBox="1"/>
          <p:nvPr/>
        </p:nvSpPr>
        <p:spPr>
          <a:xfrm>
            <a:off x="7112000" y="3721100"/>
            <a:ext cx="11176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40" name="TextBox 39">
            <a:extLst>
              <a:ext uri="{FF2B5EF4-FFF2-40B4-BE49-F238E27FC236}">
                <a16:creationId xmlns:a16="http://schemas.microsoft.com/office/drawing/2014/main" id="{269823D5-9BEA-77E6-31F0-FC7B8992352C}"/>
              </a:ext>
            </a:extLst>
          </p:cNvPr>
          <p:cNvSpPr txBox="1"/>
          <p:nvPr/>
        </p:nvSpPr>
        <p:spPr>
          <a:xfrm>
            <a:off x="8432800" y="3721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41" name="TextBox 40">
            <a:extLst>
              <a:ext uri="{FF2B5EF4-FFF2-40B4-BE49-F238E27FC236}">
                <a16:creationId xmlns:a16="http://schemas.microsoft.com/office/drawing/2014/main" id="{CFF469AA-D9A6-1F78-AACC-4AC6AB7AEC73}"/>
              </a:ext>
            </a:extLst>
          </p:cNvPr>
          <p:cNvSpPr txBox="1"/>
          <p:nvPr/>
        </p:nvSpPr>
        <p:spPr>
          <a:xfrm>
            <a:off x="9855200" y="3721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42" name="Rectangle 41">
            <a:extLst>
              <a:ext uri="{FF2B5EF4-FFF2-40B4-BE49-F238E27FC236}">
                <a16:creationId xmlns:a16="http://schemas.microsoft.com/office/drawing/2014/main" id="{1D25752D-4CAA-7A69-76EE-8A8FC3455BF5}"/>
              </a:ext>
            </a:extLst>
          </p:cNvPr>
          <p:cNvSpPr/>
          <p:nvPr/>
        </p:nvSpPr>
        <p:spPr>
          <a:xfrm>
            <a:off x="711200" y="4089400"/>
            <a:ext cx="10769600" cy="3810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3" name="TextBox 42">
            <a:extLst>
              <a:ext uri="{FF2B5EF4-FFF2-40B4-BE49-F238E27FC236}">
                <a16:creationId xmlns:a16="http://schemas.microsoft.com/office/drawing/2014/main" id="{49374BD4-6D6A-6B05-9CF3-F3C1F5152C0B}"/>
              </a:ext>
            </a:extLst>
          </p:cNvPr>
          <p:cNvSpPr txBox="1"/>
          <p:nvPr/>
        </p:nvSpPr>
        <p:spPr>
          <a:xfrm>
            <a:off x="863600" y="4089400"/>
            <a:ext cx="4572000" cy="300082"/>
          </a:xfrm>
          <a:prstGeom prst="rect">
            <a:avLst/>
          </a:prstGeom>
          <a:noFill/>
        </p:spPr>
        <p:txBody>
          <a:bodyPr vert="horz" wrap="square" lIns="0" tIns="0" rIns="0" bIns="0" rtlCol="0">
            <a:noAutofit/>
          </a:bodyPr>
          <a:lstStyle/>
          <a:p>
            <a:r>
              <a:rPr lang="en-US" sz="1000" b="1">
                <a:solidFill>
                  <a:srgbClr val="C2B4A8"/>
                </a:solidFill>
                <a:latin typeface="Segoe UI" panose="020B0502040204020203" pitchFamily="34" charset="0"/>
              </a:rPr>
              <a:t>Driver phone released to customer</a:t>
            </a:r>
            <a:endParaRPr lang="en-IN" sz="1000" b="1">
              <a:solidFill>
                <a:srgbClr val="C2B4A8"/>
              </a:solidFill>
              <a:latin typeface="Segoe UI" panose="020B0502040204020203" pitchFamily="34" charset="0"/>
            </a:endParaRPr>
          </a:p>
        </p:txBody>
      </p:sp>
      <p:sp>
        <p:nvSpPr>
          <p:cNvPr id="44" name="TextBox 43">
            <a:extLst>
              <a:ext uri="{FF2B5EF4-FFF2-40B4-BE49-F238E27FC236}">
                <a16:creationId xmlns:a16="http://schemas.microsoft.com/office/drawing/2014/main" id="{DCE105EC-6089-14B5-2D66-DF483F495CD5}"/>
              </a:ext>
            </a:extLst>
          </p:cNvPr>
          <p:cNvSpPr txBox="1"/>
          <p:nvPr/>
        </p:nvSpPr>
        <p:spPr>
          <a:xfrm>
            <a:off x="5689600" y="4102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45" name="TextBox 44">
            <a:extLst>
              <a:ext uri="{FF2B5EF4-FFF2-40B4-BE49-F238E27FC236}">
                <a16:creationId xmlns:a16="http://schemas.microsoft.com/office/drawing/2014/main" id="{5FDA0604-254A-7E94-1104-7E041FBBB1AE}"/>
              </a:ext>
            </a:extLst>
          </p:cNvPr>
          <p:cNvSpPr txBox="1"/>
          <p:nvPr/>
        </p:nvSpPr>
        <p:spPr>
          <a:xfrm>
            <a:off x="7112000" y="4102100"/>
            <a:ext cx="11176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46" name="TextBox 45">
            <a:extLst>
              <a:ext uri="{FF2B5EF4-FFF2-40B4-BE49-F238E27FC236}">
                <a16:creationId xmlns:a16="http://schemas.microsoft.com/office/drawing/2014/main" id="{84F131AB-29DF-3CF0-FD3D-ED28E0BCFC46}"/>
              </a:ext>
            </a:extLst>
          </p:cNvPr>
          <p:cNvSpPr txBox="1"/>
          <p:nvPr/>
        </p:nvSpPr>
        <p:spPr>
          <a:xfrm>
            <a:off x="8432800" y="4102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47" name="TextBox 46">
            <a:extLst>
              <a:ext uri="{FF2B5EF4-FFF2-40B4-BE49-F238E27FC236}">
                <a16:creationId xmlns:a16="http://schemas.microsoft.com/office/drawing/2014/main" id="{89393109-C250-E146-1933-191E6331AEA3}"/>
              </a:ext>
            </a:extLst>
          </p:cNvPr>
          <p:cNvSpPr txBox="1"/>
          <p:nvPr/>
        </p:nvSpPr>
        <p:spPr>
          <a:xfrm>
            <a:off x="9855200" y="4102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48" name="Rectangle 47">
            <a:extLst>
              <a:ext uri="{FF2B5EF4-FFF2-40B4-BE49-F238E27FC236}">
                <a16:creationId xmlns:a16="http://schemas.microsoft.com/office/drawing/2014/main" id="{42232423-A6F1-4655-45B7-D15EA632506A}"/>
              </a:ext>
            </a:extLst>
          </p:cNvPr>
          <p:cNvSpPr/>
          <p:nvPr/>
        </p:nvSpPr>
        <p:spPr>
          <a:xfrm>
            <a:off x="711200" y="4470400"/>
            <a:ext cx="10769600" cy="3810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9" name="TextBox 48">
            <a:extLst>
              <a:ext uri="{FF2B5EF4-FFF2-40B4-BE49-F238E27FC236}">
                <a16:creationId xmlns:a16="http://schemas.microsoft.com/office/drawing/2014/main" id="{9E3A355C-2A4F-6ED8-647E-3115419E129C}"/>
              </a:ext>
            </a:extLst>
          </p:cNvPr>
          <p:cNvSpPr txBox="1"/>
          <p:nvPr/>
        </p:nvSpPr>
        <p:spPr>
          <a:xfrm>
            <a:off x="863600" y="4470400"/>
            <a:ext cx="4572000" cy="300082"/>
          </a:xfrm>
          <a:prstGeom prst="rect">
            <a:avLst/>
          </a:prstGeom>
          <a:noFill/>
        </p:spPr>
        <p:txBody>
          <a:bodyPr vert="horz" wrap="square" lIns="0" tIns="0" rIns="0" bIns="0" rtlCol="0">
            <a:noAutofit/>
          </a:bodyPr>
          <a:lstStyle/>
          <a:p>
            <a:r>
              <a:rPr lang="en-IN" sz="1000" b="1">
                <a:solidFill>
                  <a:srgbClr val="C2B4A8"/>
                </a:solidFill>
                <a:latin typeface="Segoe UI" panose="020B0502040204020203" pitchFamily="34" charset="0"/>
              </a:rPr>
              <a:t>Full per-stop audit trail</a:t>
            </a:r>
          </a:p>
        </p:txBody>
      </p:sp>
      <p:sp>
        <p:nvSpPr>
          <p:cNvPr id="50" name="TextBox 49">
            <a:extLst>
              <a:ext uri="{FF2B5EF4-FFF2-40B4-BE49-F238E27FC236}">
                <a16:creationId xmlns:a16="http://schemas.microsoft.com/office/drawing/2014/main" id="{9AE3B4E0-BB01-1F48-CF05-F871B96DD55F}"/>
              </a:ext>
            </a:extLst>
          </p:cNvPr>
          <p:cNvSpPr txBox="1"/>
          <p:nvPr/>
        </p:nvSpPr>
        <p:spPr>
          <a:xfrm>
            <a:off x="5689600" y="4483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51" name="TextBox 50">
            <a:extLst>
              <a:ext uri="{FF2B5EF4-FFF2-40B4-BE49-F238E27FC236}">
                <a16:creationId xmlns:a16="http://schemas.microsoft.com/office/drawing/2014/main" id="{D43B2854-70F5-93A8-9698-59C2E6545416}"/>
              </a:ext>
            </a:extLst>
          </p:cNvPr>
          <p:cNvSpPr txBox="1"/>
          <p:nvPr/>
        </p:nvSpPr>
        <p:spPr>
          <a:xfrm>
            <a:off x="7112000" y="4483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52" name="TextBox 51">
            <a:extLst>
              <a:ext uri="{FF2B5EF4-FFF2-40B4-BE49-F238E27FC236}">
                <a16:creationId xmlns:a16="http://schemas.microsoft.com/office/drawing/2014/main" id="{0EDA8E71-FF81-6B8C-DCD3-AB8601E675FE}"/>
              </a:ext>
            </a:extLst>
          </p:cNvPr>
          <p:cNvSpPr txBox="1"/>
          <p:nvPr/>
        </p:nvSpPr>
        <p:spPr>
          <a:xfrm>
            <a:off x="8432800" y="4483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53" name="TextBox 52">
            <a:extLst>
              <a:ext uri="{FF2B5EF4-FFF2-40B4-BE49-F238E27FC236}">
                <a16:creationId xmlns:a16="http://schemas.microsoft.com/office/drawing/2014/main" id="{2DB1BB35-061A-6098-76B3-33CE110B3C61}"/>
              </a:ext>
            </a:extLst>
          </p:cNvPr>
          <p:cNvSpPr txBox="1"/>
          <p:nvPr/>
        </p:nvSpPr>
        <p:spPr>
          <a:xfrm>
            <a:off x="9855200" y="4483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54" name="Rectangle 53">
            <a:extLst>
              <a:ext uri="{FF2B5EF4-FFF2-40B4-BE49-F238E27FC236}">
                <a16:creationId xmlns:a16="http://schemas.microsoft.com/office/drawing/2014/main" id="{84C194D2-7B1A-35F9-5D8E-D7D8F26EAEF0}"/>
              </a:ext>
            </a:extLst>
          </p:cNvPr>
          <p:cNvSpPr/>
          <p:nvPr/>
        </p:nvSpPr>
        <p:spPr>
          <a:xfrm>
            <a:off x="711200" y="4851400"/>
            <a:ext cx="10769600" cy="381000"/>
          </a:xfrm>
          <a:prstGeom prst="rect">
            <a:avLst/>
          </a:prstGeom>
          <a:solidFill>
            <a:srgbClr val="FFFFFF"/>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55" name="TextBox 54">
            <a:extLst>
              <a:ext uri="{FF2B5EF4-FFF2-40B4-BE49-F238E27FC236}">
                <a16:creationId xmlns:a16="http://schemas.microsoft.com/office/drawing/2014/main" id="{5FBBC1BA-D802-1FE5-CFAE-3AFE054E9099}"/>
              </a:ext>
            </a:extLst>
          </p:cNvPr>
          <p:cNvSpPr txBox="1"/>
          <p:nvPr/>
        </p:nvSpPr>
        <p:spPr>
          <a:xfrm>
            <a:off x="863600" y="4851400"/>
            <a:ext cx="4572000" cy="300082"/>
          </a:xfrm>
          <a:prstGeom prst="rect">
            <a:avLst/>
          </a:prstGeom>
          <a:noFill/>
        </p:spPr>
        <p:txBody>
          <a:bodyPr vert="horz" wrap="square" lIns="0" tIns="0" rIns="0" bIns="0" rtlCol="0">
            <a:noAutofit/>
          </a:bodyPr>
          <a:lstStyle/>
          <a:p>
            <a:r>
              <a:rPr lang="en-US" sz="1000" b="1">
                <a:solidFill>
                  <a:srgbClr val="C2B4A8"/>
                </a:solidFill>
                <a:latin typeface="Segoe UI" panose="020B0502040204020203" pitchFamily="34" charset="0"/>
              </a:rPr>
              <a:t>Owns the port-side depot workflow</a:t>
            </a:r>
            <a:endParaRPr lang="en-IN" sz="1000" b="1">
              <a:solidFill>
                <a:srgbClr val="C2B4A8"/>
              </a:solidFill>
              <a:latin typeface="Segoe UI" panose="020B0502040204020203" pitchFamily="34" charset="0"/>
            </a:endParaRPr>
          </a:p>
        </p:txBody>
      </p:sp>
      <p:sp>
        <p:nvSpPr>
          <p:cNvPr id="56" name="TextBox 55">
            <a:extLst>
              <a:ext uri="{FF2B5EF4-FFF2-40B4-BE49-F238E27FC236}">
                <a16:creationId xmlns:a16="http://schemas.microsoft.com/office/drawing/2014/main" id="{DBBA69DF-918A-5A9B-379E-897EA7B3827C}"/>
              </a:ext>
            </a:extLst>
          </p:cNvPr>
          <p:cNvSpPr txBox="1"/>
          <p:nvPr/>
        </p:nvSpPr>
        <p:spPr>
          <a:xfrm>
            <a:off x="5689600" y="4864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57" name="TextBox 56">
            <a:extLst>
              <a:ext uri="{FF2B5EF4-FFF2-40B4-BE49-F238E27FC236}">
                <a16:creationId xmlns:a16="http://schemas.microsoft.com/office/drawing/2014/main" id="{5141A656-F402-E0A4-8F69-D96C4E23F570}"/>
              </a:ext>
            </a:extLst>
          </p:cNvPr>
          <p:cNvSpPr txBox="1"/>
          <p:nvPr/>
        </p:nvSpPr>
        <p:spPr>
          <a:xfrm>
            <a:off x="7112000" y="4864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58" name="TextBox 57">
            <a:extLst>
              <a:ext uri="{FF2B5EF4-FFF2-40B4-BE49-F238E27FC236}">
                <a16:creationId xmlns:a16="http://schemas.microsoft.com/office/drawing/2014/main" id="{95329A77-0603-3047-94B7-D2810E12412C}"/>
              </a:ext>
            </a:extLst>
          </p:cNvPr>
          <p:cNvSpPr txBox="1"/>
          <p:nvPr/>
        </p:nvSpPr>
        <p:spPr>
          <a:xfrm>
            <a:off x="8432800" y="4864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59" name="TextBox 58">
            <a:extLst>
              <a:ext uri="{FF2B5EF4-FFF2-40B4-BE49-F238E27FC236}">
                <a16:creationId xmlns:a16="http://schemas.microsoft.com/office/drawing/2014/main" id="{2A571D6A-36D1-5A14-6EAC-8E6E9716F26F}"/>
              </a:ext>
            </a:extLst>
          </p:cNvPr>
          <p:cNvSpPr txBox="1"/>
          <p:nvPr/>
        </p:nvSpPr>
        <p:spPr>
          <a:xfrm>
            <a:off x="9855200" y="4864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60" name="Rectangle 59">
            <a:extLst>
              <a:ext uri="{FF2B5EF4-FFF2-40B4-BE49-F238E27FC236}">
                <a16:creationId xmlns:a16="http://schemas.microsoft.com/office/drawing/2014/main" id="{8F2F2FE1-57E3-E0DC-E313-0E43A824EF4B}"/>
              </a:ext>
            </a:extLst>
          </p:cNvPr>
          <p:cNvSpPr/>
          <p:nvPr/>
        </p:nvSpPr>
        <p:spPr>
          <a:xfrm>
            <a:off x="711200" y="5232400"/>
            <a:ext cx="10769600" cy="381000"/>
          </a:xfrm>
          <a:prstGeom prst="rect">
            <a:avLst/>
          </a:prstGeom>
          <a:solidFill>
            <a:srgbClr val="FEFCFB"/>
          </a:solidFill>
          <a:ln w="12700">
            <a:solidFill>
              <a:srgbClr val="EAE1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1" name="TextBox 60">
            <a:extLst>
              <a:ext uri="{FF2B5EF4-FFF2-40B4-BE49-F238E27FC236}">
                <a16:creationId xmlns:a16="http://schemas.microsoft.com/office/drawing/2014/main" id="{AE2CC85D-39C6-6D1C-529D-747281CC2CA5}"/>
              </a:ext>
            </a:extLst>
          </p:cNvPr>
          <p:cNvSpPr txBox="1"/>
          <p:nvPr/>
        </p:nvSpPr>
        <p:spPr>
          <a:xfrm>
            <a:off x="863600" y="5232400"/>
            <a:ext cx="4572000" cy="300082"/>
          </a:xfrm>
          <a:prstGeom prst="rect">
            <a:avLst/>
          </a:prstGeom>
          <a:noFill/>
        </p:spPr>
        <p:txBody>
          <a:bodyPr vert="horz" wrap="square" lIns="0" tIns="0" rIns="0" bIns="0" rtlCol="0">
            <a:noAutofit/>
          </a:bodyPr>
          <a:lstStyle/>
          <a:p>
            <a:r>
              <a:rPr lang="en-IN" sz="1000" b="1">
                <a:solidFill>
                  <a:srgbClr val="C2B4A8"/>
                </a:solidFill>
                <a:latin typeface="Segoe UI" panose="020B0502040204020203" pitchFamily="34" charset="0"/>
              </a:rPr>
              <a:t>Zero licence cost</a:t>
            </a:r>
          </a:p>
        </p:txBody>
      </p:sp>
      <p:sp>
        <p:nvSpPr>
          <p:cNvPr id="62" name="TextBox 61">
            <a:extLst>
              <a:ext uri="{FF2B5EF4-FFF2-40B4-BE49-F238E27FC236}">
                <a16:creationId xmlns:a16="http://schemas.microsoft.com/office/drawing/2014/main" id="{5B6AF9EA-33BA-AC1C-F16C-2EBAD37100D0}"/>
              </a:ext>
            </a:extLst>
          </p:cNvPr>
          <p:cNvSpPr txBox="1"/>
          <p:nvPr/>
        </p:nvSpPr>
        <p:spPr>
          <a:xfrm>
            <a:off x="5689600" y="5245100"/>
            <a:ext cx="1219200" cy="300082"/>
          </a:xfrm>
          <a:prstGeom prst="rect">
            <a:avLst/>
          </a:prstGeom>
          <a:noFill/>
        </p:spPr>
        <p:txBody>
          <a:bodyPr vert="horz" wrap="square" lIns="0" tIns="0" rIns="0" bIns="0" rtlCol="0">
            <a:noAutofit/>
          </a:bodyPr>
          <a:lstStyle/>
          <a:p>
            <a:pPr algn="ctr"/>
            <a:r>
              <a:rPr lang="en-IN" sz="1000" b="1">
                <a:solidFill>
                  <a:srgbClr val="2F170A"/>
                </a:solidFill>
                <a:latin typeface="Segoe UI" panose="020B0502040204020203" pitchFamily="34" charset="0"/>
              </a:rPr>
              <a:t>1</a:t>
            </a:r>
          </a:p>
        </p:txBody>
      </p:sp>
      <p:sp>
        <p:nvSpPr>
          <p:cNvPr id="63" name="TextBox 62">
            <a:extLst>
              <a:ext uri="{FF2B5EF4-FFF2-40B4-BE49-F238E27FC236}">
                <a16:creationId xmlns:a16="http://schemas.microsoft.com/office/drawing/2014/main" id="{F0F421D4-8C94-2379-2D3E-BA72164FB655}"/>
              </a:ext>
            </a:extLst>
          </p:cNvPr>
          <p:cNvSpPr txBox="1"/>
          <p:nvPr/>
        </p:nvSpPr>
        <p:spPr>
          <a:xfrm>
            <a:off x="7112000" y="5245100"/>
            <a:ext cx="11176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64" name="TextBox 63">
            <a:extLst>
              <a:ext uri="{FF2B5EF4-FFF2-40B4-BE49-F238E27FC236}">
                <a16:creationId xmlns:a16="http://schemas.microsoft.com/office/drawing/2014/main" id="{D9B34B84-0764-D32A-6497-BF701D1FA5B2}"/>
              </a:ext>
            </a:extLst>
          </p:cNvPr>
          <p:cNvSpPr txBox="1"/>
          <p:nvPr/>
        </p:nvSpPr>
        <p:spPr>
          <a:xfrm>
            <a:off x="8432800" y="5245100"/>
            <a:ext cx="1219200" cy="300082"/>
          </a:xfrm>
          <a:prstGeom prst="rect">
            <a:avLst/>
          </a:prstGeom>
          <a:noFill/>
        </p:spPr>
        <p:txBody>
          <a:bodyPr vert="horz" wrap="square" lIns="0" tIns="0" rIns="0" bIns="0" rtlCol="0">
            <a:noAutofit/>
          </a:bodyPr>
          <a:lstStyle/>
          <a:p>
            <a:pPr algn="ctr"/>
            <a:r>
              <a:rPr lang="en-IN" sz="1000" b="1">
                <a:solidFill>
                  <a:srgbClr val="C2B4A8"/>
                </a:solidFill>
                <a:latin typeface="Segoe UI" panose="020B0502040204020203" pitchFamily="34" charset="0"/>
              </a:rPr>
              <a:t>0</a:t>
            </a:r>
          </a:p>
        </p:txBody>
      </p:sp>
      <p:sp>
        <p:nvSpPr>
          <p:cNvPr id="65" name="TextBox 64">
            <a:extLst>
              <a:ext uri="{FF2B5EF4-FFF2-40B4-BE49-F238E27FC236}">
                <a16:creationId xmlns:a16="http://schemas.microsoft.com/office/drawing/2014/main" id="{8E1B50AA-C2A8-8FC3-8C3E-C49203079AD5}"/>
              </a:ext>
            </a:extLst>
          </p:cNvPr>
          <p:cNvSpPr txBox="1"/>
          <p:nvPr/>
        </p:nvSpPr>
        <p:spPr>
          <a:xfrm>
            <a:off x="9855200" y="5245100"/>
            <a:ext cx="1473200" cy="300082"/>
          </a:xfrm>
          <a:prstGeom prst="rect">
            <a:avLst/>
          </a:prstGeom>
          <a:noFill/>
        </p:spPr>
        <p:txBody>
          <a:bodyPr vert="horz" wrap="square" lIns="0" tIns="0" rIns="0" bIns="0" rtlCol="0">
            <a:noAutofit/>
          </a:bodyPr>
          <a:lstStyle/>
          <a:p>
            <a:pPr algn="ctr"/>
            <a:r>
              <a:rPr lang="en-IN" sz="950" b="1">
                <a:solidFill>
                  <a:srgbClr val="2F170A"/>
                </a:solidFill>
                <a:latin typeface="Segoe UI" panose="020B0502040204020203" pitchFamily="34" charset="0"/>
              </a:rPr>
              <a:t>1</a:t>
            </a:r>
          </a:p>
        </p:txBody>
      </p:sp>
      <p:sp>
        <p:nvSpPr>
          <p:cNvPr id="66" name="Rectangle: Rounded Corners 65">
            <a:extLst>
              <a:ext uri="{FF2B5EF4-FFF2-40B4-BE49-F238E27FC236}">
                <a16:creationId xmlns:a16="http://schemas.microsoft.com/office/drawing/2014/main" id="{B516EB4E-1D68-3E9F-8BB0-B9FA2BDD2B16}"/>
              </a:ext>
            </a:extLst>
          </p:cNvPr>
          <p:cNvSpPr/>
          <p:nvPr/>
        </p:nvSpPr>
        <p:spPr>
          <a:xfrm>
            <a:off x="711200" y="5537200"/>
            <a:ext cx="10769600" cy="711200"/>
          </a:xfrm>
          <a:prstGeom prst="roundRect">
            <a:avLst>
              <a:gd name="adj" fmla="val -10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7" name="TextBox 66">
            <a:extLst>
              <a:ext uri="{FF2B5EF4-FFF2-40B4-BE49-F238E27FC236}">
                <a16:creationId xmlns:a16="http://schemas.microsoft.com/office/drawing/2014/main" id="{6CC1A19E-B609-9589-5EA8-CEB6C7347D89}"/>
              </a:ext>
            </a:extLst>
          </p:cNvPr>
          <p:cNvSpPr txBox="1"/>
          <p:nvPr/>
        </p:nvSpPr>
        <p:spPr>
          <a:xfrm>
            <a:off x="965200" y="5715000"/>
            <a:ext cx="10261600" cy="300082"/>
          </a:xfrm>
          <a:prstGeom prst="rect">
            <a:avLst/>
          </a:prstGeom>
          <a:noFill/>
        </p:spPr>
        <p:txBody>
          <a:bodyPr vert="horz" wrap="square" lIns="0" tIns="0" rIns="0" bIns="0" rtlCol="0">
            <a:noAutofit/>
          </a:bodyPr>
          <a:lstStyle/>
          <a:p>
            <a:r>
              <a:rPr lang="en-US" sz="1000">
                <a:solidFill>
                  <a:srgbClr val="FFFFFF"/>
                </a:solidFill>
                <a:latin typeface="Segoe UI" panose="020B0502040204020203" pitchFamily="34" charset="0"/>
              </a:rPr>
              <a:t>Our edge: it is built for the port-side depot, not the last mile. Couriers assume a sorted,
address-ready parcel. We model the awkward ones - weight, fragile, upright, reefer - and price them.</a:t>
            </a:r>
            <a:endParaRPr lang="en-IN" sz="1000">
              <a:solidFill>
                <a:srgbClr val="FFFFFF"/>
              </a:solidFill>
              <a:latin typeface="Segoe UI" panose="020B0502040204020203" pitchFamily="34" charset="0"/>
            </a:endParaRPr>
          </a:p>
        </p:txBody>
      </p:sp>
      <p:sp>
        <p:nvSpPr>
          <p:cNvPr id="68" name="TextBox 67">
            <a:extLst>
              <a:ext uri="{FF2B5EF4-FFF2-40B4-BE49-F238E27FC236}">
                <a16:creationId xmlns:a16="http://schemas.microsoft.com/office/drawing/2014/main" id="{06BD0710-BAE0-E3A2-BD70-83C7D3F613F7}"/>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69" name="TextBox 68">
            <a:extLst>
              <a:ext uri="{FF2B5EF4-FFF2-40B4-BE49-F238E27FC236}">
                <a16:creationId xmlns:a16="http://schemas.microsoft.com/office/drawing/2014/main" id="{5740B194-B9AB-C3E1-35BA-0B6CC54A1D3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22</a:t>
            </a:r>
          </a:p>
        </p:txBody>
      </p:sp>
    </p:spTree>
    <p:extLst>
      <p:ext uri="{BB962C8B-B14F-4D97-AF65-F5344CB8AC3E}">
        <p14:creationId xmlns:p14="http://schemas.microsoft.com/office/powerpoint/2010/main" val="1626316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67C7E8-6327-963C-568E-CFE80B13546A}"/>
              </a:ext>
            </a:extLst>
          </p:cNvPr>
          <p:cNvSpPr/>
          <p:nvPr/>
        </p:nvSpPr>
        <p:spPr>
          <a:xfrm>
            <a:off x="0" y="0"/>
            <a:ext cx="12192000" cy="6858000"/>
          </a:xfrm>
          <a:prstGeom prst="rect">
            <a:avLst/>
          </a:prstGeom>
          <a:solidFill>
            <a:srgbClr val="FEFC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TextBox 2">
            <a:extLst>
              <a:ext uri="{FF2B5EF4-FFF2-40B4-BE49-F238E27FC236}">
                <a16:creationId xmlns:a16="http://schemas.microsoft.com/office/drawing/2014/main" id="{F3F0BCE8-E7B7-6D5D-DA44-2CF24850EBAC}"/>
              </a:ext>
            </a:extLst>
          </p:cNvPr>
          <p:cNvSpPr txBox="1"/>
          <p:nvPr/>
        </p:nvSpPr>
        <p:spPr>
          <a:xfrm>
            <a:off x="711200" y="508000"/>
            <a:ext cx="8890000" cy="300082"/>
          </a:xfrm>
          <a:prstGeom prst="rect">
            <a:avLst/>
          </a:prstGeom>
          <a:noFill/>
        </p:spPr>
        <p:txBody>
          <a:bodyPr vert="horz" wrap="square" lIns="0" tIns="0" rIns="0" bIns="0" rtlCol="0">
            <a:noAutofit/>
          </a:bodyPr>
          <a:lstStyle/>
          <a:p>
            <a:r>
              <a:rPr lang="en-IN" sz="1100" b="1">
                <a:solidFill>
                  <a:srgbClr val="0284C7"/>
                </a:solidFill>
                <a:latin typeface="Segoe UI" panose="020B0502040204020203" pitchFamily="34" charset="0"/>
              </a:rPr>
              <a:t>CONCLUSION</a:t>
            </a:r>
          </a:p>
        </p:txBody>
      </p:sp>
      <p:sp>
        <p:nvSpPr>
          <p:cNvPr id="4" name="TextBox 3">
            <a:extLst>
              <a:ext uri="{FF2B5EF4-FFF2-40B4-BE49-F238E27FC236}">
                <a16:creationId xmlns:a16="http://schemas.microsoft.com/office/drawing/2014/main" id="{3288A457-36C9-7766-5468-08C63968E076}"/>
              </a:ext>
            </a:extLst>
          </p:cNvPr>
          <p:cNvSpPr txBox="1"/>
          <p:nvPr/>
        </p:nvSpPr>
        <p:spPr>
          <a:xfrm>
            <a:off x="711200" y="787400"/>
            <a:ext cx="10414000" cy="300082"/>
          </a:xfrm>
          <a:prstGeom prst="rect">
            <a:avLst/>
          </a:prstGeom>
          <a:noFill/>
        </p:spPr>
        <p:txBody>
          <a:bodyPr vert="horz" wrap="square" lIns="0" tIns="0" rIns="0" bIns="0" rtlCol="0">
            <a:noAutofit/>
          </a:bodyPr>
          <a:lstStyle/>
          <a:p>
            <a:r>
              <a:rPr lang="en-US" sz="3000" b="1">
                <a:solidFill>
                  <a:srgbClr val="2F170A"/>
                </a:solidFill>
                <a:latin typeface="Segoe UI" panose="020B0502040204020203" pitchFamily="34" charset="0"/>
              </a:rPr>
              <a:t>What we built, and what it proved</a:t>
            </a:r>
            <a:endParaRPr lang="en-IN" sz="3000" b="1">
              <a:solidFill>
                <a:srgbClr val="2F170A"/>
              </a:solidFill>
              <a:latin typeface="Segoe UI" panose="020B0502040204020203" pitchFamily="34" charset="0"/>
            </a:endParaRPr>
          </a:p>
        </p:txBody>
      </p:sp>
      <p:sp>
        <p:nvSpPr>
          <p:cNvPr id="5" name="Rectangle 4">
            <a:extLst>
              <a:ext uri="{FF2B5EF4-FFF2-40B4-BE49-F238E27FC236}">
                <a16:creationId xmlns:a16="http://schemas.microsoft.com/office/drawing/2014/main" id="{C4E2AF1C-30DF-0DCA-4716-4F30E4A52F85}"/>
              </a:ext>
            </a:extLst>
          </p:cNvPr>
          <p:cNvSpPr/>
          <p:nvPr/>
        </p:nvSpPr>
        <p:spPr>
          <a:xfrm>
            <a:off x="711200" y="1473200"/>
            <a:ext cx="8128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2E88035E-E8CE-7A0C-9984-1966EBEF6E9B}"/>
              </a:ext>
            </a:extLst>
          </p:cNvPr>
          <p:cNvSpPr txBox="1"/>
          <p:nvPr/>
        </p:nvSpPr>
        <p:spPr>
          <a:xfrm>
            <a:off x="711200" y="1905000"/>
            <a:ext cx="5334000" cy="2154436"/>
          </a:xfrm>
          <a:prstGeom prst="rect">
            <a:avLst/>
          </a:prstGeom>
          <a:noFill/>
        </p:spPr>
        <p:txBody>
          <a:bodyPr vert="horz" wrap="square" lIns="0" tIns="0" rIns="0" bIns="0" rtlCol="0">
            <a:spAutoFit/>
          </a:bodyPr>
          <a:lstStyle/>
          <a:p>
            <a:r>
              <a:rPr lang="en-US" sz="1400">
                <a:solidFill>
                  <a:srgbClr val="2F170A"/>
                </a:solidFill>
                <a:latin typeface="Segoe UI" panose="020B0502040204020203" pitchFamily="34" charset="0"/>
              </a:rPr>
              <a:t>•  Four roles, one marketplace, 12 depots</a:t>
            </a:r>
          </a:p>
          <a:p>
            <a:endParaRPr lang="en-IN" sz="1400">
              <a:solidFill>
                <a:srgbClr val="2F170A"/>
              </a:solidFill>
              <a:latin typeface="Segoe UI" panose="020B0502040204020203" pitchFamily="34" charset="0"/>
            </a:endParaRPr>
          </a:p>
          <a:p>
            <a:r>
              <a:rPr lang="en-US" sz="1400">
                <a:solidFill>
                  <a:srgbClr val="2F170A"/>
                </a:solidFill>
                <a:latin typeface="Segoe UI" panose="020B0502040204020203" pitchFamily="34" charset="0"/>
              </a:rPr>
              <a:t>•  490 requests and 205 runs over 90 days</a:t>
            </a:r>
          </a:p>
          <a:p>
            <a:endParaRPr lang="en-IN" sz="1400">
              <a:solidFill>
                <a:srgbClr val="2F170A"/>
              </a:solidFill>
              <a:latin typeface="Segoe UI" panose="020B0502040204020203" pitchFamily="34" charset="0"/>
            </a:endParaRPr>
          </a:p>
          <a:p>
            <a:r>
              <a:rPr lang="en-US" sz="1400">
                <a:solidFill>
                  <a:srgbClr val="2F170A"/>
                </a:solidFill>
                <a:latin typeface="Segoe UI" panose="020B0502040204020203" pitchFamily="34" charset="0"/>
              </a:rPr>
              <a:t>•  92.6% on-time, measured not assumed</a:t>
            </a:r>
          </a:p>
          <a:p>
            <a:endParaRPr lang="en-IN" sz="1400">
              <a:solidFill>
                <a:srgbClr val="2F170A"/>
              </a:solidFill>
              <a:latin typeface="Segoe UI" panose="020B0502040204020203" pitchFamily="34" charset="0"/>
            </a:endParaRPr>
          </a:p>
          <a:p>
            <a:r>
              <a:rPr lang="en-US" sz="1400">
                <a:solidFill>
                  <a:srgbClr val="2F170A"/>
                </a:solidFill>
                <a:latin typeface="Segoe UI" panose="020B0502040204020203" pitchFamily="34" charset="0"/>
              </a:rPr>
              <a:t>•  Payment, dispatch and driver contact all gated</a:t>
            </a:r>
          </a:p>
          <a:p>
            <a:endParaRPr lang="en-IN" sz="1400">
              <a:solidFill>
                <a:srgbClr val="2F170A"/>
              </a:solidFill>
              <a:latin typeface="Segoe UI" panose="020B0502040204020203" pitchFamily="34" charset="0"/>
            </a:endParaRPr>
          </a:p>
          <a:p>
            <a:r>
              <a:rPr lang="en-IN" sz="1400">
                <a:solidFill>
                  <a:srgbClr val="2F170A"/>
                </a:solidFill>
                <a:latin typeface="Segoe UI" panose="020B0502040204020203" pitchFamily="34" charset="0"/>
              </a:rPr>
              <a:t>•  127 tests, green</a:t>
            </a:r>
          </a:p>
          <a:p>
            <a:endParaRPr lang="en-IN" sz="1400">
              <a:solidFill>
                <a:srgbClr val="2F170A"/>
              </a:solidFill>
              <a:latin typeface="Segoe UI" panose="020B0502040204020203" pitchFamily="34" charset="0"/>
            </a:endParaRPr>
          </a:p>
        </p:txBody>
      </p:sp>
      <p:sp>
        <p:nvSpPr>
          <p:cNvPr id="7" name="TextBox 6">
            <a:extLst>
              <a:ext uri="{FF2B5EF4-FFF2-40B4-BE49-F238E27FC236}">
                <a16:creationId xmlns:a16="http://schemas.microsoft.com/office/drawing/2014/main" id="{CC11A3A4-75C4-12CB-4BB1-C323F2C6D9E7}"/>
              </a:ext>
            </a:extLst>
          </p:cNvPr>
          <p:cNvSpPr txBox="1"/>
          <p:nvPr/>
        </p:nvSpPr>
        <p:spPr>
          <a:xfrm>
            <a:off x="6350000" y="1905000"/>
            <a:ext cx="5130800" cy="300082"/>
          </a:xfrm>
          <a:prstGeom prst="rect">
            <a:avLst/>
          </a:prstGeom>
          <a:noFill/>
        </p:spPr>
        <p:txBody>
          <a:bodyPr vert="horz" wrap="square" lIns="0" tIns="0" rIns="0" bIns="0" rtlCol="0">
            <a:noAutofit/>
          </a:bodyPr>
          <a:lstStyle/>
          <a:p>
            <a:r>
              <a:rPr lang="en-IN" sz="1000" b="1">
                <a:solidFill>
                  <a:srgbClr val="0284C7"/>
                </a:solidFill>
                <a:latin typeface="Segoe UI" panose="020B0502040204020203" pitchFamily="34" charset="0"/>
              </a:rPr>
              <a:t>WHAT IT PROVED</a:t>
            </a:r>
          </a:p>
        </p:txBody>
      </p:sp>
      <p:sp>
        <p:nvSpPr>
          <p:cNvPr id="8" name="TextBox 7">
            <a:extLst>
              <a:ext uri="{FF2B5EF4-FFF2-40B4-BE49-F238E27FC236}">
                <a16:creationId xmlns:a16="http://schemas.microsoft.com/office/drawing/2014/main" id="{2C993CE5-091A-EAB2-04E1-A62D19BDFF45}"/>
              </a:ext>
            </a:extLst>
          </p:cNvPr>
          <p:cNvSpPr txBox="1"/>
          <p:nvPr/>
        </p:nvSpPr>
        <p:spPr>
          <a:xfrm>
            <a:off x="6350000" y="2260600"/>
            <a:ext cx="5130800" cy="1477328"/>
          </a:xfrm>
          <a:prstGeom prst="rect">
            <a:avLst/>
          </a:prstGeom>
          <a:noFill/>
        </p:spPr>
        <p:txBody>
          <a:bodyPr vert="horz" wrap="square" lIns="0" tIns="0" rIns="0" bIns="0" rtlCol="0">
            <a:spAutoFit/>
          </a:bodyPr>
          <a:lstStyle/>
          <a:p>
            <a:r>
              <a:rPr lang="en-US" sz="1200">
                <a:solidFill>
                  <a:srgbClr val="2F170A"/>
                </a:solidFill>
                <a:latin typeface="Segoe UI" panose="020B0502040204020203" pitchFamily="34" charset="0"/>
              </a:rPr>
              <a:t>•  The workflow holds under load and race</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Money is computed in one place, so it cannot drift</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Privacy gates need monotonic state,`nnot status checks</a:t>
            </a:r>
          </a:p>
          <a:p>
            <a:endParaRPr lang="en-IN" sz="1200">
              <a:solidFill>
                <a:srgbClr val="2F170A"/>
              </a:solidFill>
              <a:latin typeface="Segoe UI" panose="020B0502040204020203" pitchFamily="34" charset="0"/>
            </a:endParaRPr>
          </a:p>
          <a:p>
            <a:r>
              <a:rPr lang="en-US" sz="1200">
                <a:solidFill>
                  <a:srgbClr val="2F170A"/>
                </a:solidFill>
                <a:latin typeface="Segoe UI" panose="020B0502040204020203" pitchFamily="34" charset="0"/>
              </a:rPr>
              <a:t>•  Measuring first is what found the bug</a:t>
            </a:r>
          </a:p>
          <a:p>
            <a:endParaRPr lang="en-IN" sz="1200">
              <a:solidFill>
                <a:srgbClr val="2F170A"/>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EB55A58B-141E-ED3F-720F-E6883DD543D7}"/>
              </a:ext>
            </a:extLst>
          </p:cNvPr>
          <p:cNvSpPr/>
          <p:nvPr/>
        </p:nvSpPr>
        <p:spPr>
          <a:xfrm>
            <a:off x="711200" y="5588000"/>
            <a:ext cx="10769600" cy="711200"/>
          </a:xfrm>
          <a:prstGeom prst="roundRect">
            <a:avLst>
              <a:gd name="adj" fmla="val -100000"/>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10" name="TextBox 9">
            <a:extLst>
              <a:ext uri="{FF2B5EF4-FFF2-40B4-BE49-F238E27FC236}">
                <a16:creationId xmlns:a16="http://schemas.microsoft.com/office/drawing/2014/main" id="{9DE3A660-C5AC-B65D-7314-8F73E3F08AFF}"/>
              </a:ext>
            </a:extLst>
          </p:cNvPr>
          <p:cNvSpPr txBox="1"/>
          <p:nvPr/>
        </p:nvSpPr>
        <p:spPr>
          <a:xfrm>
            <a:off x="965200" y="5791200"/>
            <a:ext cx="10261600" cy="300082"/>
          </a:xfrm>
          <a:prstGeom prst="rect">
            <a:avLst/>
          </a:prstGeom>
          <a:noFill/>
        </p:spPr>
        <p:txBody>
          <a:bodyPr vert="horz" wrap="square" lIns="0" tIns="0" rIns="0" bIns="0" rtlCol="0">
            <a:noAutofit/>
          </a:bodyPr>
          <a:lstStyle/>
          <a:p>
            <a:r>
              <a:rPr lang="en-US" sz="1100" b="1">
                <a:solidFill>
                  <a:srgbClr val="FFFFFF"/>
                </a:solidFill>
                <a:latin typeface="Segoe UI" panose="020B0502040204020203" pitchFamily="34" charset="0"/>
              </a:rPr>
              <a:t>The system works end to end. The next gain is operational, not architectural:
fill the 110 single-stop runs by widening the departure window.</a:t>
            </a:r>
            <a:endParaRPr lang="en-IN" sz="1100" b="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76089F6A-B415-B644-7168-20AEAEDD55E0}"/>
              </a:ext>
            </a:extLst>
          </p:cNvPr>
          <p:cNvSpPr txBox="1"/>
          <p:nvPr/>
        </p:nvSpPr>
        <p:spPr>
          <a:xfrm>
            <a:off x="711200" y="6502400"/>
            <a:ext cx="7620000" cy="300082"/>
          </a:xfrm>
          <a:prstGeom prst="rect">
            <a:avLst/>
          </a:prstGeom>
          <a:noFill/>
        </p:spPr>
        <p:txBody>
          <a:bodyPr vert="horz" wrap="square" lIns="0" tIns="0" rIns="0" bIns="0" rtlCol="0">
            <a:noAutofit/>
          </a:bodyPr>
          <a:lstStyle/>
          <a:p>
            <a:r>
              <a:rPr lang="en-IN" sz="900">
                <a:solidFill>
                  <a:srgbClr val="8B744B"/>
                </a:solidFill>
                <a:latin typeface="Segoe UI" panose="020B0502040204020203" pitchFamily="34" charset="0"/>
              </a:rPr>
              <a:t>LogiSync - Port-to-Doorstep Delivery Marketplace</a:t>
            </a:r>
          </a:p>
        </p:txBody>
      </p:sp>
      <p:sp>
        <p:nvSpPr>
          <p:cNvPr id="12" name="TextBox 11">
            <a:extLst>
              <a:ext uri="{FF2B5EF4-FFF2-40B4-BE49-F238E27FC236}">
                <a16:creationId xmlns:a16="http://schemas.microsoft.com/office/drawing/2014/main" id="{793313C3-1C3E-AAF2-7F9B-63CB00B09AE1}"/>
              </a:ext>
            </a:extLst>
          </p:cNvPr>
          <p:cNvSpPr txBox="1"/>
          <p:nvPr/>
        </p:nvSpPr>
        <p:spPr>
          <a:xfrm>
            <a:off x="10922000" y="6502400"/>
            <a:ext cx="558800" cy="300082"/>
          </a:xfrm>
          <a:prstGeom prst="rect">
            <a:avLst/>
          </a:prstGeom>
          <a:noFill/>
        </p:spPr>
        <p:txBody>
          <a:bodyPr vert="horz" wrap="square" lIns="0" tIns="0" rIns="0" bIns="0" rtlCol="0">
            <a:noAutofit/>
          </a:bodyPr>
          <a:lstStyle/>
          <a:p>
            <a:pPr algn="r"/>
            <a:r>
              <a:rPr lang="en-IN" sz="900">
                <a:solidFill>
                  <a:srgbClr val="8B744B"/>
                </a:solidFill>
                <a:latin typeface="Segoe UI" panose="020B0502040204020203" pitchFamily="34" charset="0"/>
              </a:rPr>
              <a:t>23</a:t>
            </a:r>
          </a:p>
        </p:txBody>
      </p:sp>
    </p:spTree>
    <p:extLst>
      <p:ext uri="{BB962C8B-B14F-4D97-AF65-F5344CB8AC3E}">
        <p14:creationId xmlns:p14="http://schemas.microsoft.com/office/powerpoint/2010/main" val="420125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17CE94-35C6-88E0-85DC-1537CD60C61C}"/>
              </a:ext>
            </a:extLst>
          </p:cNvPr>
          <p:cNvSpPr/>
          <p:nvPr/>
        </p:nvSpPr>
        <p:spPr>
          <a:xfrm>
            <a:off x="0" y="0"/>
            <a:ext cx="12192000" cy="68580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3" name="Rectangle 2">
            <a:extLst>
              <a:ext uri="{FF2B5EF4-FFF2-40B4-BE49-F238E27FC236}">
                <a16:creationId xmlns:a16="http://schemas.microsoft.com/office/drawing/2014/main" id="{71ED9D8F-E23B-5540-D1B8-4042D9E2DCFC}"/>
              </a:ext>
            </a:extLst>
          </p:cNvPr>
          <p:cNvSpPr/>
          <p:nvPr/>
        </p:nvSpPr>
        <p:spPr>
          <a:xfrm>
            <a:off x="0" y="0"/>
            <a:ext cx="127000" cy="68580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4" name="TextBox 3">
            <a:extLst>
              <a:ext uri="{FF2B5EF4-FFF2-40B4-BE49-F238E27FC236}">
                <a16:creationId xmlns:a16="http://schemas.microsoft.com/office/drawing/2014/main" id="{63FE6524-260A-79E1-085B-2C4F7360C575}"/>
              </a:ext>
            </a:extLst>
          </p:cNvPr>
          <p:cNvSpPr txBox="1"/>
          <p:nvPr/>
        </p:nvSpPr>
        <p:spPr>
          <a:xfrm>
            <a:off x="914400" y="2540000"/>
            <a:ext cx="8890000" cy="300082"/>
          </a:xfrm>
          <a:prstGeom prst="rect">
            <a:avLst/>
          </a:prstGeom>
          <a:noFill/>
        </p:spPr>
        <p:txBody>
          <a:bodyPr vert="horz" wrap="square" lIns="0" tIns="0" rIns="0" bIns="0" rtlCol="0">
            <a:noAutofit/>
          </a:bodyPr>
          <a:lstStyle/>
          <a:p>
            <a:r>
              <a:rPr lang="en-IN" sz="4400" b="1">
                <a:solidFill>
                  <a:srgbClr val="FFFFFF"/>
                </a:solidFill>
                <a:latin typeface="Segoe UI" panose="020B0502040204020203" pitchFamily="34" charset="0"/>
              </a:rPr>
              <a:t>Thank you</a:t>
            </a:r>
          </a:p>
        </p:txBody>
      </p:sp>
      <p:sp>
        <p:nvSpPr>
          <p:cNvPr id="5" name="Rectangle 4">
            <a:extLst>
              <a:ext uri="{FF2B5EF4-FFF2-40B4-BE49-F238E27FC236}">
                <a16:creationId xmlns:a16="http://schemas.microsoft.com/office/drawing/2014/main" id="{8624E23B-2CDE-D412-92AD-4A7FEC3665DC}"/>
              </a:ext>
            </a:extLst>
          </p:cNvPr>
          <p:cNvSpPr/>
          <p:nvPr/>
        </p:nvSpPr>
        <p:spPr>
          <a:xfrm>
            <a:off x="914400" y="3530600"/>
            <a:ext cx="914400" cy="50800"/>
          </a:xfrm>
          <a:prstGeom prst="rect">
            <a:avLst/>
          </a:prstGeom>
          <a:solidFill>
            <a:srgbClr val="2F17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endParaRPr>
          </a:p>
        </p:txBody>
      </p:sp>
      <p:sp>
        <p:nvSpPr>
          <p:cNvPr id="6" name="TextBox 5">
            <a:extLst>
              <a:ext uri="{FF2B5EF4-FFF2-40B4-BE49-F238E27FC236}">
                <a16:creationId xmlns:a16="http://schemas.microsoft.com/office/drawing/2014/main" id="{2631437B-D250-8F8C-323F-7025B0EB687A}"/>
              </a:ext>
            </a:extLst>
          </p:cNvPr>
          <p:cNvSpPr txBox="1"/>
          <p:nvPr/>
        </p:nvSpPr>
        <p:spPr>
          <a:xfrm>
            <a:off x="914400" y="3810000"/>
            <a:ext cx="8890000" cy="300082"/>
          </a:xfrm>
          <a:prstGeom prst="rect">
            <a:avLst/>
          </a:prstGeom>
          <a:noFill/>
        </p:spPr>
        <p:txBody>
          <a:bodyPr vert="horz" wrap="square" lIns="0" tIns="0" rIns="0" bIns="0" rtlCol="0">
            <a:noAutofit/>
          </a:bodyPr>
          <a:lstStyle/>
          <a:p>
            <a:r>
              <a:rPr lang="en-IN" sz="1700">
                <a:solidFill>
                  <a:srgbClr val="C6B29F"/>
                </a:solidFill>
                <a:latin typeface="Segoe UI" panose="020B0502040204020203" pitchFamily="34" charset="0"/>
              </a:rPr>
              <a:t>Questions welcome.</a:t>
            </a:r>
          </a:p>
        </p:txBody>
      </p:sp>
      <p:sp>
        <p:nvSpPr>
          <p:cNvPr id="7" name="TextBox 6">
            <a:extLst>
              <a:ext uri="{FF2B5EF4-FFF2-40B4-BE49-F238E27FC236}">
                <a16:creationId xmlns:a16="http://schemas.microsoft.com/office/drawing/2014/main" id="{794A7064-714E-50B5-28D4-D37F46BF450C}"/>
              </a:ext>
            </a:extLst>
          </p:cNvPr>
          <p:cNvSpPr txBox="1"/>
          <p:nvPr/>
        </p:nvSpPr>
        <p:spPr>
          <a:xfrm>
            <a:off x="914400" y="4826000"/>
            <a:ext cx="8890000" cy="300082"/>
          </a:xfrm>
          <a:prstGeom prst="rect">
            <a:avLst/>
          </a:prstGeom>
          <a:noFill/>
        </p:spPr>
        <p:txBody>
          <a:bodyPr vert="horz" wrap="square" lIns="0" tIns="0" rIns="0" bIns="0" rtlCol="0">
            <a:noAutofit/>
          </a:bodyPr>
          <a:lstStyle/>
          <a:p>
            <a:r>
              <a:rPr lang="en-US" sz="1100">
                <a:solidFill>
                  <a:srgbClr val="AD937E"/>
                </a:solidFill>
                <a:latin typeface="Segoe UI" panose="020B0502040204020203" pitchFamily="34" charset="0"/>
              </a:rPr>
              <a:t>LogiSync - port-to-doorstep delivery marketplace</a:t>
            </a:r>
          </a:p>
          <a:p>
            <a:r>
              <a:rPr lang="en-US" sz="1100">
                <a:solidFill>
                  <a:srgbClr val="AD937E"/>
                </a:solidFill>
                <a:latin typeface="Segoe UI" panose="020B0502040204020203" pitchFamily="34" charset="0"/>
              </a:rPr>
              <a:t>12 Indian port depots - 490 requests - 92.6% on-time - 127 tests</a:t>
            </a:r>
            <a:endParaRPr lang="en-IN" sz="1100">
              <a:solidFill>
                <a:srgbClr val="AD937E"/>
              </a:solidFill>
              <a:latin typeface="Segoe UI" panose="020B0502040204020203" pitchFamily="34" charset="0"/>
            </a:endParaRPr>
          </a:p>
        </p:txBody>
      </p:sp>
    </p:spTree>
    <p:extLst>
      <p:ext uri="{BB962C8B-B14F-4D97-AF65-F5344CB8AC3E}">
        <p14:creationId xmlns:p14="http://schemas.microsoft.com/office/powerpoint/2010/main" val="1402392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3981</Words>
  <Application>Microsoft Office PowerPoint</Application>
  <PresentationFormat>Custom</PresentationFormat>
  <Paragraphs>517</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viral patni</dc:creator>
  <cp:lastModifiedBy>viral patni</cp:lastModifiedBy>
  <cp:revision>1</cp:revision>
  <dcterms:created xsi:type="dcterms:W3CDTF">2026-10-13T20:19:30Z</dcterms:created>
  <dcterms:modified xsi:type="dcterms:W3CDTF">2026-10-13T20:19:31Z</dcterms:modified>
</cp:coreProperties>
</file>